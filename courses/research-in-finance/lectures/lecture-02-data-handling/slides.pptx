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1" Type="http://schemas.openxmlformats.org/officeDocument/2006/relationships/slideMaster" Target="slideMasters/slideMaster1.xml" /><Relationship Id="rId32" Type="http://schemas.openxmlformats.org/officeDocument/2006/relationships/printerSettings" Target="printerSettings/printerSettings1.bin" /><Relationship Id="rId33" Type="http://schemas.openxmlformats.org/officeDocument/2006/relationships/presProps" Target="presProps.xml" /><Relationship Id="rId34" Type="http://schemas.openxmlformats.org/officeDocument/2006/relationships/viewProps" Target="viewProps.xml" /><Relationship Id="rId35" Type="http://schemas.openxmlformats.org/officeDocument/2006/relationships/theme" Target="theme/theme1.xml" /><Relationship Id="rId36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wp-content/uploads/2022/10/data-visualization-1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verleaf.com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gplot2-book.org/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ctan.org/tex-archive/info/lshort/english/lshort.pdf" TargetMode="External" /><Relationship Id="rId3" Type="http://schemas.openxmlformats.org/officeDocument/2006/relationships/hyperlink" Target="https://www.latex-project.org/help/documentation/" TargetMode="External" /><Relationship Id="rId4" Type="http://schemas.openxmlformats.org/officeDocument/2006/relationships/hyperlink" Target="https://www.overleaf.com/learn/latex/Learn_LaTeX_in_30_minutes" TargetMode="External" /><Relationship Id="rId5" Type="http://schemas.openxmlformats.org/officeDocument/2006/relationships/hyperlink" Target="https://posit.co/wp-content/uploads/2022/10/data-visualization-1.pdf" TargetMode="External" /><Relationship Id="rId6" Type="http://schemas.openxmlformats.org/officeDocument/2006/relationships/hyperlink" Target="https://ggplot2-book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Handling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access, merging, cleansing, transforming and visualising financial data in R · Introduction to Overleaf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Free language for statistical computing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Calculations, exploring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 + 3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log(10)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&amp; basic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Store data; perform math/logic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Assigning prices, ratios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 &lt;- value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var &gt;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Ordered collections of one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 of returns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c(1, 2, 3)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length(vec)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2D arrays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Covariance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matrix(...)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mat1 %*% mat2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Mixed-column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Datasets for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data.frame(...)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df$col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Flexible mixed-type containers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Storing model outputs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list(a = 1, b = c("x", "y"))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Reusable code blocks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Sharpe ratio calc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&lt;- function(x) x*2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Iterate over sequences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Monte Carlo runs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for (i in 1:3) {…}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 / export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and save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CSV, RDS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read_csv("f.csv")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APIs</a:t>
            </a:r>
            <a:r>
              <a:rPr/>
              <a:t> (Application Programming Interfaces) let R fetch real-time / structured data from external sources — automating data collection for </a:t>
            </a:r>
            <a:r>
              <a:rPr b="1"/>
              <a:t>reproducible</a:t>
            </a:r>
            <a:r>
              <a:rPr/>
              <a:t> empirical analysis.</a:t>
            </a:r>
          </a:p>
          <a:p>
            <a:pPr lvl="0"/>
            <a:r>
              <a:rPr/>
              <a:t>Many APIs exist (thousands for finance/STEM); effort varies — some (like Quandl) deliver ready tables, others require JSON parsing, field specification, authentication. </a:t>
            </a:r>
            <a:r>
              <a:rPr b="1"/>
              <a:t>Start simple to avoid frustration.</a:t>
            </a:r>
          </a:p>
          <a:p>
            <a:pPr lvl="0"/>
            <a:r>
              <a:rPr/>
              <a:t>Use packages like </a:t>
            </a:r>
            <a:r>
              <a:rPr>
                <a:latin typeface="Courier"/>
              </a:rPr>
              <a:t>httr</a:t>
            </a:r>
            <a:r>
              <a:rPr/>
              <a:t>/</a:t>
            </a:r>
            <a:r>
              <a:rPr>
                <a:latin typeface="Courier"/>
              </a:rPr>
              <a:t>jsonlite</a:t>
            </a:r>
            <a:r>
              <a:rPr/>
              <a:t> for general calls, or </a:t>
            </a:r>
            <a:r>
              <a:rPr b="1"/>
              <a:t>wrappers</a:t>
            </a:r>
            <a:r>
              <a:rPr/>
              <a:t> (e.g., </a:t>
            </a:r>
            <a:r>
              <a:rPr>
                <a:latin typeface="Courier"/>
              </a:rPr>
              <a:t>Quandl</a:t>
            </a:r>
            <a:r>
              <a:rPr/>
              <a:t>) for ease.</a:t>
            </a:r>
          </a:p>
          <a:p>
            <a:pPr lvl="0"/>
            <a:r>
              <a:rPr/>
              <a:t>Whenever possible, get a </a:t>
            </a:r>
            <a:r>
              <a:rPr b="1"/>
              <a:t>free key</a:t>
            </a:r>
            <a:r>
              <a:rPr/>
              <a:t> and test with small queries first.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66700"/>
          <a:ext cx="5105400" cy="584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Nasdaq Data Link (Quandl)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Comprehensive finance datasets (e.g., CFTC positions) as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Quandl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Futures / sentiment analysis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FRED (Federal Reserve)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Economic indicators (CPI, unemployment)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fredr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 trends in empirical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Yahoo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 prices/volumes via </a:t>
                      </a:r>
                      <a:r>
                        <a:rPr>
                          <a:latin typeface="Courier"/>
                        </a:rPr>
                        <a:t>quantmod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quantmod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 stock data for portfolios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Coingecko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prices, historical charts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(JSON parsing)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time series for volatility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Polygon.io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stocks/crypto (free tier)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(API calls)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High-frequency data for advanced models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API access (2/2) — Quandl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Specify API key (paste yours)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Quandl.api_key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"57NfEEmRhMSGmivKw_kx"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positions and concentration ratios for gold futures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com_silver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conc_silver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Bitcoin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com_btc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conc_btc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Ethereum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com_eth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conc_eth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Background — futures and CFTC data</a:t>
            </a:r>
          </a:p>
          <a:p>
            <a:pPr lvl="0"/>
            <a:r>
              <a:rPr sz="2000" b="1"/>
              <a:t>Futures</a:t>
            </a:r>
            <a:r>
              <a:rPr sz="2000"/>
              <a:t> are contracts to buy/sell assets at future prices/dates, used for hedging or speculation.</a:t>
            </a:r>
          </a:p>
          <a:p>
            <a:pPr lvl="0"/>
            <a:r>
              <a:rPr sz="2000" b="1"/>
              <a:t>CFTC</a:t>
            </a:r>
            <a:r>
              <a:rPr sz="2000"/>
              <a:t> data is published weekly: positions by trader type (</a:t>
            </a:r>
            <a:r>
              <a:rPr sz="2000">
                <a:latin typeface="Courier"/>
              </a:rPr>
              <a:t>LFON</a:t>
            </a:r>
            <a:r>
              <a:rPr sz="2000"/>
              <a:t>) and concentration ratios (</a:t>
            </a:r>
            <a:r>
              <a:rPr sz="2000">
                <a:latin typeface="Courier"/>
              </a:rPr>
              <a:t>FCR</a:t>
            </a:r>
            <a:r>
              <a:rPr sz="2000"/>
              <a:t>).</a:t>
            </a:r>
          </a:p>
          <a:p>
            <a:pPr lvl="0"/>
            <a:r>
              <a:rPr sz="2000"/>
              <a:t>Positions split by </a:t>
            </a:r>
            <a:r>
              <a:rPr sz="2000" b="1"/>
              <a:t>commercials</a:t>
            </a:r>
            <a:r>
              <a:rPr sz="2000"/>
              <a:t> (hedgers) vs </a:t>
            </a:r>
            <a:r>
              <a:rPr sz="2000" b="1"/>
              <a:t>non-commercials</a:t>
            </a:r>
            <a:r>
              <a:rPr sz="2000"/>
              <a:t> (speculators), with spreads netting out neutral bets.</a:t>
            </a:r>
          </a:p>
          <a:p>
            <a:pPr lvl="0"/>
            <a:r>
              <a:rPr sz="2000"/>
              <a:t>Net positions (longs − shorts) gauge bullish/bearish sentiment; high concentration signals </a:t>
            </a:r>
            <a:r>
              <a:rPr sz="2000" b="1"/>
              <a:t>herding risk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columns in CFTC datasets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Open Interest &amp; Trader Count (</a:t>
            </a:r>
            <a:r>
              <a:rPr b="1">
                <a:latin typeface="Courier"/>
              </a:rPr>
              <a:t>QDL/LFON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171700"/>
          <a:ext cx="4038600" cy="394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contract_code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Financial contract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(futures) / FO (futures + options)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of record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market_participation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longs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shorts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Concentration Ratios (</a:t>
            </a:r>
            <a:r>
              <a:rPr b="1">
                <a:latin typeface="Courier"/>
              </a:rPr>
              <a:t>QDL/FCR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2171700"/>
          <a:ext cx="4038600" cy="394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4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and cleanse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Silver, Bitcoin, Ethereum follow the same pattern …</a:t>
            </a:r>
          </a:p>
          <a:p>
            <a:pPr lvl="0" indent="0" marL="1270000">
              <a:buNone/>
            </a:pPr>
            <a:r>
              <a:rPr sz="2000"/>
              <a:t>Loads local files, parses delimited text into tables. Handles supplementary data (e.g., date types) for combining sources later.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and append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Merge positions with concentration ratios per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merged_gold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(com_gold,   conc_gold,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merged_silver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(com_silver, conc_silver,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merged_btc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(com_btc,    conc_btc,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merged_eth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(com_eth,    conc_eth,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Stack all four into one long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merged_gold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merged_silver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merged_btc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merged_eth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merge()</a:t>
            </a:r>
            <a:r>
              <a:rPr sz="2000"/>
              <a:t> joins by key; </a:t>
            </a:r>
            <a:r>
              <a:rPr sz="2000">
                <a:latin typeface="Courier"/>
              </a:rPr>
              <a:t>bind_rows()</a:t>
            </a:r>
            <a:r>
              <a:rPr sz="2000"/>
              <a:t> appends. </a:t>
            </a:r>
            <a:r>
              <a:rPr sz="2000">
                <a:latin typeface="Courier"/>
              </a:rPr>
              <a:t>all = TRUE</a:t>
            </a:r>
            <a:r>
              <a:rPr sz="2000"/>
              <a:t> keeps NAs (outer join). </a:t>
            </a:r>
            <a:r>
              <a:rPr sz="2000">
                <a:latin typeface="Courier"/>
              </a:rPr>
              <a:t>arrange()</a:t>
            </a:r>
            <a:r>
              <a:rPr sz="2000"/>
              <a:t> sorts.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Filter and mutate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combined_clean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(date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"2021-01-01"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ensure balanced panel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       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                  </a:t>
            </a:r>
            <a:r>
              <a:rPr>
                <a:solidFill>
                  <a:srgbClr val="5E5E5E"/>
                </a:solidFill>
                <a:latin typeface="Courier"/>
              </a:rPr>
              <a:t># year() from lubridate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Asset_Factor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to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Net_Longs    =</a:t>
            </a:r>
            <a:r>
              <a:rPr>
                <a:solidFill>
                  <a:srgbClr val="003B4F"/>
                </a:solidFill>
                <a:latin typeface="Courier"/>
              </a:rPr>
              <a:t> non_commercial_longs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non_commercial_shorts,   </a:t>
            </a:r>
            <a:r>
              <a:rPr>
                <a:solidFill>
                  <a:srgbClr val="5E5E5E"/>
                </a:solidFill>
                <a:latin typeface="Courier"/>
              </a:rPr>
              <a:t># new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(Net_Longs)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+1 avoids log(0)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         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missing</a:t>
            </a:r>
          </a:p>
          <a:p>
            <a:pPr lvl="0"/>
            <a:r>
              <a:rPr b="1">
                <a:latin typeface="Courier"/>
              </a:rPr>
              <a:t>filter()</a:t>
            </a:r>
            <a:r>
              <a:rPr/>
              <a:t> subsets rows.</a:t>
            </a:r>
          </a:p>
          <a:p>
            <a:pPr lvl="0"/>
            <a:r>
              <a:rPr b="1">
                <a:latin typeface="Courier"/>
              </a:rPr>
              <a:t>mutate()</a:t>
            </a:r>
            <a:r>
              <a:rPr/>
              <a:t> modifies/creates columns row-wise.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by and summarise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Per-asset, per-year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summary_assets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SD_Net_Longs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Z-scores within each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combined_z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Pivoting reshapes data between </a:t>
            </a:r>
            <a:r>
              <a:rPr b="1"/>
              <a:t>wide</a:t>
            </a:r>
            <a:r>
              <a:rPr/>
              <a:t> and </a:t>
            </a:r>
            <a:r>
              <a:rPr b="1"/>
              <a:t>long</a:t>
            </a:r>
            <a:r>
              <a:rPr/>
              <a:t> formats. Long format plays best with </a:t>
            </a:r>
            <a:r>
              <a:rPr>
                <a:latin typeface="Courier"/>
              </a:rPr>
              <a:t>ggplot2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1: summary stats — wide to long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long_summary &lt;- summary_assets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(Mean_Net_Longs,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2: scatterplot data — long to wide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scatterplot_data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3: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visualization in R — package landscape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Weaknesses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ggplot2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grammar of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Steeper learning curve; verbose for simple 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 R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hist()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barplot()</a:t>
                      </a:r>
                      <a:r>
                        <a:rPr/>
                        <a:t>,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Rapid exploratory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Limited customization, dated look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lattice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Trellis-style multi-panel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Conditioned/multi-panel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Outdated formula syntax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Interactive </a:t>
                      </a:r>
                      <a:r>
                        <a:rPr>
                          <a:latin typeface="Courier"/>
                        </a:rPr>
                        <a:t>ggplot2</a:t>
                      </a:r>
                      <a:r>
                        <a:rPr/>
                        <a:t>/base extension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 dashboards, hover/zoom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Overhead for static use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shiny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Reactive web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dashboards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 learning, deployment needed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the six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Select data</a:t>
            </a:r>
            <a:r>
              <a:rPr/>
              <a:t> — </a:t>
            </a:r>
            <a:r>
              <a:rPr>
                <a:latin typeface="Courier"/>
              </a:rPr>
              <a:t>ggplot(data)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Aesthetic mapping</a:t>
            </a:r>
            <a:r>
              <a:rPr/>
              <a:t> — </a:t>
            </a:r>
            <a:r>
              <a:rPr>
                <a:latin typeface="Courier"/>
              </a:rPr>
              <a:t>aes(x, y, colour, size, …)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Geometric objects</a:t>
            </a:r>
            <a:r>
              <a:rPr/>
              <a:t> — </a:t>
            </a:r>
            <a:r>
              <a:rPr>
                <a:latin typeface="Courier"/>
              </a:rPr>
              <a:t>geom_*()</a:t>
            </a:r>
            <a:r>
              <a:rPr/>
              <a:t> (point, line, bar, …).</a:t>
            </a:r>
          </a:p>
          <a:p>
            <a:pPr lvl="0" indent="-457200" marL="457200">
              <a:buAutoNum type="arabicPeriod"/>
            </a:pPr>
            <a:r>
              <a:rPr b="1"/>
              <a:t>Labels</a:t>
            </a:r>
            <a:r>
              <a:rPr/>
              <a:t> — </a:t>
            </a:r>
            <a:r>
              <a:rPr>
                <a:latin typeface="Courier"/>
              </a:rPr>
              <a:t>labs()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Facets</a:t>
            </a:r>
            <a:r>
              <a:rPr/>
              <a:t> — </a:t>
            </a:r>
            <a:r>
              <a:rPr>
                <a:latin typeface="Courier"/>
              </a:rPr>
              <a:t>facet_wrap()</a:t>
            </a:r>
            <a:r>
              <a:rPr/>
              <a:t>, </a:t>
            </a:r>
            <a:r>
              <a:rPr>
                <a:latin typeface="Courier"/>
              </a:rPr>
              <a:t>facet_grid()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Theme</a:t>
            </a:r>
            <a:r>
              <a:rPr/>
              <a:t> — </a:t>
            </a:r>
            <a:r>
              <a:rPr>
                <a:latin typeface="Courier"/>
              </a:rPr>
              <a:t>theme_minimal()</a:t>
            </a:r>
            <a:r>
              <a:rPr/>
              <a:t>, </a:t>
            </a:r>
            <a:r>
              <a:rPr>
                <a:latin typeface="Courier"/>
              </a:rPr>
              <a:t>theme_classic()</a:t>
            </a:r>
            <a:r>
              <a:rPr/>
              <a:t>, etc.</a:t>
            </a:r>
          </a:p>
          <a:p>
            <a:pPr lvl="0" indent="0" marL="1270000">
              <a:buNone/>
            </a:pPr>
            <a:r>
              <a:rPr sz="2000"/>
              <a:t>Steps 1–3 are mandatory; 4–6 polish the output. Reference the </a:t>
            </a:r>
            <a:r>
              <a:rPr sz="2000">
                <a:hlinkClick r:id="rId2"/>
              </a:rPr>
              <a:t>ggplot2 cheat sheet</a:t>
            </a:r>
            <a:r>
              <a:rPr sz="2000"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building up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aesthetic mapping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geometric object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4: 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5: facets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6: theme (or tidyquant's theme_tq)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theme_tq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 — line chart with smoother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(combined_z,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Z_Score,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local-polynomial trend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mean reference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"2022-01-01"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2022 break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"Z-Score Normalized Trends: Deviations from Mean Sentiment"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"Positive = above-average bullishness; e.g., crypto spikes in 2023 recovery"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2 — bar chart with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(summary_assets,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"dodge"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SD_Net_Longs,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 by Asset &amp; 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3 — faceted boxplots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"Annual Distributions: Volatility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4 — scatter + regression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(scatterplot_data,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Gold,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Bitcoin))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vs Bitcoin Net Longs (paired dates only)"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5 — correlation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"myplot.pdf"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"myplot.svg"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"C:/Users/R Intro/myplot.tiff"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Custom size (default unit: inches)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RStudio Help tab</a:t>
            </a:r>
            <a:r>
              <a:rPr/>
              <a:t> (lower-right pane) — home icon for resources/manuals; search bar for functions and packages.</a:t>
            </a:r>
          </a:p>
          <a:p>
            <a:pPr lvl="0"/>
            <a:r>
              <a:rPr/>
              <a:t>In the Script Editor:</a:t>
            </a:r>
          </a:p>
          <a:p>
            <a:pPr lvl="1"/>
            <a:r>
              <a:rPr>
                <a:latin typeface="Courier"/>
              </a:rPr>
              <a:t>help.start()</a:t>
            </a:r>
            <a:r>
              <a:rPr/>
              <a:t> opens the main Help page.</a:t>
            </a:r>
          </a:p>
          <a:p>
            <a:pPr lvl="1"/>
            <a:r>
              <a:rPr>
                <a:latin typeface="Courier"/>
              </a:rPr>
              <a:t>help(FunctionName)</a:t>
            </a:r>
            <a:r>
              <a:rPr/>
              <a:t> or </a:t>
            </a:r>
            <a:r>
              <a:rPr>
                <a:latin typeface="Courier"/>
              </a:rPr>
              <a:t>?FunctionName</a:t>
            </a:r>
            <a:r>
              <a:rPr/>
              <a:t> shows function help.</a:t>
            </a:r>
          </a:p>
          <a:p>
            <a:pPr lvl="0"/>
            <a:r>
              <a:rPr/>
              <a:t>Online: </a:t>
            </a:r>
            <a:r>
              <a:rPr>
                <a:hlinkClick r:id="rId2"/>
              </a:rPr>
              <a:t>RStudio cheatsheets</a:t>
            </a:r>
            <a:r>
              <a:rPr/>
              <a:t>, Posit Community, Stack Overflow, GitHub, LLMs.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Introduction to Overleaf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LaTeX vs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LaTeX</a:t>
            </a:r>
          </a:p>
          <a:p>
            <a:pPr lvl="0"/>
            <a:r>
              <a:rPr/>
              <a:t>A </a:t>
            </a:r>
            <a:r>
              <a:rPr b="1"/>
              <a:t>markup language</a:t>
            </a:r>
            <a:r>
              <a:rPr/>
              <a:t> for professional documents with precise control over layout, equations, tables — widely used in academia.</a:t>
            </a:r>
          </a:p>
          <a:p>
            <a:pPr lvl="0"/>
            <a:r>
              <a:rPr/>
              <a:t>Plain text → formatted PDF; ideal for papers/theses with complex math (regressions, matrices).</a:t>
            </a:r>
          </a:p>
          <a:p>
            <a:pPr lvl="0"/>
            <a:r>
              <a:rPr/>
              <a:t>Basic structure uses commands in braces, e.g. </a:t>
            </a:r>
            <a:r>
              <a:rPr>
                <a:latin typeface="Courier"/>
              </a:rPr>
              <a:t>\section{Title}</a:t>
            </a:r>
            <a:r>
              <a:rPr/>
              <a:t>, and environments for tables/figures.</a:t>
            </a:r>
          </a:p>
          <a:p>
            <a:pPr lvl="0"/>
            <a:r>
              <a:rPr/>
              <a:t>Advantages: automatic numbering, bibliographies, consistency. Steeper learning curve for beginners.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Overleaf</a:t>
            </a:r>
          </a:p>
          <a:p>
            <a:pPr lvl="0"/>
            <a:r>
              <a:rPr/>
              <a:t>A </a:t>
            </a:r>
            <a:r>
              <a:rPr b="1"/>
              <a:t>free online editor</a:t>
            </a:r>
            <a:r>
              <a:rPr/>
              <a:t> for LaTeX with real-time collaboration and instant PDF previews — no local install.</a:t>
            </a:r>
          </a:p>
          <a:p>
            <a:pPr lvl="0"/>
            <a:r>
              <a:rPr/>
              <a:t>Create a project, paste code, hit </a:t>
            </a:r>
            <a:r>
              <a:rPr i="1"/>
              <a:t>Recompile</a:t>
            </a:r>
            <a:r>
              <a:rPr/>
              <a:t>. Perfect for group assignments / thesis drafts.</a:t>
            </a:r>
          </a:p>
          <a:p>
            <a:pPr lvl="0"/>
            <a:r>
              <a:rPr/>
              <a:t>Templates, spell-check, Git integration; sign in with university email for full access.</a:t>
            </a:r>
          </a:p>
          <a:p>
            <a:pPr lvl="0"/>
            <a:r>
              <a:rPr b="1"/>
              <a:t>Start with our Moodle template:</a:t>
            </a:r>
            <a:r>
              <a:rPr/>
              <a:t> copy-paste into a new project, edit sections, export PDF.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with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Setup:</a:t>
            </a:r>
            <a:r>
              <a:rPr/>
              <a:t> create a free account at </a:t>
            </a:r>
            <a:r>
              <a:rPr>
                <a:hlinkClick r:id="rId2"/>
              </a:rPr>
              <a:t>overleaf.com</a:t>
            </a:r>
            <a:r>
              <a:rPr/>
              <a:t>; New project → </a:t>
            </a:r>
            <a:r>
              <a:rPr i="1"/>
              <a:t>Blank Project</a:t>
            </a:r>
            <a:r>
              <a:rPr/>
              <a:t> or import template. Edit left pane (TeX), preview right pane.</a:t>
            </a:r>
          </a:p>
          <a:p>
            <a:pPr lvl="0"/>
            <a:r>
              <a:rPr b="1"/>
              <a:t>Key features:</a:t>
            </a:r>
            <a:r>
              <a:rPr/>
              <a:t> syntax highlighting, error finder, Git integration; share links for collaboration.</a:t>
            </a:r>
          </a:p>
          <a:p>
            <a:pPr lvl="0"/>
            <a:r>
              <a:rPr b="1"/>
              <a:t>Workflow:</a:t>
            </a:r>
            <a:r>
              <a:rPr/>
              <a:t> write in sections (</a:t>
            </a:r>
            <a:r>
              <a:rPr>
                <a:latin typeface="Courier"/>
              </a:rPr>
              <a:t>\section{}</a:t>
            </a:r>
            <a:r>
              <a:rPr/>
              <a:t>), insert tables (</a:t>
            </a:r>
            <a:r>
              <a:rPr>
                <a:latin typeface="Courier"/>
              </a:rPr>
              <a:t>\begin{table}…\end{table}</a:t>
            </a:r>
            <a:r>
              <a:rPr/>
              <a:t> with </a:t>
            </a:r>
            <a:r>
              <a:rPr>
                <a:latin typeface="Courier"/>
              </a:rPr>
              <a:t>tabular</a:t>
            </a:r>
            <a:r>
              <a:rPr/>
              <a:t>), add R figures (</a:t>
            </a:r>
            <a:r>
              <a:rPr>
                <a:latin typeface="Courier"/>
              </a:rPr>
              <a:t>\includegraphics{plot.png}</a:t>
            </a:r>
            <a:r>
              <a:rPr/>
              <a:t>), cite (</a:t>
            </a:r>
            <a:r>
              <a:rPr>
                <a:latin typeface="Courier"/>
              </a:rPr>
              <a:t>\cite{key}</a:t>
            </a:r>
            <a:r>
              <a:rPr/>
              <a:t> with BibTeX).</a:t>
            </a:r>
          </a:p>
          <a:p>
            <a:pPr lvl="0"/>
            <a:r>
              <a:rPr b="1"/>
              <a:t>Assignment template:</a:t>
            </a:r>
            <a:r>
              <a:rPr/>
              <a:t> download from Moodle. Copy-paste into a new Overleaf project; replace placeholders (e.g., </a:t>
            </a:r>
            <a:r>
              <a:rPr>
                <a:latin typeface="Courier"/>
              </a:rPr>
              <a:t>\section{Results}</a:t>
            </a:r>
            <a:r>
              <a:rPr/>
              <a:t>) with your content.</a:t>
            </a:r>
          </a:p>
          <a:p>
            <a:pPr lvl="0"/>
            <a:r>
              <a:rPr b="1"/>
              <a:t>Tips:</a:t>
            </a:r>
            <a:r>
              <a:rPr/>
              <a:t> </a:t>
            </a:r>
            <a:r>
              <a:rPr>
                <a:latin typeface="Courier"/>
              </a:rPr>
              <a:t>\usepackage{graphicx}</a:t>
            </a:r>
            <a:r>
              <a:rPr/>
              <a:t> for images, </a:t>
            </a:r>
            <a:r>
              <a:rPr>
                <a:latin typeface="Courier"/>
              </a:rPr>
              <a:t>\begin{figure}…\end{figure}</a:t>
            </a:r>
            <a:r>
              <a:rPr/>
              <a:t> for floats. Debug errors shown in red (e.g., missing </a:t>
            </a:r>
            <a:r>
              <a:rPr>
                <a:latin typeface="Courier"/>
              </a:rPr>
              <a:t>$</a:t>
            </a:r>
            <a:r>
              <a:rPr/>
              <a:t> for math). Practice with a 1-page test before the full paper.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API access (Quandl, FRED, …)</a:t>
            </a:r>
          </a:p>
          <a:p>
            <a:pPr lvl="0"/>
            <a:r>
              <a:rPr/>
              <a:t>Import &amp; cleanse CSV</a:t>
            </a:r>
          </a:p>
          <a:p>
            <a:pPr lvl="0"/>
            <a:r>
              <a:rPr/>
              <a:t>Merge &amp; append data</a:t>
            </a:r>
          </a:p>
          <a:p>
            <a:pPr lvl="0"/>
            <a:r>
              <a:rPr/>
              <a:t>Filter &amp; mutate</a:t>
            </a:r>
          </a:p>
          <a:p>
            <a:pPr lvl="0"/>
            <a:r>
              <a:rPr/>
              <a:t>Group by &amp; summarise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Pivot wide / long</a:t>
            </a:r>
          </a:p>
          <a:p>
            <a:pPr lvl="0"/>
            <a:r>
              <a:rPr/>
              <a:t>Data visualization (</a:t>
            </a:r>
            <a:r>
              <a:rPr>
                <a:latin typeface="Courier"/>
              </a:rPr>
              <a:t>ggplot2</a:t>
            </a:r>
            <a:r>
              <a:rPr/>
              <a:t>)</a:t>
            </a:r>
          </a:p>
          <a:p>
            <a:pPr lvl="0"/>
            <a:r>
              <a:rPr/>
              <a:t>Exporting plots</a:t>
            </a:r>
          </a:p>
          <a:p>
            <a:pPr lvl="0"/>
            <a:r>
              <a:rPr/>
              <a:t>LaTeX &amp; Overleaf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 (2022) — quick-reference for the ggplot2 grammar.</a:t>
            </a:r>
          </a:p>
          <a:p>
            <a:pPr lvl="0"/>
            <a:r>
              <a:rPr/>
              <a:t>Wickham, Navarro, and Pedersen (2024) — comprehensive ggplot2 reference, free draft at </a:t>
            </a:r>
            <a:r>
              <a:rPr>
                <a:hlinkClick r:id="rId2"/>
              </a:rPr>
              <a:t>https://ggplot2-book.org/</a:t>
            </a:r>
            <a:r>
              <a:rPr/>
              <a:t>.</a:t>
            </a:r>
          </a:p>
          <a:p>
            <a:pPr lvl="0"/>
            <a:r>
              <a:rPr/>
              <a:t>All Lecture 1 R recommendations.</a:t>
            </a:r>
          </a:p>
          <a:p>
            <a:pPr lvl="0"/>
            <a:r>
              <a:rPr/>
              <a:t>Lamport (1994) — Leslie Lamport’s classic LaTeX manual.</a:t>
            </a:r>
          </a:p>
          <a:p>
            <a:pPr lvl="0"/>
            <a:r>
              <a:rPr/>
              <a:t>Flynn (2019) — </a:t>
            </a:r>
            <a:r>
              <a:rPr i="1"/>
              <a:t>lshort</a:t>
            </a:r>
            <a:r>
              <a:rPr/>
              <a:t>, a beginner-friendly free LaTeX intro.</a:t>
            </a:r>
          </a:p>
          <a:p>
            <a:pPr lvl="0"/>
            <a:r>
              <a:rPr/>
              <a:t>Overleaf (2023) — Overleaf’s hands-on 30-minute LaTeX tutorial.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Try out a few visualizations</a:t>
            </a:r>
            <a:r>
              <a:rPr/>
              <a:t> based on the data we prepared today.</a:t>
            </a:r>
          </a:p>
          <a:p>
            <a:pPr lvl="0" indent="0" marL="1270000">
              <a:buNone/>
            </a:pPr>
            <a:r>
              <a:rPr sz="2000" b="1"/>
              <a:t>Lecture 3:</a:t>
            </a:r>
            <a:r>
              <a:rPr sz="2000"/>
              <a:t> Statistical analysis in R — correlations, t-tests, Wilcoxon, Shapiro-Wilk, KS, linear regression, fixed effects.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Flynn, Peter. 2019. “Formatting Information: Introduction to LaTeX.” TeX Users Group (TUG). </a:t>
            </a:r>
            <a:r>
              <a:rPr>
                <a:hlinkClick r:id="rId2"/>
              </a:rPr>
              <a:t>https://www.ctan.org/tex-archive/info/lshort/english/lshort.pdf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Lamport, Leslie. 1994. </a:t>
            </a:r>
            <a:r>
              <a:rPr i="1"/>
              <a:t>LaTeX: A Document Preparation System</a:t>
            </a:r>
            <a:r>
              <a:rPr/>
              <a:t>. 2nd ed. Reading, MA: Addison-Wesley. </a:t>
            </a:r>
            <a:r>
              <a:rPr>
                <a:hlinkClick r:id="rId3"/>
              </a:rPr>
              <a:t>https://www.latex-project.org/help/documentation/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Overleaf. 2023. “Overleaf Tutorial: Basic Guide to LaTeX.” </a:t>
            </a:r>
            <a:r>
              <a:rPr>
                <a:hlinkClick r:id="rId4"/>
              </a:rPr>
              <a:t>https://www.overleaf.com/learn/latex/Learn_LaTeX_in_30_minutes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Posit. 2022. “Ggplot2 Cheat Sheet.” </a:t>
            </a:r>
            <a:r>
              <a:rPr>
                <a:hlinkClick r:id="rId5"/>
              </a:rPr>
              <a:t>https://posit.co/wp-content/uploads/2022/10/data-visualization-1.pdf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Danielle Navarro, and Thomas Lin Pedersen. 2024. </a:t>
            </a:r>
            <a:r>
              <a:rPr i="1"/>
              <a:t>Ggplot2: Elegant Graphics for Data Analysis</a:t>
            </a:r>
            <a:r>
              <a:rPr/>
              <a:t>. 3rd ed. </a:t>
            </a:r>
            <a:r>
              <a:rPr>
                <a:hlinkClick r:id="rId6"/>
              </a:rPr>
              <a:t>https://ggplot2-book.org/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Data Handling &amp; Visualization</dc:title>
  <dc:creator>Prof. Dr. Andre Guettler; Oliver Padmaperuma</dc:creator>
  <cp:keywords/>
  <dcterms:created xsi:type="dcterms:W3CDTF">2026-04-30T09:11:51Z</dcterms:created>
  <dcterms:modified xsi:type="dcterms:W3CDTF">2026-04-30T09:11:51Z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2025-11-05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API access, merging, cleansing, transforming and visualising financial data in R · Introduction to Overleaf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2</vt:lpwstr>
  </property>
</Properties>
</file>