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notesMaster" Target="notesMasters/notesMaster1.xml" /><Relationship Id="rId47" Type="http://schemas.openxmlformats.org/officeDocument/2006/relationships/viewProps" Target="viewProps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with the survey and a short round of intros: who has used R, who has used Python, who has never coded.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Mentimeter survey: study program, prior coding proficiency. Use the results to calibrate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andre.guettler@uni-ulm.de" TargetMode="External" /><Relationship Id="rId3" Type="http://schemas.openxmlformats.org/officeDocument/2006/relationships/hyperlink" Target="mailto:oliver.padmaperuma@uni-ulm.de" TargetMode="External" /><Relationship Id="rId4" Type="http://schemas.openxmlformats.org/officeDocument/2006/relationships/hyperlink" Target="mailto:studiensekretariat@uni-ulm.de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oliver.padmaperuma@uni-ulm.de" TargetMode="External" /><Relationship Id="rId3" Type="http://schemas.openxmlformats.org/officeDocument/2006/relationships/hyperlink" Target="mailto:andre.guettler@uni-ulm.de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oliver.padmaperuma@uni-ulm.de" TargetMode="External" /><Relationship Id="rId3" Type="http://schemas.openxmlformats.org/officeDocument/2006/relationships/hyperlink" Target="mailto:andre.guettler@uni-ulm.de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an.r-project.org/" TargetMode="External" /><Relationship Id="rId3" Type="http://schemas.openxmlformats.org/officeDocument/2006/relationships/hyperlink" Target="https://posit.co/download/rstudio-desktop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statlearning.com/" TargetMode="External" /><Relationship Id="rId3" Type="http://schemas.openxmlformats.org/officeDocument/2006/relationships/hyperlink" Target="https://www.tidy-finance.org/r/" TargetMode="External" /><Relationship Id="rId4" Type="http://schemas.openxmlformats.org/officeDocument/2006/relationships/hyperlink" Target="https://r4ds.hadley.nz/" TargetMode="Externa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ta.nasdaq.com/" TargetMode="Externa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statlearning.com/" TargetMode="External" /><Relationship Id="rId3" Type="http://schemas.openxmlformats.org/officeDocument/2006/relationships/hyperlink" Target="https://www.kaggle.com/discussions/general/274029" TargetMode="External" /><Relationship Id="rId4" Type="http://schemas.openxmlformats.org/officeDocument/2006/relationships/hyperlink" Target="https://www.tidy-finance.org/r/" TargetMode="External" /><Relationship Id="rId5" Type="http://schemas.openxmlformats.org/officeDocument/2006/relationships/hyperlink" Target="https://r4ds.hadley.nz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Basics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Course objectives, schedule, assignments · Introduction to R · Live coding</a:t>
            </a:r>
            <a:br/>
            <a:br/>
            <a:r>
              <a:rPr/>
              <a:t>Prof. Dr. Andre Guettler</a:t>
            </a:r>
            <a:br/>
            <a:r>
              <a:rPr/>
              <a:t>Oliver Padmaperuma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2025-10-29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the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Today’s roadmap</a:t>
            </a:r>
          </a:p>
          <a:p>
            <a:pPr lvl="0" indent="-342900" marL="342900">
              <a:buAutoNum type="arabicPeriod"/>
            </a:pPr>
            <a:r>
              <a:rPr sz="2000" b="1"/>
              <a:t>Course logistics</a:t>
            </a:r>
            <a:r>
              <a:rPr sz="2000"/>
              <a:t> — objectives, schedule, grading, registration.</a:t>
            </a:r>
          </a:p>
          <a:p>
            <a:pPr lvl="0" indent="-342900" marL="342900">
              <a:buAutoNum type="arabicPeriod"/>
            </a:pPr>
            <a:r>
              <a:rPr sz="2000" b="1"/>
              <a:t>Why R?</a:t>
            </a:r>
            <a:r>
              <a:rPr sz="2000"/>
              <a:t> — and how RStudio fits in.</a:t>
            </a:r>
          </a:p>
          <a:p>
            <a:pPr lvl="0" indent="-342900" marL="342900">
              <a:buAutoNum type="arabicPeriod"/>
            </a:pPr>
            <a:r>
              <a:rPr sz="2000" b="1"/>
              <a:t>Live coding</a:t>
            </a:r>
            <a:r>
              <a:rPr sz="2000"/>
              <a:t> — the building blocks of R.</a:t>
            </a:r>
          </a:p>
          <a:p>
            <a:pPr lvl="0" indent="-342900" marL="342900">
              <a:buAutoNum type="arabicPeriod"/>
            </a:pPr>
            <a:r>
              <a:rPr sz="2000" b="1"/>
              <a:t>Wrap-up</a:t>
            </a:r>
            <a:r>
              <a:rPr sz="2000"/>
              <a:t> — what to prepare before Lecture 2.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1.1 Course objectives, schedule, and assignments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Prof. Dr. Andre Guettler</a:t>
            </a:r>
            <a:r>
              <a:rPr/>
              <a:t> · Director of the Institute Helmholtzstraße 22, Room 205 </a:t>
            </a:r>
            <a:r>
              <a:rPr>
                <a:hlinkClick r:id="rId2"/>
              </a:rPr>
              <a:t>andre.guettler@uni-ulm.de</a:t>
            </a:r>
            <a:r>
              <a:rPr/>
              <a:t> +49 731 50 31 030</a:t>
            </a:r>
          </a:p>
          <a:p>
            <a:pPr lvl="0" indent="0" marL="0">
              <a:buNone/>
            </a:pPr>
            <a:r>
              <a:rPr b="1"/>
              <a:t>Oliver Padmaperuma</a:t>
            </a:r>
            <a:r>
              <a:rPr/>
              <a:t> · Doctoral Candidate Helmholtzstraße 22, Room 203 </a:t>
            </a:r>
            <a:r>
              <a:rPr>
                <a:hlinkClick r:id="rId3"/>
              </a:rPr>
              <a:t>oliver.padmaperuma@uni-ulm.de</a:t>
            </a:r>
            <a:r>
              <a:rPr/>
              <a:t> +49 731 50 31 036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Registration:</a:t>
            </a:r>
            <a:r>
              <a:rPr/>
              <a:t> register for “exam” </a:t>
            </a:r>
            <a:r>
              <a:rPr b="1"/>
              <a:t>13337</a:t>
            </a:r>
            <a:r>
              <a:rPr/>
              <a:t> in </a:t>
            </a:r>
            <a:r>
              <a:rPr>
                <a:latin typeface="Courier"/>
              </a:rPr>
              <a:t>campusonline</a:t>
            </a:r>
            <a:r>
              <a:rPr/>
              <a:t> by </a:t>
            </a:r>
            <a:r>
              <a:rPr b="1"/>
              <a:t>30 November 2025</a:t>
            </a:r>
            <a:r>
              <a:rPr/>
              <a:t>. Without registration you cannot submit problem sets or the review.</a:t>
            </a:r>
          </a:p>
          <a:p>
            <a:pPr lvl="0"/>
            <a:r>
              <a:rPr/>
              <a:t>Registered students who don’t submit receive a fail grade (5.0).</a:t>
            </a:r>
          </a:p>
          <a:p>
            <a:pPr lvl="0"/>
            <a:r>
              <a:rPr/>
              <a:t>Questions are best asked </a:t>
            </a:r>
            <a:r>
              <a:rPr b="1"/>
              <a:t>during or immediately after</a:t>
            </a:r>
            <a:r>
              <a:rPr/>
              <a:t> class.</a:t>
            </a:r>
          </a:p>
          <a:p>
            <a:pPr lvl="0"/>
            <a:r>
              <a:rPr/>
              <a:t>Administrative matters → </a:t>
            </a:r>
            <a:r>
              <a:rPr>
                <a:hlinkClick r:id="rId4"/>
              </a:rPr>
              <a:t>studiensekretariat@uni-ulm.de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objective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Assignments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Equip students with the practical toolkit and conceptual grounding for empirical finance research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Four lectures + Brown Bag Seminar; weekly live coding in R; LaTeX/Overleaf for write-up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 group problem set (R + LaTeX); 50% individual referee report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Schedule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Brown Bag Seminar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29.10.2025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05.11.2025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12.11.2025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19.11.2025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20.01.2026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Theme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Course intro &amp; R fundamentals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 Data Handling &amp; Visualization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Statistical Analysis using 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Academic Publishing process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Apply tips to a doctoral talk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Assignment I — Problem Set (50%)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Solve the problem set posted on Moodle, building on Lectures 1–3.</a:t>
            </a:r>
          </a:p>
          <a:p>
            <a:pPr lvl="0"/>
            <a:r>
              <a:rPr/>
              <a:t>Submit </a:t>
            </a:r>
            <a:r>
              <a:rPr b="1"/>
              <a:t>two files</a:t>
            </a:r>
            <a:r>
              <a:rPr/>
              <a:t> as a group of up to </a:t>
            </a:r>
            <a:r>
              <a:rPr b="1"/>
              <a:t>5</a:t>
            </a:r>
            <a:r>
              <a:rPr/>
              <a:t> students:</a:t>
            </a:r>
          </a:p>
          <a:p>
            <a:pPr lvl="1" indent="-342900" marL="685800">
              <a:buAutoNum type="arabicPeriod"/>
            </a:pPr>
            <a:r>
              <a:rPr/>
              <a:t>one well-commented </a:t>
            </a:r>
            <a:r>
              <a:rPr>
                <a:latin typeface="Courier"/>
              </a:rPr>
              <a:t>.R</a:t>
            </a:r>
            <a:r>
              <a:rPr/>
              <a:t> script (efficient, meaningful variable names, no needless loops);</a:t>
            </a:r>
          </a:p>
          <a:p>
            <a:pPr lvl="1" indent="-342900" marL="685800">
              <a:buAutoNum type="arabicPeriod"/>
            </a:pPr>
            <a:r>
              <a:rPr/>
              <a:t>one PDF compiled from the Overleaf template (plots, captions, LaTeX tables, written text).</a:t>
            </a:r>
          </a:p>
          <a:p>
            <a:pPr lvl="0"/>
            <a:r>
              <a:rPr b="1"/>
              <a:t>Deadline:</a:t>
            </a:r>
            <a:r>
              <a:rPr/>
              <a:t> 19 January 2026 (midnight). Email to </a:t>
            </a:r>
            <a:r>
              <a:rPr>
                <a:hlinkClick r:id="rId2"/>
              </a:rPr>
              <a:t>oliver.padmaperuma@uni-ulm.de</a:t>
            </a:r>
            <a:r>
              <a:rPr/>
              <a:t>, CC </a:t>
            </a:r>
            <a:r>
              <a:rPr>
                <a:hlinkClick r:id="rId3"/>
              </a:rPr>
              <a:t>andre.guettler@uni-ulm.de</a:t>
            </a:r>
            <a:r>
              <a:rPr/>
              <a:t>.</a:t>
            </a:r>
          </a:p>
          <a:p>
            <a:pPr lvl="0"/>
            <a:r>
              <a:rPr/>
              <a:t>File / subject pattern: </a:t>
            </a:r>
            <a:r>
              <a:rPr>
                <a:latin typeface="Courier"/>
              </a:rPr>
              <a:t>RiF_ProblemSet_surname1_surname2_...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Assignment II — Referee Report (50%)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Attend the mandatory Brown Bag Seminar on 20 January 2026, 13:30–16:00.</a:t>
            </a:r>
          </a:p>
          <a:p>
            <a:pPr lvl="0"/>
            <a:r>
              <a:rPr/>
              <a:t>Pick one doctoral presentation, apply the writing/publishing/refereeing tips from the course.</a:t>
            </a:r>
          </a:p>
          <a:p>
            <a:pPr lvl="0"/>
            <a:r>
              <a:rPr/>
              <a:t>Submit one 2.5–3 page PDF report (academic referee style) per group of up to </a:t>
            </a:r>
            <a:r>
              <a:rPr b="1"/>
              <a:t>5</a:t>
            </a:r>
            <a:r>
              <a:rPr/>
              <a:t>.</a:t>
            </a:r>
          </a:p>
          <a:p>
            <a:pPr lvl="0"/>
            <a:r>
              <a:rPr b="1"/>
              <a:t>Deadline:</a:t>
            </a:r>
            <a:r>
              <a:rPr/>
              <a:t> 3 February 2026. Email to </a:t>
            </a:r>
            <a:r>
              <a:rPr>
                <a:hlinkClick r:id="rId2"/>
              </a:rPr>
              <a:t>oliver.padmaperuma@uni-ulm.de</a:t>
            </a:r>
            <a:r>
              <a:rPr/>
              <a:t>, CC </a:t>
            </a:r>
            <a:r>
              <a:rPr>
                <a:hlinkClick r:id="rId3"/>
              </a:rPr>
              <a:t>andre.guettler@uni-ulm.de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 b="1"/>
              <a:t>Any questions before we begin?</a:t>
            </a:r>
          </a:p>
          <a:p>
            <a:pPr lvl="0" indent="0" marL="1270000">
              <a:buNone/>
            </a:pPr>
            <a:r>
              <a:rPr sz="2000"/>
              <a:t>Now is the moment.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1.2 Introduction to 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Survey — let’s get to know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Open the Mentimeter link shared in class.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learn 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It’s </a:t>
            </a:r>
            <a:r>
              <a:rPr b="1"/>
              <a:t>free and open-source</a:t>
            </a:r>
            <a:r>
              <a:rPr/>
              <a:t>.</a:t>
            </a:r>
          </a:p>
          <a:p>
            <a:pPr lvl="0"/>
            <a:r>
              <a:rPr/>
              <a:t>A powerful tool for </a:t>
            </a:r>
            <a:r>
              <a:rPr b="1"/>
              <a:t>data analysis and graphics</a:t>
            </a:r>
            <a:r>
              <a:rPr/>
              <a:t>.</a:t>
            </a:r>
          </a:p>
          <a:p>
            <a:pPr lvl="0"/>
            <a:r>
              <a:rPr/>
              <a:t>R code is great for </a:t>
            </a:r>
            <a:r>
              <a:rPr b="1"/>
              <a:t>reproducibility and shareability</a:t>
            </a:r>
            <a:r>
              <a:rPr/>
              <a:t> — submit your script and anyone can re-run your results.</a:t>
            </a:r>
          </a:p>
          <a:p>
            <a:pPr lvl="0"/>
            <a:r>
              <a:rPr/>
              <a:t>A </a:t>
            </a:r>
            <a:r>
              <a:rPr b="1"/>
              <a:t>large, active community</a:t>
            </a:r>
            <a:r>
              <a:rPr/>
              <a:t> continuously extends R via </a:t>
            </a:r>
            <a:r>
              <a:rPr b="1"/>
              <a:t>packages</a:t>
            </a:r>
            <a:r>
              <a:rPr/>
              <a:t>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R and RStudio?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 is a programming language</a:t>
            </a:r>
            <a:r>
              <a:rPr/>
              <a:t> for statistical computing, data analytics, and scientific research. It is one of the most widely used languages by statisticians and researchers to manage, manipulate, analyze, and visualize data.</a:t>
            </a:r>
          </a:p>
          <a:p>
            <a:pPr lvl="0"/>
            <a:r>
              <a:rPr b="1"/>
              <a:t>RStudio</a:t>
            </a:r>
            <a:r>
              <a:rPr/>
              <a:t> is an integrated development environment (IDE) for R that makes interaction with R easier — code completion, debugging, project management, plot viewing.</a:t>
            </a:r>
          </a:p>
          <a:p>
            <a:pPr lvl="0"/>
            <a:r>
              <a:rPr/>
              <a:t>In 2022 RStudio was rebranded </a:t>
            </a:r>
            <a:r>
              <a:rPr b="1"/>
              <a:t>Posit</a:t>
            </a:r>
            <a:r>
              <a:rPr/>
              <a:t> to signal its move toward language-agnostic tooling.</a:t>
            </a:r>
          </a:p>
          <a:p>
            <a:pPr lvl="0"/>
            <a:r>
              <a:rPr b="1"/>
              <a:t>You must install R first</a:t>
            </a:r>
            <a:r>
              <a:rPr/>
              <a:t>, then RStudio.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Installing R and RStudio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Go to </a:t>
            </a:r>
            <a:r>
              <a:rPr>
                <a:hlinkClick r:id="rId2"/>
              </a:rPr>
              <a:t>https://cran.r-project.org/</a:t>
            </a:r>
            <a:r>
              <a:rPr/>
              <a:t> and click </a:t>
            </a:r>
            <a:r>
              <a:rPr b="1"/>
              <a:t>Download R for Windows / macOS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 b="1"/>
              <a:t>base</a:t>
            </a:r>
            <a:r>
              <a:rPr/>
              <a:t> subdirectory.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 b="1"/>
              <a:t>Download R-x.x.x for Windows</a:t>
            </a:r>
            <a:r>
              <a:rPr/>
              <a:t> and run the </a:t>
            </a:r>
            <a:r>
              <a:rPr>
                <a:latin typeface="Courier"/>
              </a:rPr>
              <a:t>.exe</a:t>
            </a:r>
            <a:r>
              <a:rPr/>
              <a:t>. Accept defaults.</a:t>
            </a:r>
          </a:p>
          <a:p>
            <a:pPr lvl="0" indent="-342900" marL="342900">
              <a:buAutoNum type="arabicPeriod"/>
            </a:pPr>
            <a:r>
              <a:rPr/>
              <a:t>Go to </a:t>
            </a:r>
            <a:r>
              <a:rPr>
                <a:hlinkClick r:id="rId3"/>
              </a:rPr>
              <a:t>https://posit.co/download/rstudio-desktop</a:t>
            </a:r>
            <a:r>
              <a:rPr/>
              <a:t> and click </a:t>
            </a:r>
            <a:r>
              <a:rPr b="1"/>
              <a:t>Download RStudio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Run the RStudio installer.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RStudio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main panes when you open RStudio:</a:t>
            </a:r>
          </a:p>
          <a:p>
            <a:pPr lvl="0" indent="-342900" marL="342900">
              <a:buAutoNum type="arabicPeriod"/>
            </a:pPr>
            <a:r>
              <a:rPr b="1"/>
              <a:t>Console</a:t>
            </a:r>
            <a:r>
              <a:rPr/>
              <a:t> — where R code is executed.</a:t>
            </a:r>
          </a:p>
          <a:p>
            <a:pPr lvl="0" indent="-342900" marL="342900">
              <a:buAutoNum type="arabicPeriod"/>
            </a:pPr>
            <a:r>
              <a:rPr b="1"/>
              <a:t>Global Environment / History</a:t>
            </a:r>
            <a:r>
              <a:rPr/>
              <a:t> — your in-memory objects.</a:t>
            </a:r>
          </a:p>
          <a:p>
            <a:pPr lvl="0" indent="-342900" marL="342900">
              <a:buAutoNum type="arabicPeriod"/>
            </a:pPr>
            <a:r>
              <a:rPr b="1"/>
              <a:t>Files / Plots / Packages / Help / Viewer</a:t>
            </a:r>
            <a:r>
              <a:rPr/>
              <a:t> — the swiss-army-knife pane.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Writing code in RStudio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Script Editor</a:t>
            </a:r>
          </a:p>
          <a:p>
            <a:pPr lvl="0"/>
            <a:r>
              <a:rPr/>
              <a:t>Load and save </a:t>
            </a:r>
            <a:r>
              <a:rPr>
                <a:latin typeface="Courier"/>
              </a:rPr>
              <a:t>.R</a:t>
            </a:r>
            <a:r>
              <a:rPr/>
              <a:t> scripts.</a:t>
            </a:r>
          </a:p>
          <a:p>
            <a:pPr lvl="0"/>
            <a:r>
              <a:rPr/>
              <a:t>Keeps a record of your analysis — show others how it was run, repeat later.</a:t>
            </a:r>
          </a:p>
          <a:p>
            <a:pPr lvl="0"/>
            <a:r>
              <a:rPr/>
              <a:t>Edit code without accidentally running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Console</a:t>
            </a:r>
          </a:p>
          <a:p>
            <a:pPr lvl="0"/>
            <a:r>
              <a:rPr/>
              <a:t>Where R code is </a:t>
            </a:r>
            <a:r>
              <a:rPr b="1"/>
              <a:t>executed</a:t>
            </a:r>
            <a:r>
              <a:rPr/>
              <a:t>.</a:t>
            </a:r>
          </a:p>
          <a:p>
            <a:pPr lvl="0"/>
            <a:r>
              <a:rPr/>
              <a:t>You can also run code interactively here, but it is </a:t>
            </a:r>
            <a:r>
              <a:rPr b="1"/>
              <a:t>NOT</a:t>
            </a:r>
            <a:r>
              <a:rPr/>
              <a:t> saved on disk.</a:t>
            </a:r>
          </a:p>
          <a:p>
            <a:pPr lvl="0"/>
            <a:r>
              <a:rPr/>
              <a:t>See output and errors directly.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Best practice</a:t>
            </a:r>
          </a:p>
          <a:p>
            <a:pPr lvl="0" indent="0" marL="1270000">
              <a:buNone/>
            </a:pPr>
            <a:r>
              <a:rPr sz="2000"/>
              <a:t>Write and run code through the </a:t>
            </a:r>
            <a:r>
              <a:rPr sz="2000" b="1"/>
              <a:t>Script Editor</a:t>
            </a:r>
            <a:r>
              <a:rPr sz="2000"/>
              <a:t>. Use the Console only for quick exploration.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Setting the working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working directory</a:t>
            </a:r>
            <a:r>
              <a:rPr/>
              <a:t> (</a:t>
            </a:r>
            <a:r>
              <a:rPr>
                <a:latin typeface="Courier"/>
              </a:rPr>
              <a:t>wd</a:t>
            </a:r>
            <a:r>
              <a:rPr/>
              <a:t>) is where R looks for and saves files.</a:t>
            </a:r>
          </a:p>
          <a:p>
            <a:pPr lvl="0" indent="0" marL="0">
              <a:buNone/>
            </a:pPr>
            <a:r>
              <a:rPr/>
              <a:t>Two ways to set it: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Option 1: menu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Session → Set Working Directory → Choose Directory…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Option 2: code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setwd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"C:/Users/&lt;you&gt;/Documents/research-in-finance"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Verify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getwd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started — running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blinking cursor in the Script Editor prompts you to write. The Console shows </a:t>
            </a:r>
            <a:r>
              <a:rPr>
                <a:latin typeface="Courier"/>
              </a:rPr>
              <a:t>&gt;</a:t>
            </a:r>
            <a:r>
              <a:rPr/>
              <a:t> when R is ready.</a:t>
            </a:r>
          </a:p>
          <a:p>
            <a:pPr lvl="0" indent="0" marL="0">
              <a:buNone/>
            </a:pPr>
            <a:r>
              <a:rPr/>
              <a:t>Four ways to run code:</a:t>
            </a:r>
          </a:p>
          <a:p>
            <a:pPr lvl="0" indent="-342900" marL="342900">
              <a:buAutoNum type="arabicPeriod"/>
            </a:pPr>
            <a:r>
              <a:rPr b="1"/>
              <a:t>Ctrl/Cmd + Enter</a:t>
            </a:r>
            <a:r>
              <a:rPr/>
              <a:t> — run current line / selection.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 b="1"/>
              <a:t>Run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Ctrl + Shift + Enter</a:t>
            </a:r>
            <a:r>
              <a:rPr/>
              <a:t> — run all lines in the editor.</a:t>
            </a:r>
          </a:p>
          <a:p>
            <a:pPr lvl="0" indent="-342900" marL="342900">
              <a:buAutoNum type="arabicPeriod"/>
            </a:pPr>
            <a:r>
              <a:rPr/>
              <a:t>Highlight lines and click </a:t>
            </a:r>
            <a:r>
              <a:rPr b="1"/>
              <a:t>Run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 b="1"/>
              <a:t>Practice</a:t>
            </a:r>
          </a:p>
          <a:p>
            <a:pPr lvl="0" indent="0" marL="1270000">
              <a:buNone/>
            </a:pPr>
            <a:r>
              <a:rPr sz="2000"/>
              <a:t>Type </a:t>
            </a:r>
            <a:r>
              <a:rPr sz="2000">
                <a:latin typeface="Courier"/>
              </a:rPr>
              <a:t>1 + 2*8</a:t>
            </a:r>
            <a:r>
              <a:rPr sz="2000"/>
              <a:t> and </a:t>
            </a:r>
            <a:r>
              <a:rPr sz="2000">
                <a:latin typeface="Courier"/>
              </a:rPr>
              <a:t>log(10)</a:t>
            </a:r>
            <a:r>
              <a:rPr sz="2000"/>
              <a:t>. Result appears in the Console with a leading </a:t>
            </a:r>
            <a:r>
              <a:rPr sz="2000">
                <a:latin typeface="Courier"/>
              </a:rPr>
              <a:t>[1]</a:t>
            </a:r>
            <a:r>
              <a:rPr sz="2000"/>
              <a:t> (the index of the first element on that line).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packages?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Packages </a:t>
            </a:r>
            <a:r>
              <a:rPr b="1"/>
              <a:t>expand</a:t>
            </a:r>
            <a:r>
              <a:rPr/>
              <a:t> what you can do beyond base R.</a:t>
            </a:r>
          </a:p>
          <a:p>
            <a:pPr lvl="0"/>
            <a:r>
              <a:rPr/>
              <a:t>A collection of </a:t>
            </a:r>
            <a:r>
              <a:rPr b="1"/>
              <a:t>functions, data sets, and other R objects</a:t>
            </a:r>
            <a:r>
              <a:rPr/>
              <a:t> under one name.</a:t>
            </a:r>
          </a:p>
          <a:p>
            <a:pPr lvl="0"/>
            <a:r>
              <a:rPr/>
              <a:t>Install from repositories: </a:t>
            </a:r>
            <a:r>
              <a:rPr b="1"/>
              <a:t>CRAN</a:t>
            </a:r>
            <a:r>
              <a:rPr/>
              <a:t>, GitHub, etc.</a:t>
            </a:r>
          </a:p>
          <a:p>
            <a:pPr lvl="0"/>
            <a:r>
              <a:rPr/>
              <a:t>The </a:t>
            </a:r>
            <a:r>
              <a:rPr b="1"/>
              <a:t>Packages</a:t>
            </a:r>
            <a:r>
              <a:rPr/>
              <a:t> tab lists installed packages; click </a:t>
            </a:r>
            <a:r>
              <a:rPr b="1"/>
              <a:t>Update</a:t>
            </a:r>
            <a:r>
              <a:rPr/>
              <a:t> to upgrade; the small × uninstalls.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Installing and loading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Installing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From CRAN (default)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"tidyverse"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"tidyquant"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"Quandl"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Or click </a:t>
            </a:r>
            <a:r>
              <a:rPr b="1"/>
              <a:t>Install</a:t>
            </a:r>
            <a:r>
              <a:rPr/>
              <a:t> in the Packages tab.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Loading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(tidyquant)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(Quandl)</a:t>
            </a:r>
          </a:p>
          <a:p>
            <a:pPr lvl="0" indent="0" marL="0">
              <a:buNone/>
            </a:pPr>
            <a:r>
              <a:rPr/>
              <a:t>Or tick the package’s checkbox in the Packages tab.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Short exercise</a:t>
            </a:r>
          </a:p>
          <a:p>
            <a:pPr lvl="0" indent="0" marL="1270000">
              <a:buNone/>
            </a:pPr>
            <a:r>
              <a:rPr sz="2000"/>
              <a:t>Install and load the </a:t>
            </a:r>
            <a:r>
              <a:rPr sz="2000">
                <a:latin typeface="Courier"/>
              </a:rPr>
              <a:t>tidyverse</a:t>
            </a:r>
            <a:r>
              <a:rPr sz="2000"/>
              <a:t>, </a:t>
            </a:r>
            <a:r>
              <a:rPr sz="2000">
                <a:latin typeface="Courier"/>
              </a:rPr>
              <a:t>tidyquant</a:t>
            </a:r>
            <a:r>
              <a:rPr sz="2000"/>
              <a:t>, and </a:t>
            </a:r>
            <a:r>
              <a:rPr sz="2000">
                <a:latin typeface="Courier"/>
              </a:rPr>
              <a:t>Quandl</a:t>
            </a:r>
            <a:r>
              <a:rPr sz="2000"/>
              <a:t> packages.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1.3 Live Coding Session 1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Creating objects /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Assign with </a:t>
            </a:r>
            <a:r>
              <a:rPr>
                <a:latin typeface="Courier"/>
              </a:rPr>
              <a:t>&lt;-</a:t>
            </a:r>
            <a:r>
              <a:rPr/>
              <a:t> (the assignment operator).</a:t>
            </a:r>
          </a:p>
          <a:p>
            <a:pPr lvl="0"/>
            <a:r>
              <a:rPr/>
              <a:t>❌ avoid long object names · ✅ be descriptive</a:t>
            </a:r>
          </a:p>
          <a:p>
            <a:pPr lvl="0"/>
            <a:r>
              <a:rPr/>
              <a:t>❌ don’t reuse names of existing R functions</a:t>
            </a:r>
          </a:p>
          <a:p>
            <a:pPr lvl="0"/>
            <a:r>
              <a:rPr/>
              <a:t>❌ no blank spaces — use </a:t>
            </a:r>
            <a:r>
              <a:rPr>
                <a:latin typeface="Courier"/>
              </a:rPr>
              <a:t>_</a:t>
            </a:r>
            <a:r>
              <a:rPr/>
              <a:t> or </a:t>
            </a:r>
            <a:r>
              <a:rPr>
                <a:latin typeface="Courier"/>
              </a:rPr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Practice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x   </a:t>
            </a:r>
            <a:r>
              <a:rPr>
                <a:solidFill>
                  <a:srgbClr val="5E5E5E"/>
                </a:solidFill>
                <a:latin typeface="Courier"/>
              </a:rPr>
              <a:t># → [1] 10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data types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Numeric</a:t>
            </a:r>
            <a:r>
              <a:rPr/>
              <a:t> — numbers that may contain decimals.</a:t>
            </a:r>
          </a:p>
          <a:p>
            <a:pPr lvl="1"/>
            <a:r>
              <a:rPr b="1"/>
              <a:t>Integer</a:t>
            </a:r>
            <a:r>
              <a:rPr/>
              <a:t> — special case, no decimals (suffix </a:t>
            </a:r>
            <a:r>
              <a:rPr>
                <a:latin typeface="Courier"/>
              </a:rPr>
              <a:t>L</a:t>
            </a:r>
            <a:r>
              <a:rPr/>
              <a:t>).</a:t>
            </a:r>
          </a:p>
          <a:p>
            <a:pPr lvl="0" indent="-342900" marL="342900">
              <a:buAutoNum type="arabicPeriod"/>
            </a:pPr>
            <a:r>
              <a:rPr b="1"/>
              <a:t>Character</a:t>
            </a:r>
            <a:r>
              <a:rPr/>
              <a:t> — text (strings); wrap in </a:t>
            </a:r>
            <a:r>
              <a:rPr>
                <a:latin typeface="Courier"/>
              </a:rPr>
              <a:t>" "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Factor</a:t>
            </a:r>
            <a:r>
              <a:rPr/>
              <a:t> — special character used for </a:t>
            </a:r>
            <a:r>
              <a:rPr b="1"/>
              <a:t>categorical data</a:t>
            </a:r>
            <a:r>
              <a:rPr/>
              <a:t> (e.g., male/female, months).</a:t>
            </a:r>
          </a:p>
          <a:p>
            <a:pPr lvl="0" indent="-342900" marL="342900">
              <a:buAutoNum type="arabicPeriod"/>
            </a:pPr>
            <a:r>
              <a:rPr b="1"/>
              <a:t>Logical</a:t>
            </a:r>
            <a:r>
              <a:rPr/>
              <a:t> — Boolean (</a:t>
            </a:r>
            <a:r>
              <a:rPr>
                <a:latin typeface="Courier"/>
              </a:rPr>
              <a:t>TRUE</a:t>
            </a:r>
            <a:r>
              <a:rPr/>
              <a:t> / </a:t>
            </a:r>
            <a:r>
              <a:rPr>
                <a:latin typeface="Courier"/>
              </a:rPr>
              <a:t>FALSE</a:t>
            </a:r>
            <a:r>
              <a:rPr/>
              <a:t>).</a:t>
            </a:r>
          </a:p>
          <a:p>
            <a:pPr lvl="0" indent="0" marL="1270000">
              <a:buNone/>
            </a:pPr>
            <a:r>
              <a:rPr sz="2000" b="1"/>
              <a:t>Class lookup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class(objectname)</a:t>
            </a:r>
            <a:r>
              <a:rPr sz="2000"/>
              <a:t> returns the higher-level label R uses to decide which functions and behaviors apply (</a:t>
            </a:r>
            <a:r>
              <a:rPr sz="2000">
                <a:latin typeface="Courier"/>
              </a:rPr>
              <a:t>"data.frame"</a:t>
            </a:r>
            <a:r>
              <a:rPr sz="2000"/>
              <a:t>, </a:t>
            </a:r>
            <a:r>
              <a:rPr sz="2000">
                <a:latin typeface="Courier"/>
              </a:rPr>
              <a:t>"factor"</a:t>
            </a:r>
            <a:r>
              <a:rPr sz="2000"/>
              <a:t>, </a:t>
            </a:r>
            <a:r>
              <a:rPr sz="2000">
                <a:latin typeface="Courier"/>
              </a:rPr>
              <a:t>"matrix"</a:t>
            </a:r>
            <a:r>
              <a:rPr sz="2000"/>
              <a:t>, </a:t>
            </a:r>
            <a:r>
              <a:rPr sz="2000">
                <a:latin typeface="Courier"/>
              </a:rPr>
              <a:t>"numeric"</a:t>
            </a:r>
            <a:r>
              <a:rPr sz="2000"/>
              <a:t>).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Variables and basic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myNumber  &lt;-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          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numeric (default)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myInteger &lt;-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L        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integer ('L' suffix)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myText    &lt;- </a:t>
            </a:r>
            <a:r>
              <a:rPr>
                <a:solidFill>
                  <a:srgbClr val="20794D"/>
                </a:solidFill>
                <a:latin typeface="Courier"/>
              </a:rPr>
              <a:t>"Some sentence..."</a:t>
            </a:r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5E5E5E"/>
                </a:solidFill>
                <a:latin typeface="Courier"/>
              </a:rPr>
              <a:t># character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myFactor 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"green"</a:t>
            </a:r>
            <a:r>
              <a:rPr>
                <a:solidFill>
                  <a:srgbClr val="003B4F"/>
                </a:solidFill>
                <a:latin typeface="Courier"/>
              </a:rPr>
              <a:t>))  </a:t>
            </a:r>
            <a:r>
              <a:rPr>
                <a:solidFill>
                  <a:srgbClr val="5E5E5E"/>
                </a:solidFill>
                <a:latin typeface="Courier"/>
              </a:rPr>
              <a:t># factor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(myFactor)        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"blue" "green" "red"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myLogical &lt;-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      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logical</a:t>
            </a:r>
          </a:p>
          <a:p>
            <a:pPr lvl="0" indent="0" marL="1270000">
              <a:buNone/>
            </a:pPr>
            <a:r>
              <a:rPr sz="2000" b="1"/>
              <a:t>Why:</a:t>
            </a:r>
            <a:r>
              <a:rPr sz="2000"/>
              <a:t> assign and compute financial metrics — returns, prices, ratios — quickly during empirical work.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basic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Individual values</a:t>
            </a:r>
            <a:r>
              <a:rPr/>
              <a:t> — single scalars.</a:t>
            </a:r>
          </a:p>
          <a:p>
            <a:pPr lvl="0" indent="-342900" marL="342900">
              <a:buAutoNum type="arabicPeriod"/>
            </a:pPr>
            <a:r>
              <a:rPr b="1"/>
              <a:t>Vectors</a:t>
            </a:r>
            <a:r>
              <a:rPr/>
              <a:t> — ordered collections of elements (one type only).</a:t>
            </a:r>
          </a:p>
          <a:p>
            <a:pPr lvl="0" indent="-342900" marL="342900">
              <a:buAutoNum type="arabicPeriod"/>
            </a:pPr>
            <a:r>
              <a:rPr b="1"/>
              <a:t>Matrices</a:t>
            </a:r>
            <a:r>
              <a:rPr/>
              <a:t> — 2D arrays; rows × columns; one type only.</a:t>
            </a:r>
          </a:p>
          <a:p>
            <a:pPr lvl="0" indent="-342900" marL="342900">
              <a:buAutoNum type="arabicPeriod"/>
            </a:pPr>
            <a:r>
              <a:rPr b="1"/>
              <a:t>Data frames</a:t>
            </a:r>
            <a:r>
              <a:rPr/>
              <a:t> — like spreadsheets; columns can have </a:t>
            </a:r>
            <a:r>
              <a:rPr b="1"/>
              <a:t>different types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Lists</a:t>
            </a:r>
            <a:r>
              <a:rPr/>
              <a:t> — flexible containers that can hold vectors, matrices, data frames, even other lists.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myVector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1.1</a:t>
            </a:r>
            <a:r>
              <a:rPr>
                <a:solidFill>
                  <a:srgbClr val="003B4F"/>
                </a:solidFill>
                <a:latin typeface="Courier"/>
              </a:rPr>
              <a:t>, pi)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Inspect / aggregate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myVector[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]        </a:t>
            </a:r>
            <a:r>
              <a:rPr>
                <a:solidFill>
                  <a:srgbClr val="5E5E5E"/>
                </a:solidFill>
                <a:latin typeface="Courier"/>
              </a:rPr>
              <a:t># third element: -1.1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(myVector)   </a:t>
            </a:r>
            <a:r>
              <a:rPr>
                <a:solidFill>
                  <a:srgbClr val="5E5E5E"/>
                </a:solidFill>
                <a:latin typeface="Courier"/>
              </a:rPr>
              <a:t># 4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(myVector)      </a:t>
            </a:r>
            <a:r>
              <a:rPr>
                <a:solidFill>
                  <a:srgbClr val="5E5E5E"/>
                </a:solidFill>
                <a:latin typeface="Courier"/>
              </a:rPr>
              <a:t># ~9.04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(myVector)     </a:t>
            </a:r>
            <a:r>
              <a:rPr>
                <a:solidFill>
                  <a:srgbClr val="5E5E5E"/>
                </a:solidFill>
                <a:latin typeface="Courier"/>
              </a:rPr>
              <a:t># ~2.26</a:t>
            </a:r>
            <a:br/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(myVector)      </a:t>
            </a:r>
            <a:r>
              <a:rPr>
                <a:solidFill>
                  <a:srgbClr val="5E5E5E"/>
                </a:solidFill>
                <a:latin typeface="Courier"/>
              </a:rPr>
              <a:t># ~5.21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sort</a:t>
            </a:r>
            <a:r>
              <a:rPr>
                <a:solidFill>
                  <a:srgbClr val="003B4F"/>
                </a:solidFill>
                <a:latin typeface="Courier"/>
              </a:rPr>
              <a:t>(myVector)     </a:t>
            </a:r>
            <a:r>
              <a:rPr>
                <a:solidFill>
                  <a:srgbClr val="5E5E5E"/>
                </a:solidFill>
                <a:latin typeface="Courier"/>
              </a:rPr>
              <a:t># ascending: -1.1, 3.0, 3.14, 4.0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(myVector,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Vectorized arithmetic — no loops needed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myVector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myVector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myVector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Coercion: mixed types collapse to character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mixed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"two"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"1" "two" "TRUE"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Named vectors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namedVec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apple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banana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namedVec[</a:t>
            </a:r>
            <a:r>
              <a:rPr>
                <a:solidFill>
                  <a:srgbClr val="20794D"/>
                </a:solidFill>
                <a:latin typeface="Courier"/>
              </a:rPr>
              <a:t>"banana"</a:t>
            </a:r>
            <a:r>
              <a:rPr>
                <a:solidFill>
                  <a:srgbClr val="003B4F"/>
                </a:solidFill>
                <a:latin typeface="Courier"/>
              </a:rPr>
              <a:t>]   </a:t>
            </a:r>
            <a:r>
              <a:rPr>
                <a:solidFill>
                  <a:srgbClr val="5E5E5E"/>
                </a:solidFill>
                <a:latin typeface="Courier"/>
              </a:rPr>
              <a:t># 3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myMatrix &lt;- </a:t>
            </a:r>
            <a:r>
              <a:rPr>
                <a:solidFill>
                  <a:srgbClr val="4758AB"/>
                </a:solidFill>
                <a:latin typeface="Courier"/>
              </a:rPr>
              <a:t>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nrow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byrow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(myMatrix)              </a:t>
            </a:r>
            <a:r>
              <a:rPr>
                <a:solidFill>
                  <a:srgbClr val="5E5E5E"/>
                </a:solidFill>
                <a:latin typeface="Courier"/>
              </a:rPr>
              <a:t># [1] 2 3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myMatrix[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 &lt;- </a:t>
            </a:r>
            <a:r>
              <a:rPr>
                <a:solidFill>
                  <a:srgbClr val="AD0000"/>
                </a:solidFill>
                <a:latin typeface="Courier"/>
              </a:rPr>
              <a:t>2.1415</a:t>
            </a:r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5E5E5E"/>
                </a:solidFill>
                <a:latin typeface="Courier"/>
              </a:rPr>
              <a:t># modify cell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myMatrix[,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              </a:t>
            </a:r>
            <a:r>
              <a:rPr>
                <a:solidFill>
                  <a:srgbClr val="5E5E5E"/>
                </a:solidFill>
                <a:latin typeface="Courier"/>
              </a:rPr>
              <a:t># second column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Linear algebra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anotherMatrix &lt;- </a:t>
            </a:r>
            <a:r>
              <a:rPr>
                <a:solidFill>
                  <a:srgbClr val="4758AB"/>
                </a:solidFill>
                <a:latin typeface="Courier"/>
              </a:rPr>
              <a:t>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nrow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byrow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transposedMatrix &lt;- </a:t>
            </a:r>
            <a:r>
              <a:rPr>
                <a:solidFill>
                  <a:srgbClr val="4758AB"/>
                </a:solidFill>
                <a:latin typeface="Courier"/>
              </a:rPr>
              <a:t>t</a:t>
            </a:r>
            <a:r>
              <a:rPr>
                <a:solidFill>
                  <a:srgbClr val="003B4F"/>
                </a:solidFill>
                <a:latin typeface="Courier"/>
              </a:rPr>
              <a:t>(anotherMatrix)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matrixProduct    &lt;- myMatrix </a:t>
            </a:r>
            <a:r>
              <a:rPr>
                <a:solidFill>
                  <a:srgbClr val="5E5E5E"/>
                </a:solidFill>
                <a:latin typeface="Courier"/>
              </a:rPr>
              <a:t>%*%</a:t>
            </a:r>
            <a:r>
              <a:rPr>
                <a:solidFill>
                  <a:srgbClr val="003B4F"/>
                </a:solidFill>
                <a:latin typeface="Courier"/>
              </a:rPr>
              <a:t> transposedMatrix     </a:t>
            </a:r>
            <a:r>
              <a:rPr>
                <a:solidFill>
                  <a:srgbClr val="5E5E5E"/>
                </a:solidFill>
                <a:latin typeface="Courier"/>
              </a:rPr>
              <a:t># 2x2 product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matrixInverse    &lt;- </a:t>
            </a:r>
            <a:r>
              <a:rPr>
                <a:solidFill>
                  <a:srgbClr val="4758AB"/>
                </a:solidFill>
                <a:latin typeface="Courier"/>
              </a:rPr>
              <a:t>solve</a:t>
            </a:r>
            <a:r>
              <a:rPr>
                <a:solidFill>
                  <a:srgbClr val="003B4F"/>
                </a:solidFill>
                <a:latin typeface="Courier"/>
              </a:rPr>
              <a:t>(matrixProduct)              </a:t>
            </a:r>
            <a:r>
              <a:rPr>
                <a:solidFill>
                  <a:srgbClr val="5E5E5E"/>
                </a:solidFill>
                <a:latin typeface="Courier"/>
              </a:rPr>
              <a:t># inverse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Aggregations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rowSums</a:t>
            </a:r>
            <a:r>
              <a:rPr>
                <a:solidFill>
                  <a:srgbClr val="003B4F"/>
                </a:solidFill>
                <a:latin typeface="Courier"/>
              </a:rPr>
              <a:t>(myMatrix)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colMeans</a:t>
            </a:r>
            <a:r>
              <a:rPr>
                <a:solidFill>
                  <a:srgbClr val="003B4F"/>
                </a:solidFill>
                <a:latin typeface="Courier"/>
              </a:rPr>
              <a:t>(myMatrix)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Bind: combine rows / cols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cbind</a:t>
            </a:r>
            <a:r>
              <a:rPr>
                <a:solidFill>
                  <a:srgbClr val="003B4F"/>
                </a:solidFill>
                <a:latin typeface="Courier"/>
              </a:rPr>
              <a:t>(myMatrix,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1270000">
              <a:buNone/>
            </a:pPr>
            <a:r>
              <a:rPr sz="2000" b="1"/>
              <a:t>Use case:</a:t>
            </a:r>
            <a:r>
              <a:rPr sz="2000"/>
              <a:t> covariance matrices for portfolio optimization or regressions.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student_name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"Student 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"Student 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"Student C"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grade    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1.7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5.0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students    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(student_name, grade)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students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grade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column access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colnames</a:t>
            </a:r>
            <a:r>
              <a:rPr>
                <a:solidFill>
                  <a:srgbClr val="003B4F"/>
                </a:solidFill>
                <a:latin typeface="Courier"/>
              </a:rPr>
              <a:t>(students)[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 &lt;- </a:t>
            </a:r>
            <a:r>
              <a:rPr>
                <a:solidFill>
                  <a:srgbClr val="20794D"/>
                </a:solidFill>
                <a:latin typeface="Courier"/>
              </a:rPr>
              <a:t>"exam2021"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students[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]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rows 2-3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Add columns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students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degree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"Bachelor"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"Master"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"Bachelor"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students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pass_fail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"Fail"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(students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degree, students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pass_fail)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Summary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(students)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Subset by condition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subset</a:t>
            </a:r>
            <a:r>
              <a:rPr>
                <a:solidFill>
                  <a:srgbClr val="003B4F"/>
                </a:solidFill>
                <a:latin typeface="Courier"/>
              </a:rPr>
              <a:t>(students, exam2021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Add row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newStudent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student_name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"Student 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exam2021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3.5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degree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"PhD"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pass_fail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students &lt;- </a:t>
            </a:r>
            <a:r>
              <a:rPr>
                <a:solidFill>
                  <a:srgbClr val="4758AB"/>
                </a:solidFill>
                <a:latin typeface="Courier"/>
              </a:rPr>
              <a:t>rbind</a:t>
            </a:r>
            <a:r>
              <a:rPr>
                <a:solidFill>
                  <a:srgbClr val="003B4F"/>
                </a:solidFill>
                <a:latin typeface="Courier"/>
              </a:rPr>
              <a:t>(students, newStudent)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Merge with another frame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ages  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student_name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"Student 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"Student 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"Student C"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age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merged &lt;- </a:t>
            </a:r>
            <a:r>
              <a:rPr>
                <a:solidFill>
                  <a:srgbClr val="4758AB"/>
                </a:solidFill>
                <a:latin typeface="Courier"/>
              </a:rPr>
              <a:t>merge</a:t>
            </a:r>
            <a:r>
              <a:rPr>
                <a:solidFill>
                  <a:srgbClr val="003B4F"/>
                </a:solidFill>
                <a:latin typeface="Courier"/>
              </a:rPr>
              <a:t>(students, ages,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"student_name"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Use case:</a:t>
            </a:r>
            <a:r>
              <a:rPr sz="2000"/>
              <a:t> organizing prices/dates for thesis-level analysis and merging multiple sources.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scoresList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scores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95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names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"Alice"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"Bob"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"Carol"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passed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(scoresList)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scoresList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scores[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] &lt;- </a:t>
            </a:r>
            <a:r>
              <a:rPr>
                <a:solidFill>
                  <a:srgbClr val="AD0000"/>
                </a:solidFill>
                <a:latin typeface="Courier"/>
              </a:rPr>
              <a:t>90</a:t>
            </a:r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5E5E5E"/>
                </a:solidFill>
                <a:latin typeface="Courier"/>
              </a:rPr>
              <a:t># update Carol's score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scoresList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comments  &lt;- </a:t>
            </a:r>
            <a:r>
              <a:rPr>
                <a:solidFill>
                  <a:srgbClr val="20794D"/>
                </a:solidFill>
                <a:latin typeface="Courier"/>
              </a:rPr>
              <a:t>"All passed"</a:t>
            </a:r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5E5E5E"/>
                </a:solidFill>
                <a:latin typeface="Courier"/>
              </a:rPr>
              <a:t># add element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Nested list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nestedList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course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"Math 101"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details =</a:t>
            </a:r>
            <a:r>
              <a:rPr>
                <a:solidFill>
                  <a:srgbClr val="003B4F"/>
                </a:solidFill>
                <a:latin typeface="Courier"/>
              </a:rPr>
              <a:t> scoresList)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nestedList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details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names[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              </a:t>
            </a:r>
            <a:r>
              <a:rPr>
                <a:solidFill>
                  <a:srgbClr val="5E5E5E"/>
                </a:solidFill>
                <a:latin typeface="Courier"/>
              </a:rPr>
              <a:t># "Alice"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Convert to data frame (elements need equal length)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scoresDF &lt;-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(scoresList)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Define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bmiCalc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(height, weight)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bmi &lt;- weight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(height 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(bmi,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myBmi &lt;- </a:t>
            </a:r>
            <a:r>
              <a:rPr>
                <a:solidFill>
                  <a:srgbClr val="4758AB"/>
                </a:solidFill>
                <a:latin typeface="Courier"/>
              </a:rPr>
              <a:t>bmiCalc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1.75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70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22.9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Default arguments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bmiCalcDefault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(height, </a:t>
            </a:r>
            <a:r>
              <a:rPr>
                <a:solidFill>
                  <a:srgbClr val="657422"/>
                </a:solidFill>
                <a:latin typeface="Courier"/>
              </a:rPr>
              <a:t>weight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70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(weight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(height 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r>
              <a:rPr>
                <a:solidFill>
                  <a:srgbClr val="4758AB"/>
                </a:solidFill>
                <a:latin typeface="Courier"/>
              </a:rPr>
              <a:t>bmiCalcDefault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1.75</a:t>
            </a:r>
            <a:r>
              <a:rPr>
                <a:solidFill>
                  <a:srgbClr val="003B4F"/>
                </a:solidFill>
                <a:latin typeface="Courier"/>
              </a:rPr>
              <a:t>)         </a:t>
            </a:r>
            <a:r>
              <a:rPr>
                <a:solidFill>
                  <a:srgbClr val="5E5E5E"/>
                </a:solidFill>
                <a:latin typeface="Courier"/>
              </a:rPr>
              <a:t># 22.9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Multiple returns via list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bmiAdvanced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(height, weight)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bmi &lt;- weight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(height 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category &lt;-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(bmi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18.5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"Underweight"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(bmi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"Normal"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"Overweight"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bmi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(bmi,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category =</a:t>
            </a:r>
            <a:r>
              <a:rPr>
                <a:solidFill>
                  <a:srgbClr val="003B4F"/>
                </a:solidFill>
                <a:latin typeface="Courier"/>
              </a:rPr>
              <a:t> category)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result &lt;- </a:t>
            </a:r>
            <a:r>
              <a:rPr>
                <a:solidFill>
                  <a:srgbClr val="4758AB"/>
                </a:solidFill>
                <a:latin typeface="Courier"/>
              </a:rPr>
              <a:t>bmiAdvanced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1.75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bmi        </a:t>
            </a:r>
            <a:r>
              <a:rPr>
                <a:solidFill>
                  <a:srgbClr val="5E5E5E"/>
                </a:solidFill>
                <a:latin typeface="Courier"/>
              </a:rPr>
              <a:t># 22.9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category   </a:t>
            </a:r>
            <a:r>
              <a:rPr>
                <a:solidFill>
                  <a:srgbClr val="5E5E5E"/>
                </a:solidFill>
                <a:latin typeface="Courier"/>
              </a:rPr>
              <a:t># "Normal"</a:t>
            </a:r>
          </a:p>
          <a:p>
            <a:pPr lvl="0" indent="0" marL="1270000">
              <a:buNone/>
            </a:pPr>
            <a:r>
              <a:rPr sz="2000" b="1"/>
              <a:t>Use case:</a:t>
            </a:r>
            <a:r>
              <a:rPr sz="2000"/>
              <a:t> automate repetitive calculations (risk-adjusted returns, simulation models) for efficiency in large datasets.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nums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For-loop: sum even numbers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evenSum &lt;-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(i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nums)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(i </a:t>
            </a:r>
            <a:r>
              <a:rPr>
                <a:solidFill>
                  <a:srgbClr val="5E5E5E"/>
                </a:solidFill>
                <a:latin typeface="Courier"/>
              </a:rPr>
              <a:t>%%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 evenSum &lt;- evenSum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i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evenSum    </a:t>
            </a:r>
            <a:r>
              <a:rPr>
                <a:solidFill>
                  <a:srgbClr val="5E5E5E"/>
                </a:solidFill>
                <a:latin typeface="Courier"/>
              </a:rPr>
              <a:t># 6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While-loop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j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br/>
            <a:r>
              <a:rPr b="1">
                <a:solidFill>
                  <a:srgbClr val="003B4F"/>
                </a:solidFill>
                <a:latin typeface="Courier"/>
              </a:rPr>
              <a:t>while</a:t>
            </a:r>
            <a:r>
              <a:rPr>
                <a:solidFill>
                  <a:srgbClr val="003B4F"/>
                </a:solidFill>
                <a:latin typeface="Courier"/>
              </a:rPr>
              <a:t> (j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(j)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j &lt;- j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Nested for-loop</a:t>
            </a:r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(a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(b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(a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b)   </a:t>
            </a:r>
            <a:r>
              <a:rPr>
                <a:solidFill>
                  <a:srgbClr val="5E5E5E"/>
                </a:solidFill>
                <a:latin typeface="Courier"/>
              </a:rPr>
              <a:t># 3, 4, 6, 8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1270000">
              <a:buNone/>
            </a:pPr>
            <a:r>
              <a:rPr sz="2000" b="1"/>
              <a:t>Pro tip</a:t>
            </a:r>
          </a:p>
          <a:p>
            <a:pPr lvl="0" indent="0" marL="1270000">
              <a:buNone/>
            </a:pPr>
            <a:r>
              <a:rPr sz="2000"/>
              <a:t>For data-frame operations, </a:t>
            </a:r>
            <a:r>
              <a:rPr sz="2000" b="1"/>
              <a:t>vectorized</a:t>
            </a:r>
            <a:r>
              <a:rPr sz="2000"/>
              <a:t> alternatives (e.g., </a:t>
            </a:r>
            <a:r>
              <a:rPr sz="2000">
                <a:latin typeface="Courier"/>
              </a:rPr>
              <a:t>apply</a:t>
            </a:r>
            <a:r>
              <a:rPr sz="2000"/>
              <a:t>, </a:t>
            </a:r>
            <a:r>
              <a:rPr sz="2000">
                <a:latin typeface="Courier"/>
              </a:rPr>
              <a:t>dplyr::mutate</a:t>
            </a:r>
            <a:r>
              <a:rPr sz="2000"/>
              <a:t>) are usually faster and clearer than for-loops.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import &amp; export — file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will rarely build matrices/data frames by hand. Common ways to </a:t>
            </a:r>
            <a:r>
              <a:rPr b="1"/>
              <a:t>read</a:t>
            </a:r>
            <a:r>
              <a:rPr/>
              <a:t> data:</a:t>
            </a:r>
          </a:p>
          <a:p>
            <a:pPr lvl="0"/>
            <a:r>
              <a:rPr b="1"/>
              <a:t>Text</a:t>
            </a:r>
            <a:r>
              <a:rPr/>
              <a:t> — </a:t>
            </a:r>
            <a:r>
              <a:rPr>
                <a:latin typeface="Courier"/>
              </a:rPr>
              <a:t>.TXT</a:t>
            </a:r>
            <a:r>
              <a:rPr/>
              <a:t> (</a:t>
            </a:r>
            <a:r>
              <a:rPr>
                <a:latin typeface="Courier"/>
              </a:rPr>
              <a:t>readLines()</a:t>
            </a:r>
            <a:r>
              <a:rPr/>
              <a:t>)</a:t>
            </a:r>
          </a:p>
          <a:p>
            <a:pPr lvl="0"/>
            <a:r>
              <a:rPr b="1"/>
              <a:t>Tabular</a:t>
            </a:r>
            <a:r>
              <a:rPr/>
              <a:t> — </a:t>
            </a:r>
            <a:r>
              <a:rPr>
                <a:latin typeface="Courier"/>
              </a:rPr>
              <a:t>.CSV</a:t>
            </a:r>
            <a:r>
              <a:rPr/>
              <a:t>, </a:t>
            </a:r>
            <a:r>
              <a:rPr>
                <a:latin typeface="Courier"/>
              </a:rPr>
              <a:t>.TSV</a:t>
            </a:r>
            <a:r>
              <a:rPr/>
              <a:t> (</a:t>
            </a:r>
            <a:r>
              <a:rPr>
                <a:latin typeface="Courier"/>
              </a:rPr>
              <a:t>read.table()</a:t>
            </a:r>
            <a:r>
              <a:rPr/>
              <a:t>, </a:t>
            </a:r>
            <a:r>
              <a:rPr>
                <a:latin typeface="Courier"/>
              </a:rPr>
              <a:t>readr::read_csv()</a:t>
            </a:r>
            <a:r>
              <a:rPr/>
              <a:t>)</a:t>
            </a:r>
          </a:p>
          <a:p>
            <a:pPr lvl="0"/>
            <a:r>
              <a:rPr b="1"/>
              <a:t>Excel</a:t>
            </a:r>
            <a:r>
              <a:rPr/>
              <a:t> — </a:t>
            </a:r>
            <a:r>
              <a:rPr>
                <a:latin typeface="Courier"/>
              </a:rPr>
              <a:t>.XLSX</a:t>
            </a:r>
            <a:r>
              <a:rPr/>
              <a:t> (</a:t>
            </a:r>
            <a:r>
              <a:rPr>
                <a:latin typeface="Courier"/>
              </a:rPr>
              <a:t>xlsx</a:t>
            </a:r>
            <a:r>
              <a:rPr/>
              <a:t>, </a:t>
            </a:r>
            <a:r>
              <a:rPr>
                <a:latin typeface="Courier"/>
              </a:rPr>
              <a:t>readxl</a:t>
            </a:r>
            <a:r>
              <a:rPr/>
              <a:t>)</a:t>
            </a:r>
          </a:p>
          <a:p>
            <a:pPr lvl="0"/>
            <a:r>
              <a:rPr b="1"/>
              <a:t>Google sheets</a:t>
            </a:r>
            <a:r>
              <a:rPr/>
              <a:t> — </a:t>
            </a:r>
            <a:r>
              <a:rPr>
                <a:latin typeface="Courier"/>
              </a:rPr>
              <a:t>googlesheets4</a:t>
            </a:r>
          </a:p>
          <a:p>
            <a:pPr lvl="0"/>
            <a:r>
              <a:rPr b="1"/>
              <a:t>Statistics programs</a:t>
            </a:r>
            <a:r>
              <a:rPr/>
              <a:t> — SPSS, SAS (</a:t>
            </a:r>
            <a:r>
              <a:rPr>
                <a:latin typeface="Courier"/>
              </a:rPr>
              <a:t>haven</a:t>
            </a:r>
            <a:r>
              <a:rPr/>
              <a:t>)</a:t>
            </a:r>
          </a:p>
          <a:p>
            <a:pPr lvl="0"/>
            <a:r>
              <a:rPr b="1"/>
              <a:t>Databases</a:t>
            </a:r>
            <a:r>
              <a:rPr/>
              <a:t> — MySQL (</a:t>
            </a:r>
            <a:r>
              <a:rPr>
                <a:latin typeface="Courier"/>
              </a:rPr>
              <a:t>RMySQL</a:t>
            </a:r>
            <a:r>
              <a:rPr/>
              <a:t>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import &amp; export —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Import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CSV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objectname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"your_file.csv"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header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Tab-delimited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objectname &lt;- </a:t>
            </a:r>
            <a:r>
              <a:rPr>
                <a:solidFill>
                  <a:srgbClr val="4758AB"/>
                </a:solidFill>
                <a:latin typeface="Courier"/>
              </a:rPr>
              <a:t>read.table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"your_file.txt"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\t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header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Excel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objectname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"your_file.xlsx"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RDS (R single-object binary)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objectname &lt;- </a:t>
            </a:r>
            <a:r>
              <a:rPr>
                <a:solidFill>
                  <a:srgbClr val="4758AB"/>
                </a:solidFill>
                <a:latin typeface="Courier"/>
              </a:rPr>
              <a:t>readRDS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"your_file.rds"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Export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CSV</a:t>
            </a:r>
            <a:br/>
            <a:r>
              <a:rPr>
                <a:solidFill>
                  <a:srgbClr val="4758AB"/>
                </a:solidFill>
                <a:latin typeface="Courier"/>
              </a:rPr>
              <a:t>write.csv</a:t>
            </a:r>
            <a:r>
              <a:rPr>
                <a:solidFill>
                  <a:srgbClr val="003B4F"/>
                </a:solidFill>
                <a:latin typeface="Courier"/>
              </a:rPr>
              <a:t>(objectname, </a:t>
            </a:r>
            <a:r>
              <a:rPr>
                <a:solidFill>
                  <a:srgbClr val="657422"/>
                </a:solidFill>
                <a:latin typeface="Courier"/>
              </a:rPr>
              <a:t>file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"output_file.csv"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row.names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Tab-delimited</a:t>
            </a:r>
            <a:br/>
            <a:r>
              <a:rPr>
                <a:solidFill>
                  <a:srgbClr val="4758AB"/>
                </a:solidFill>
                <a:latin typeface="Courier"/>
              </a:rPr>
              <a:t>write.table</a:t>
            </a:r>
            <a:r>
              <a:rPr>
                <a:solidFill>
                  <a:srgbClr val="003B4F"/>
                </a:solidFill>
                <a:latin typeface="Courier"/>
              </a:rPr>
              <a:t>(objectname, </a:t>
            </a:r>
            <a:r>
              <a:rPr>
                <a:solidFill>
                  <a:srgbClr val="657422"/>
                </a:solidFill>
                <a:latin typeface="Courier"/>
              </a:rPr>
              <a:t>file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"output_file.txt"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\t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row.names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Excel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(writexl)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write_xlsx</a:t>
            </a:r>
            <a:r>
              <a:rPr>
                <a:solidFill>
                  <a:srgbClr val="003B4F"/>
                </a:solidFill>
                <a:latin typeface="Courier"/>
              </a:rPr>
              <a:t>(objectname, </a:t>
            </a:r>
            <a:r>
              <a:rPr>
                <a:solidFill>
                  <a:srgbClr val="20794D"/>
                </a:solidFill>
                <a:latin typeface="Courier"/>
              </a:rPr>
              <a:t>"output_file.xlsx"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RDS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saveRDS</a:t>
            </a:r>
            <a:r>
              <a:rPr>
                <a:solidFill>
                  <a:srgbClr val="003B4F"/>
                </a:solidFill>
                <a:latin typeface="Courier"/>
              </a:rPr>
              <a:t>(objectname, </a:t>
            </a:r>
            <a:r>
              <a:rPr>
                <a:solidFill>
                  <a:srgbClr val="657422"/>
                </a:solidFill>
                <a:latin typeface="Courier"/>
              </a:rPr>
              <a:t>file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"output_file.rds"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Separators</a:t>
            </a:r>
          </a:p>
          <a:p>
            <a:pPr lvl="0" indent="0" marL="1270000">
              <a:buNone/>
            </a:pPr>
            <a:r>
              <a:rPr sz="2000"/>
              <a:t>The argument </a:t>
            </a:r>
            <a:r>
              <a:rPr sz="2000">
                <a:latin typeface="Courier"/>
              </a:rPr>
              <a:t>sep =</a:t>
            </a:r>
            <a:r>
              <a:rPr sz="2000"/>
              <a:t> may not be necessary — R recognises </a:t>
            </a:r>
            <a:r>
              <a:rPr sz="2000">
                <a:latin typeface="Courier"/>
              </a:rPr>
              <a:t>,</a:t>
            </a:r>
            <a:r>
              <a:rPr sz="2000"/>
              <a:t> in </a:t>
            </a:r>
            <a:r>
              <a:rPr sz="2000">
                <a:latin typeface="Courier"/>
              </a:rPr>
              <a:t>.csv</a:t>
            </a:r>
            <a:r>
              <a:rPr sz="2000"/>
              <a:t> and whitespace in </a:t>
            </a:r>
            <a:r>
              <a:rPr sz="2000">
                <a:latin typeface="Courier"/>
              </a:rPr>
              <a:t>.txt</a:t>
            </a:r>
            <a:r>
              <a:rPr sz="2000"/>
              <a:t>. But sometimes R won’t read correctly unless you specify it.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Saving your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Save every step in an </a:t>
            </a:r>
            <a:r>
              <a:rPr>
                <a:latin typeface="Courier"/>
              </a:rPr>
              <a:t>.R</a:t>
            </a:r>
            <a:r>
              <a:rPr/>
              <a:t> script. Comment lines start with </a:t>
            </a:r>
            <a:r>
              <a:rPr>
                <a:latin typeface="Courier"/>
              </a:rPr>
              <a:t>#</a:t>
            </a:r>
            <a:r>
              <a:rPr/>
              <a:t> and are ignored at run time.</a:t>
            </a:r>
          </a:p>
          <a:p>
            <a:pPr lvl="0" indent="-342900" marL="342900">
              <a:buAutoNum type="arabicPeriod"/>
            </a:pPr>
            <a:r>
              <a:rPr b="1"/>
              <a:t>File → Save</a:t>
            </a:r>
            <a:r>
              <a:rPr/>
              <a:t>, or click the disk icon, or </a:t>
            </a:r>
            <a:r>
              <a:rPr b="1"/>
              <a:t>Ctrl/Cmd + S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Unsaved scripts (or unsaved edits) show </a:t>
            </a:r>
            <a:r>
              <a:rPr b="1"/>
              <a:t>red text and an asterisk</a:t>
            </a:r>
            <a:r>
              <a:rPr/>
              <a:t> in the tab name.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an R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ways to close RStudio:</a:t>
            </a:r>
          </a:p>
          <a:p>
            <a:pPr lvl="0" indent="-342900" marL="342900">
              <a:buAutoNum type="arabicPeriod"/>
            </a:pPr>
            <a:r>
              <a:rPr b="1"/>
              <a:t>File → Quit Session</a:t>
            </a:r>
          </a:p>
          <a:p>
            <a:pPr lvl="0" indent="-342900" marL="342900">
              <a:buAutoNum type="arabicPeriod"/>
            </a:pPr>
            <a:r>
              <a:rPr/>
              <a:t>The red ✕ in the top-right corner.</a:t>
            </a:r>
          </a:p>
          <a:p>
            <a:pPr lvl="0" indent="-342900" marL="342900">
              <a:buAutoNum type="arabicPeriod"/>
            </a:pPr>
            <a:r>
              <a:rPr/>
              <a:t>Run </a:t>
            </a:r>
            <a:r>
              <a:rPr>
                <a:latin typeface="Courier"/>
              </a:rPr>
              <a:t>q()</a:t>
            </a:r>
            <a:r>
              <a:rPr/>
              <a:t> in the Console.</a:t>
            </a:r>
          </a:p>
          <a:p>
            <a:pPr lvl="0" indent="0" marL="1270000">
              <a:buNone/>
            </a:pPr>
            <a:r>
              <a:rPr sz="2000" b="1"/>
              <a:t>Don’t save the workspace image (.RData)</a:t>
            </a:r>
          </a:p>
          <a:p>
            <a:pPr lvl="0" indent="0" marL="1270000">
              <a:buNone/>
            </a:pPr>
            <a:r>
              <a:rPr sz="2000"/>
              <a:t>Unless (a) you ran something very expensive, or (b) you’re nearly done with the project. Starting clean each session avoids hidden state from previous runs.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1.4 Conclusion of Lecture 1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Topics covered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Basic R Functionality</a:t>
            </a:r>
          </a:p>
          <a:p>
            <a:pPr lvl="0"/>
            <a:r>
              <a:rPr/>
              <a:t>Variables &amp; Basic Operations</a:t>
            </a:r>
          </a:p>
          <a:p>
            <a:pPr lvl="0"/>
            <a:r>
              <a:rPr/>
              <a:t>Vectors</a:t>
            </a:r>
          </a:p>
          <a:p>
            <a:pPr lvl="0"/>
            <a:r>
              <a:rPr/>
              <a:t>Matrices</a:t>
            </a:r>
          </a:p>
          <a:p>
            <a:pPr lvl="0"/>
            <a:r>
              <a:rPr/>
              <a:t>Data Frames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Lists</a:t>
            </a:r>
          </a:p>
          <a:p>
            <a:pPr lvl="0"/>
            <a:r>
              <a:rPr/>
              <a:t>Functions</a:t>
            </a:r>
          </a:p>
          <a:p>
            <a:pPr lvl="0"/>
            <a:r>
              <a:rPr/>
              <a:t>Loops</a:t>
            </a:r>
          </a:p>
          <a:p>
            <a:pPr lvl="0"/>
            <a:r>
              <a:rPr/>
              <a:t>Data Import &amp; Export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James et al. (2021) — free PDF and exercises at </a:t>
            </a:r>
            <a:r>
              <a:rPr>
                <a:hlinkClick r:id="rId2"/>
              </a:rPr>
              <a:t>https://www.statlearning.com/</a:t>
            </a:r>
            <a:r>
              <a:rPr/>
              <a:t>.</a:t>
            </a:r>
          </a:p>
          <a:p>
            <a:pPr lvl="0"/>
            <a:r>
              <a:rPr/>
              <a:t>Scheuch, Voigt, and Weiss (2023) — finance-specific tidyverse cookbook, free at </a:t>
            </a:r>
            <a:r>
              <a:rPr>
                <a:hlinkClick r:id="rId3"/>
              </a:rPr>
              <a:t>https://www.tidy-finance.org/r/</a:t>
            </a:r>
            <a:r>
              <a:rPr/>
              <a:t>.</a:t>
            </a:r>
          </a:p>
          <a:p>
            <a:pPr lvl="0"/>
            <a:r>
              <a:rPr/>
              <a:t>Wickham and Çetinkaya-Rundel (2023) — second edition, free at </a:t>
            </a:r>
            <a:r>
              <a:rPr>
                <a:hlinkClick r:id="rId4"/>
              </a:rPr>
              <a:t>https://r4ds.hadley.nz/</a:t>
            </a:r>
            <a:r>
              <a:rPr/>
              <a:t>.</a:t>
            </a:r>
          </a:p>
          <a:p>
            <a:pPr lvl="0"/>
            <a:r>
              <a:rPr/>
              <a:t>Kaggle Discussions (2021) — community-curated list of additional free R books.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Prepare before next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Document today’s code</a:t>
            </a:r>
            <a:r>
              <a:rPr/>
              <a:t> in a clean way and save as </a:t>
            </a:r>
            <a:r>
              <a:rPr>
                <a:latin typeface="Courier"/>
              </a:rPr>
              <a:t>.Rmd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Set up the Nasdaq Data Link API:</a:t>
            </a:r>
          </a:p>
          <a:p>
            <a:pPr lvl="1" indent="-342900" marL="685800">
              <a:buAutoNum type="arabicPeriod"/>
            </a:pPr>
            <a:r>
              <a:rPr/>
              <a:t>Register a free account at </a:t>
            </a:r>
            <a:r>
              <a:rPr>
                <a:hlinkClick r:id="rId2"/>
              </a:rPr>
              <a:t>https://data.nasdaq.com/</a:t>
            </a:r>
            <a:r>
              <a:rPr/>
              <a:t> (formerly Quandl).</a:t>
            </a:r>
          </a:p>
          <a:p>
            <a:pPr lvl="1" indent="-342900" marL="685800">
              <a:buAutoNum type="arabicPeriod"/>
            </a:pPr>
            <a:r>
              <a:rPr/>
              <a:t>Log in, go to your profile, </a:t>
            </a:r>
            <a:r>
              <a:rPr b="1"/>
              <a:t>copy your personal API key</a:t>
            </a:r>
            <a:r>
              <a:rPr/>
              <a:t>.</a:t>
            </a:r>
          </a:p>
          <a:p>
            <a:pPr lvl="1" indent="-342900" marL="685800">
              <a:buAutoNum type="arabicPeriod"/>
            </a:pPr>
            <a:r>
              <a:rPr i="1"/>
              <a:t>Optional challenge:</a:t>
            </a:r>
            <a:r>
              <a:rPr/>
              <a:t> load the </a:t>
            </a:r>
            <a:r>
              <a:rPr>
                <a:latin typeface="Courier"/>
              </a:rPr>
              <a:t>Quandl</a:t>
            </a:r>
            <a:r>
              <a:rPr/>
              <a:t> library, set your key with </a:t>
            </a:r>
            <a:r>
              <a:rPr>
                <a:latin typeface="Courier"/>
              </a:rPr>
              <a:t>Quandl.api_key("your_key_here")</a:t>
            </a:r>
            <a:r>
              <a:rPr/>
              <a:t>, and test loading data. We’ll walk through this in Lecture 2.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Reminder</a:t>
            </a:r>
          </a:p>
          <a:p>
            <a:pPr lvl="0"/>
            <a:r>
              <a:rPr sz="2000" b="1"/>
              <a:t>Register</a:t>
            </a:r>
            <a:r>
              <a:rPr sz="2000"/>
              <a:t> for “exam” 13337 in </a:t>
            </a:r>
            <a:r>
              <a:rPr sz="2000">
                <a:latin typeface="Courier"/>
              </a:rPr>
              <a:t>campusonline</a:t>
            </a:r>
            <a:r>
              <a:rPr sz="2000"/>
              <a:t> by </a:t>
            </a:r>
            <a:r>
              <a:rPr sz="2000" b="1"/>
              <a:t>30 November 2025</a:t>
            </a:r>
            <a:r>
              <a:rPr sz="2000"/>
              <a:t>.</a:t>
            </a:r>
          </a:p>
          <a:p>
            <a:pPr lvl="0"/>
            <a:r>
              <a:rPr sz="2000"/>
              <a:t>Bring your laptop with R + RStudio installed and the </a:t>
            </a:r>
            <a:r>
              <a:rPr sz="2000">
                <a:latin typeface="Courier"/>
              </a:rPr>
              <a:t>tidyverse</a:t>
            </a:r>
            <a:r>
              <a:rPr sz="2000"/>
              <a:t>, </a:t>
            </a:r>
            <a:r>
              <a:rPr sz="2000">
                <a:latin typeface="Courier"/>
              </a:rPr>
              <a:t>tidyquant</a:t>
            </a:r>
            <a:r>
              <a:rPr sz="2000"/>
              <a:t>, </a:t>
            </a:r>
            <a:r>
              <a:rPr sz="2000">
                <a:latin typeface="Courier"/>
              </a:rPr>
              <a:t>Quandl</a:t>
            </a:r>
            <a:r>
              <a:rPr sz="2000"/>
              <a:t> packages already loaded.</a:t>
            </a:r>
          </a:p>
          <a:p>
            <a:pPr lvl="0" indent="0" marL="1270000">
              <a:buNone/>
            </a:pPr>
            <a:r>
              <a:rPr sz="2000" b="1"/>
              <a:t>Lecture 2:</a:t>
            </a:r>
            <a:r>
              <a:rPr sz="2000"/>
              <a:t> R Data Handling and Visualization — APIs, merging, cleansing, </a:t>
            </a:r>
            <a:r>
              <a:rPr sz="2000">
                <a:latin typeface="Courier"/>
              </a:rPr>
              <a:t>dplyr</a:t>
            </a:r>
            <a:r>
              <a:rPr sz="2000"/>
              <a:t>, </a:t>
            </a:r>
            <a:r>
              <a:rPr sz="2000">
                <a:latin typeface="Courier"/>
              </a:rPr>
              <a:t>ggplot2</a:t>
            </a:r>
            <a:r>
              <a:rPr sz="2000"/>
              <a:t>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James, Gareth, Daniela Witten, Trevor Hastie, and Robert Tibshirani. 2021. </a:t>
            </a:r>
            <a:r>
              <a:rPr i="1"/>
              <a:t>An Introduction to Statistical Learning with Applications in R</a:t>
            </a:r>
            <a:r>
              <a:rPr/>
              <a:t>. 2nd ed. New York, NY: Springer. </a:t>
            </a:r>
            <a:r>
              <a:rPr>
                <a:hlinkClick r:id="rId2"/>
              </a:rPr>
              <a:t>https://www.statlearning.com/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Kaggle Discussions. 2021. “List of Free R Books.” </a:t>
            </a:r>
            <a:r>
              <a:rPr>
                <a:hlinkClick r:id="rId3"/>
              </a:rPr>
              <a:t>https://www.kaggle.com/discussions/general/274029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Scheuch, Christoph, Stefan Voigt, and Patrick Weiss. 2023. </a:t>
            </a:r>
            <a:r>
              <a:rPr i="1"/>
              <a:t>Tidy Finance with R</a:t>
            </a:r>
            <a:r>
              <a:rPr/>
              <a:t>. Chapman &amp; Hall/CRC. </a:t>
            </a:r>
            <a:r>
              <a:rPr>
                <a:hlinkClick r:id="rId4"/>
              </a:rPr>
              <a:t>https://www.tidy-finance.org/r/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Wickham, Hadley, and Mine Çetinkaya-Rundel. 2023. </a:t>
            </a:r>
            <a:r>
              <a:rPr i="1"/>
              <a:t>R for Data Science</a:t>
            </a:r>
            <a:r>
              <a:rPr/>
              <a:t>. 2nd ed. O’Reilly. </a:t>
            </a:r>
            <a:r>
              <a:rPr>
                <a:hlinkClick r:id="rId5"/>
              </a:rPr>
              <a:t>https://r4ds.hadley.nz/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Basics</dc:title>
  <dc:creator>Prof. Dr. Andre Guettler; Oliver Padmaperuma</dc:creator>
  <cp:keywords/>
  <dcterms:created xsi:type="dcterms:W3CDTF">2026-04-30T08:32:29Z</dcterms:created>
  <dcterms:modified xsi:type="dcterms:W3CDTF">2026-04-30T08:32:29Z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ssignment-1-problem-set-deadline">
    <vt:lpwstr>19 January 2026</vt:lpwstr>
  </property>
  <property fmtid="{D5CDD505-2E9C-101B-9397-08002B2CF9AE}" pid="4" name="assignment-1-problem-set-deadline-iso">
    <vt:lpwstr>2026-01-19</vt:lpwstr>
  </property>
  <property fmtid="{D5CDD505-2E9C-101B-9397-08002B2CF9AE}" pid="5" name="assignment-1-problem-set-weight">
    <vt:lpwstr>50</vt:lpwstr>
  </property>
  <property fmtid="{D5CDD505-2E9C-101B-9397-08002B2CF9AE}" pid="6" name="assignment-2-referee-report-deadline">
    <vt:lpwstr>3 February 2026</vt:lpwstr>
  </property>
  <property fmtid="{D5CDD505-2E9C-101B-9397-08002B2CF9AE}" pid="7" name="assignment-2-referee-report-deadline-iso">
    <vt:lpwstr>2026-02-03</vt:lpwstr>
  </property>
  <property fmtid="{D5CDD505-2E9C-101B-9397-08002B2CF9AE}" pid="8" name="assignment-2-referee-report-weight">
    <vt:lpwstr>50</vt:lpwstr>
  </property>
  <property fmtid="{D5CDD505-2E9C-101B-9397-08002B2CF9AE}" pid="9" name="authors">
    <vt:lpwstr/>
  </property>
  <property fmtid="{D5CDD505-2E9C-101B-9397-08002B2CF9AE}" pid="10" name="biblio-config">
    <vt:lpwstr>True</vt:lpwstr>
  </property>
  <property fmtid="{D5CDD505-2E9C-101B-9397-08002B2CF9AE}" pid="11" name="bibliography">
    <vt:lpwstr/>
  </property>
  <property fmtid="{D5CDD505-2E9C-101B-9397-08002B2CF9AE}" pid="12" name="by-affiliation">
    <vt:lpwstr/>
  </property>
  <property fmtid="{D5CDD505-2E9C-101B-9397-08002B2CF9AE}" pid="13" name="by-author">
    <vt:lpwstr/>
  </property>
  <property fmtid="{D5CDD505-2E9C-101B-9397-08002B2CF9AE}" pid="14" name="course">
    <vt:lpwstr/>
  </property>
  <property fmtid="{D5CDD505-2E9C-101B-9397-08002B2CF9AE}" pid="15" name="date">
    <vt:lpwstr>2025-10-29</vt:lpwstr>
  </property>
  <property fmtid="{D5CDD505-2E9C-101B-9397-08002B2CF9AE}" pid="16" name="default-time">
    <vt:lpwstr>Wednesdays 14:15–15:45</vt:lpwstr>
  </property>
  <property fmtid="{D5CDD505-2E9C-101B-9397-08002B2CF9AE}" pid="17" name="default-venue">
    <vt:lpwstr>Helmholtzstraße 22, Ulm</vt:lpwstr>
  </property>
  <property fmtid="{D5CDD505-2E9C-101B-9397-08002B2CF9AE}" pid="18" name="exam-id">
    <vt:lpwstr>13337</vt:lpwstr>
  </property>
  <property fmtid="{D5CDD505-2E9C-101B-9397-08002B2CF9AE}" pid="19" name="header-includes">
    <vt:lpwstr/>
  </property>
  <property fmtid="{D5CDD505-2E9C-101B-9397-08002B2CF9AE}" pid="20" name="include-after">
    <vt:lpwstr/>
  </property>
  <property fmtid="{D5CDD505-2E9C-101B-9397-08002B2CF9AE}" pid="21" name="include-before">
    <vt:lpwstr/>
  </property>
  <property fmtid="{D5CDD505-2E9C-101B-9397-08002B2CF9AE}" pid="22" name="labels">
    <vt:lpwstr/>
  </property>
  <property fmtid="{D5CDD505-2E9C-101B-9397-08002B2CF9AE}" pid="23" name="lecture-01-basics-date">
    <vt:lpwstr>29 October 2025</vt:lpwstr>
  </property>
  <property fmtid="{D5CDD505-2E9C-101B-9397-08002B2CF9AE}" pid="24" name="lecture-01-basics-date-iso">
    <vt:lpwstr>2025-10-29</vt:lpwstr>
  </property>
  <property fmtid="{D5CDD505-2E9C-101B-9397-08002B2CF9AE}" pid="25" name="lecture-01-basics-date-short">
    <vt:lpwstr>29.10.2025</vt:lpwstr>
  </property>
  <property fmtid="{D5CDD505-2E9C-101B-9397-08002B2CF9AE}" pid="26" name="lecture-01-basics-week">
    <vt:lpwstr>1</vt:lpwstr>
  </property>
  <property fmtid="{D5CDD505-2E9C-101B-9397-08002B2CF9AE}" pid="27" name="lecture-02-data-handling-date">
    <vt:lpwstr>5 November 2025</vt:lpwstr>
  </property>
  <property fmtid="{D5CDD505-2E9C-101B-9397-08002B2CF9AE}" pid="28" name="lecture-02-data-handling-date-iso">
    <vt:lpwstr>2025-11-05</vt:lpwstr>
  </property>
  <property fmtid="{D5CDD505-2E9C-101B-9397-08002B2CF9AE}" pid="29" name="lecture-02-data-handling-date-short">
    <vt:lpwstr>05.11.2025</vt:lpwstr>
  </property>
  <property fmtid="{D5CDD505-2E9C-101B-9397-08002B2CF9AE}" pid="30" name="lecture-02-data-handling-week">
    <vt:lpwstr>2</vt:lpwstr>
  </property>
  <property fmtid="{D5CDD505-2E9C-101B-9397-08002B2CF9AE}" pid="31" name="lecture-03-statistical-analysis-date">
    <vt:lpwstr>12 November 2025</vt:lpwstr>
  </property>
  <property fmtid="{D5CDD505-2E9C-101B-9397-08002B2CF9AE}" pid="32" name="lecture-03-statistical-analysis-date-iso">
    <vt:lpwstr>2025-11-12</vt:lpwstr>
  </property>
  <property fmtid="{D5CDD505-2E9C-101B-9397-08002B2CF9AE}" pid="33" name="lecture-03-statistical-analysis-date-short">
    <vt:lpwstr>12.11.2025</vt:lpwstr>
  </property>
  <property fmtid="{D5CDD505-2E9C-101B-9397-08002B2CF9AE}" pid="34" name="lecture-03-statistical-analysis-week">
    <vt:lpwstr>3</vt:lpwstr>
  </property>
  <property fmtid="{D5CDD505-2E9C-101B-9397-08002B2CF9AE}" pid="35" name="lecture-04-academic-publishing-date">
    <vt:lpwstr>19 November 2025</vt:lpwstr>
  </property>
  <property fmtid="{D5CDD505-2E9C-101B-9397-08002B2CF9AE}" pid="36" name="lecture-04-academic-publishing-date-iso">
    <vt:lpwstr>2025-11-19</vt:lpwstr>
  </property>
  <property fmtid="{D5CDD505-2E9C-101B-9397-08002B2CF9AE}" pid="37" name="lecture-04-academic-publishing-date-short">
    <vt:lpwstr>19.11.2025</vt:lpwstr>
  </property>
  <property fmtid="{D5CDD505-2E9C-101B-9397-08002B2CF9AE}" pid="38" name="lecture-04-academic-publishing-week">
    <vt:lpwstr>4</vt:lpwstr>
  </property>
  <property fmtid="{D5CDD505-2E9C-101B-9397-08002B2CF9AE}" pid="39" name="lecture-05-brown-bag-seminar-date">
    <vt:lpwstr>20 January 2026</vt:lpwstr>
  </property>
  <property fmtid="{D5CDD505-2E9C-101B-9397-08002B2CF9AE}" pid="40" name="lecture-05-brown-bag-seminar-date-iso">
    <vt:lpwstr>2026-01-20</vt:lpwstr>
  </property>
  <property fmtid="{D5CDD505-2E9C-101B-9397-08002B2CF9AE}" pid="41" name="lecture-05-brown-bag-seminar-date-short">
    <vt:lpwstr>20.01.2026</vt:lpwstr>
  </property>
  <property fmtid="{D5CDD505-2E9C-101B-9397-08002B2CF9AE}" pid="42" name="lecture-05-brown-bag-seminar-time">
    <vt:lpwstr>13:30–16:00</vt:lpwstr>
  </property>
  <property fmtid="{D5CDD505-2E9C-101B-9397-08002B2CF9AE}" pid="43" name="lecture-05-brown-bag-seminar-venue">
    <vt:lpwstr>Helmholtzstraße 22, Ulm — Brown Bag room (TBA)</vt:lpwstr>
  </property>
  <property fmtid="{D5CDD505-2E9C-101B-9397-08002B2CF9AE}" pid="44" name="lecture-05-brown-bag-seminar-week">
    <vt:lpwstr>13</vt:lpwstr>
  </property>
  <property fmtid="{D5CDD505-2E9C-101B-9397-08002B2CF9AE}" pid="45" name="registration-deadline">
    <vt:lpwstr>30 November 2025</vt:lpwstr>
  </property>
  <property fmtid="{D5CDD505-2E9C-101B-9397-08002B2CF9AE}" pid="46" name="registration-deadline-iso">
    <vt:lpwstr>2025-11-30</vt:lpwstr>
  </property>
  <property fmtid="{D5CDD505-2E9C-101B-9397-08002B2CF9AE}" pid="47" name="registration-system">
    <vt:lpwstr>campusonline</vt:lpwstr>
  </property>
  <property fmtid="{D5CDD505-2E9C-101B-9397-08002B2CF9AE}" pid="48" name="semester">
    <vt:lpwstr>Winter 2025/2026</vt:lpwstr>
  </property>
  <property fmtid="{D5CDD505-2E9C-101B-9397-08002B2CF9AE}" pid="49" name="solutions">
    <vt:lpwstr>False</vt:lpwstr>
  </property>
  <property fmtid="{D5CDD505-2E9C-101B-9397-08002B2CF9AE}" pid="50" name="subtitle">
    <vt:lpwstr>Course objectives, schedule, assignments · Introduction to R · Live coding</vt:lpwstr>
  </property>
  <property fmtid="{D5CDD505-2E9C-101B-9397-08002B2CF9AE}" pid="51" name="time">
    <vt:lpwstr>Wednesdays 14:15–15:45</vt:lpwstr>
  </property>
  <property fmtid="{D5CDD505-2E9C-101B-9397-08002B2CF9AE}" pid="52" name="toc-title">
    <vt:lpwstr>Table of contents</vt:lpwstr>
  </property>
  <property fmtid="{D5CDD505-2E9C-101B-9397-08002B2CF9AE}" pid="53" name="topics">
    <vt:lpwstr/>
  </property>
  <property fmtid="{D5CDD505-2E9C-101B-9397-08002B2CF9AE}" pid="54" name="venue">
    <vt:lpwstr>Helmholtzstraße 22, Ulm</vt:lpwstr>
  </property>
  <property fmtid="{D5CDD505-2E9C-101B-9397-08002B2CF9AE}" pid="55" name="week">
    <vt:lpwstr>1</vt:lpwstr>
  </property>
</Properties>
</file>