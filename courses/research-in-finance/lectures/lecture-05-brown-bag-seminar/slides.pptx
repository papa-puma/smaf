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" Type="http://schemas.openxmlformats.org/officeDocument/2006/relationships/slideMaster" Target="slideMasters/slideMaster1.xml" /><Relationship Id="rId9" Type="http://schemas.openxmlformats.org/officeDocument/2006/relationships/printerSettings" Target="printerSettings/printerSettings1.bin" /><Relationship Id="rId10" Type="http://schemas.openxmlformats.org/officeDocument/2006/relationships/presProps" Target="presProps.xml" /><Relationship Id="rId11" Type="http://schemas.openxmlformats.org/officeDocument/2006/relationships/viewProps" Target="viewProps.xml" /><Relationship Id="rId12" Type="http://schemas.openxmlformats.org/officeDocument/2006/relationships/theme" Target="theme/theme1.xml" /><Relationship Id="rId13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111111"/>
                </a:solidFill>
              </a:defRPr>
            </a:lvl1pPr>
            <a:lvl2pPr marL="457200" indent="0" algn="ctr">
              <a:buNone/>
              <a:defRPr>
                <a:solidFill>
                  <a:srgbClr val="111111"/>
                </a:solidFill>
              </a:defRPr>
            </a:lvl2pPr>
            <a:lvl3pPr marL="914400" indent="0" algn="ctr">
              <a:buNone/>
              <a:defRPr>
                <a:solidFill>
                  <a:srgbClr val="111111"/>
                </a:solidFill>
              </a:defRPr>
            </a:lvl3pPr>
            <a:lvl4pPr marL="1371600" indent="0" algn="ctr">
              <a:buNone/>
              <a:defRPr>
                <a:solidFill>
                  <a:srgbClr val="111111"/>
                </a:solidFill>
              </a:defRPr>
            </a:lvl4pPr>
            <a:lvl5pPr marL="1828800" indent="0" algn="ctr">
              <a:buNone/>
              <a:defRPr>
                <a:solidFill>
                  <a:srgbClr val="111111"/>
                </a:solidFill>
              </a:defRPr>
            </a:lvl5pPr>
            <a:lvl6pPr marL="2286000" indent="0" algn="ctr">
              <a:buNone/>
              <a:defRPr>
                <a:solidFill>
                  <a:srgbClr val="111111"/>
                </a:solidFill>
              </a:defRPr>
            </a:lvl6pPr>
            <a:lvl7pPr marL="2743200" indent="0" algn="ctr">
              <a:buNone/>
              <a:defRPr>
                <a:solidFill>
                  <a:srgbClr val="111111"/>
                </a:solidFill>
              </a:defRPr>
            </a:lvl7pPr>
            <a:lvl8pPr marL="3200400" indent="0" algn="ctr">
              <a:buNone/>
              <a:defRPr>
                <a:solidFill>
                  <a:srgbClr val="111111"/>
                </a:solidFill>
              </a:defRPr>
            </a:lvl8pPr>
            <a:lvl9pPr marL="3657600" indent="0" algn="ctr">
              <a:buNone/>
              <a:defRPr>
                <a:solidFill>
                  <a:srgbClr val="111111"/>
                </a:solidFill>
              </a:defRPr>
            </a:lvl9pPr>
          </a:lstStyle>
          <a:p>
            <a:r>
              <a:rPr lang="en-US" smtClean="0">
                <a:solidFill>
                  <a:srgbClr val="111111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111111"/>
                </a:solidFill>
              </a:defRPr>
            </a:lvl1pPr>
            <a:lvl2pPr marL="457200" indent="0">
              <a:buNone/>
              <a:defRPr sz="1800">
                <a:solidFill>
                  <a:srgbClr val="111111"/>
                </a:solidFill>
              </a:defRPr>
            </a:lvl2pPr>
            <a:lvl3pPr marL="914400" indent="0">
              <a:buNone/>
              <a:defRPr sz="1600">
                <a:solidFill>
                  <a:srgbClr val="111111"/>
                </a:solidFill>
              </a:defRPr>
            </a:lvl3pPr>
            <a:lvl4pPr marL="1371600" indent="0">
              <a:buNone/>
              <a:defRPr sz="1400">
                <a:solidFill>
                  <a:srgbClr val="111111"/>
                </a:solidFill>
              </a:defRPr>
            </a:lvl4pPr>
            <a:lvl5pPr marL="1828800" indent="0">
              <a:buNone/>
              <a:defRPr sz="1400">
                <a:solidFill>
                  <a:srgbClr val="111111"/>
                </a:solidFill>
              </a:defRPr>
            </a:lvl5pPr>
            <a:lvl6pPr marL="2286000" indent="0">
              <a:buNone/>
              <a:defRPr sz="1400">
                <a:solidFill>
                  <a:srgbClr val="111111"/>
                </a:solidFill>
              </a:defRPr>
            </a:lvl6pPr>
            <a:lvl7pPr marL="2743200" indent="0">
              <a:buNone/>
              <a:defRPr sz="1400">
                <a:solidFill>
                  <a:srgbClr val="111111"/>
                </a:solidFill>
              </a:defRPr>
            </a:lvl7pPr>
            <a:lvl8pPr marL="3200400" indent="0">
              <a:buNone/>
              <a:defRPr sz="1400">
                <a:solidFill>
                  <a:srgbClr val="111111"/>
                </a:solidFill>
              </a:defRPr>
            </a:lvl8pPr>
            <a:lvl9pPr marL="3657600" indent="0">
              <a:buNone/>
              <a:defRPr sz="14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111111"/>
                </a:solidFill>
              </a:defRPr>
            </a:lvl1pPr>
            <a:lvl2pPr>
              <a:defRPr sz="2400">
                <a:solidFill>
                  <a:srgbClr val="111111"/>
                </a:solidFill>
              </a:defRPr>
            </a:lvl2pPr>
            <a:lvl3pPr>
              <a:defRPr sz="2000">
                <a:solidFill>
                  <a:srgbClr val="111111"/>
                </a:solidFill>
              </a:defRPr>
            </a:lvl3pPr>
            <a:lvl4pPr>
              <a:defRPr sz="1800">
                <a:solidFill>
                  <a:srgbClr val="111111"/>
                </a:solidFill>
              </a:defRPr>
            </a:lvl4pPr>
            <a:lvl5pPr>
              <a:defRPr sz="1800">
                <a:solidFill>
                  <a:srgbClr val="111111"/>
                </a:solidFill>
              </a:defRPr>
            </a:lvl5pPr>
            <a:lvl6pPr>
              <a:defRPr sz="1800">
                <a:solidFill>
                  <a:srgbClr val="111111"/>
                </a:solidFill>
              </a:defRPr>
            </a:lvl6pPr>
            <a:lvl7pPr>
              <a:defRPr sz="1800">
                <a:solidFill>
                  <a:srgbClr val="111111"/>
                </a:solidFill>
              </a:defRPr>
            </a:lvl7pPr>
            <a:lvl8pPr>
              <a:defRPr sz="1800">
                <a:solidFill>
                  <a:srgbClr val="111111"/>
                </a:solidFill>
              </a:defRPr>
            </a:lvl8pPr>
            <a:lvl9pPr>
              <a:defRPr sz="18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111111"/>
                </a:solidFill>
              </a:defRPr>
            </a:lvl1pPr>
            <a:lvl2pPr marL="457200" indent="0">
              <a:buNone/>
              <a:defRPr sz="2000" b="1">
                <a:solidFill>
                  <a:srgbClr val="111111"/>
                </a:solidFill>
              </a:defRPr>
            </a:lvl2pPr>
            <a:lvl3pPr marL="914400" indent="0">
              <a:buNone/>
              <a:defRPr sz="1800" b="1">
                <a:solidFill>
                  <a:srgbClr val="111111"/>
                </a:solidFill>
              </a:defRPr>
            </a:lvl3pPr>
            <a:lvl4pPr marL="1371600" indent="0">
              <a:buNone/>
              <a:defRPr sz="1600" b="1">
                <a:solidFill>
                  <a:srgbClr val="111111"/>
                </a:solidFill>
              </a:defRPr>
            </a:lvl4pPr>
            <a:lvl5pPr marL="1828800" indent="0">
              <a:buNone/>
              <a:defRPr sz="1600" b="1">
                <a:solidFill>
                  <a:srgbClr val="111111"/>
                </a:solidFill>
              </a:defRPr>
            </a:lvl5pPr>
            <a:lvl6pPr marL="2286000" indent="0">
              <a:buNone/>
              <a:defRPr sz="1600" b="1">
                <a:solidFill>
                  <a:srgbClr val="111111"/>
                </a:solidFill>
              </a:defRPr>
            </a:lvl6pPr>
            <a:lvl7pPr marL="2743200" indent="0">
              <a:buNone/>
              <a:defRPr sz="1600" b="1">
                <a:solidFill>
                  <a:srgbClr val="111111"/>
                </a:solidFill>
              </a:defRPr>
            </a:lvl7pPr>
            <a:lvl8pPr marL="3200400" indent="0">
              <a:buNone/>
              <a:defRPr sz="1600" b="1">
                <a:solidFill>
                  <a:srgbClr val="111111"/>
                </a:solidFill>
              </a:defRPr>
            </a:lvl8pPr>
            <a:lvl9pPr marL="3657600" indent="0">
              <a:buNone/>
              <a:defRPr sz="1600" b="1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111111"/>
                </a:solidFill>
              </a:defRPr>
            </a:lvl1pPr>
            <a:lvl2pPr>
              <a:defRPr sz="2000">
                <a:solidFill>
                  <a:srgbClr val="111111"/>
                </a:solidFill>
              </a:defRPr>
            </a:lvl2pPr>
            <a:lvl3pPr>
              <a:defRPr sz="1800">
                <a:solidFill>
                  <a:srgbClr val="111111"/>
                </a:solidFill>
              </a:defRPr>
            </a:lvl3pPr>
            <a:lvl4pPr>
              <a:defRPr sz="1600">
                <a:solidFill>
                  <a:srgbClr val="111111"/>
                </a:solidFill>
              </a:defRPr>
            </a:lvl4pPr>
            <a:lvl5pPr>
              <a:defRPr sz="1600">
                <a:solidFill>
                  <a:srgbClr val="111111"/>
                </a:solidFill>
              </a:defRPr>
            </a:lvl5pPr>
            <a:lvl6pPr>
              <a:defRPr sz="1600">
                <a:solidFill>
                  <a:srgbClr val="111111"/>
                </a:solidFill>
              </a:defRPr>
            </a:lvl6pPr>
            <a:lvl7pPr>
              <a:defRPr sz="1600">
                <a:solidFill>
                  <a:srgbClr val="111111"/>
                </a:solidFill>
              </a:defRPr>
            </a:lvl7pPr>
            <a:lvl8pPr>
              <a:defRPr sz="1600">
                <a:solidFill>
                  <a:srgbClr val="111111"/>
                </a:solidFill>
              </a:defRPr>
            </a:lvl8pPr>
            <a:lvl9pPr>
              <a:defRPr sz="16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solidFill>
                  <a:srgbClr val="111111"/>
                </a:solidFill>
              </a:defRPr>
            </a:lvl1pPr>
            <a:lvl2pPr>
              <a:defRPr sz="2800">
                <a:solidFill>
                  <a:srgbClr val="111111"/>
                </a:solidFill>
              </a:defRPr>
            </a:lvl2pPr>
            <a:lvl3pPr>
              <a:defRPr sz="2400">
                <a:solidFill>
                  <a:srgbClr val="111111"/>
                </a:solidFill>
              </a:defRPr>
            </a:lvl3pPr>
            <a:lvl4pPr>
              <a:defRPr sz="2000">
                <a:solidFill>
                  <a:srgbClr val="111111"/>
                </a:solidFill>
              </a:defRPr>
            </a:lvl4pPr>
            <a:lvl5pPr>
              <a:defRPr sz="2000">
                <a:solidFill>
                  <a:srgbClr val="111111"/>
                </a:solidFill>
              </a:defRPr>
            </a:lvl5pPr>
            <a:lvl6pPr>
              <a:defRPr sz="2000">
                <a:solidFill>
                  <a:srgbClr val="111111"/>
                </a:solidFill>
              </a:defRPr>
            </a:lvl6pPr>
            <a:lvl7pPr>
              <a:defRPr sz="2000">
                <a:solidFill>
                  <a:srgbClr val="111111"/>
                </a:solidFill>
              </a:defRPr>
            </a:lvl7pPr>
            <a:lvl8pPr>
              <a:defRPr sz="2000">
                <a:solidFill>
                  <a:srgbClr val="111111"/>
                </a:solidFill>
              </a:defRPr>
            </a:lvl8pPr>
            <a:lvl9pPr>
              <a:defRPr sz="20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111111"/>
                </a:solidFill>
              </a:defRPr>
            </a:lvl1pPr>
          </a:lstStyle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rgbClr val="111111"/>
                </a:solidFill>
              </a:defRPr>
            </a:lvl1pPr>
            <a:lvl2pPr marL="457200" indent="0">
              <a:buNone/>
              <a:defRPr sz="2800">
                <a:solidFill>
                  <a:srgbClr val="111111"/>
                </a:solidFill>
              </a:defRPr>
            </a:lvl2pPr>
            <a:lvl3pPr marL="914400" indent="0">
              <a:buNone/>
              <a:defRPr sz="2400">
                <a:solidFill>
                  <a:srgbClr val="111111"/>
                </a:solidFill>
              </a:defRPr>
            </a:lvl3pPr>
            <a:lvl4pPr marL="1371600" indent="0">
              <a:buNone/>
              <a:defRPr sz="2000">
                <a:solidFill>
                  <a:srgbClr val="111111"/>
                </a:solidFill>
              </a:defRPr>
            </a:lvl4pPr>
            <a:lvl5pPr marL="1828800" indent="0">
              <a:buNone/>
              <a:defRPr sz="2000">
                <a:solidFill>
                  <a:srgbClr val="111111"/>
                </a:solidFill>
              </a:defRPr>
            </a:lvl5pPr>
            <a:lvl6pPr marL="2286000" indent="0">
              <a:buNone/>
              <a:defRPr sz="2000">
                <a:solidFill>
                  <a:srgbClr val="111111"/>
                </a:solidFill>
              </a:defRPr>
            </a:lvl6pPr>
            <a:lvl7pPr marL="2743200" indent="0">
              <a:buNone/>
              <a:defRPr sz="2000">
                <a:solidFill>
                  <a:srgbClr val="111111"/>
                </a:solidFill>
              </a:defRPr>
            </a:lvl7pPr>
            <a:lvl8pPr marL="3200400" indent="0">
              <a:buNone/>
              <a:defRPr sz="2000">
                <a:solidFill>
                  <a:srgbClr val="111111"/>
                </a:solidFill>
              </a:defRPr>
            </a:lvl8pPr>
            <a:lvl9pPr marL="3657600" indent="0">
              <a:buNone/>
              <a:defRPr sz="2000">
                <a:solidFill>
                  <a:srgbClr val="111111"/>
                </a:solidFill>
              </a:defRPr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111111"/>
                </a:solidFill>
              </a:defRPr>
            </a:lvl1pPr>
            <a:lvl2pPr marL="457200" indent="0">
              <a:buNone/>
              <a:defRPr sz="1200">
                <a:solidFill>
                  <a:srgbClr val="111111"/>
                </a:solidFill>
              </a:defRPr>
            </a:lvl2pPr>
            <a:lvl3pPr marL="914400" indent="0">
              <a:buNone/>
              <a:defRPr sz="1000">
                <a:solidFill>
                  <a:srgbClr val="111111"/>
                </a:solidFill>
              </a:defRPr>
            </a:lvl3pPr>
            <a:lvl4pPr marL="1371600" indent="0">
              <a:buNone/>
              <a:defRPr sz="900">
                <a:solidFill>
                  <a:srgbClr val="111111"/>
                </a:solidFill>
              </a:defRPr>
            </a:lvl4pPr>
            <a:lvl5pPr marL="1828800" indent="0">
              <a:buNone/>
              <a:defRPr sz="900">
                <a:solidFill>
                  <a:srgbClr val="111111"/>
                </a:solidFill>
              </a:defRPr>
            </a:lvl5pPr>
            <a:lvl6pPr marL="2286000" indent="0">
              <a:buNone/>
              <a:defRPr sz="900">
                <a:solidFill>
                  <a:srgbClr val="111111"/>
                </a:solidFill>
              </a:defRPr>
            </a:lvl6pPr>
            <a:lvl7pPr marL="2743200" indent="0">
              <a:buNone/>
              <a:defRPr sz="900">
                <a:solidFill>
                  <a:srgbClr val="111111"/>
                </a:solidFill>
              </a:defRPr>
            </a:lvl7pPr>
            <a:lvl8pPr marL="3200400" indent="0">
              <a:buNone/>
              <a:defRPr sz="900">
                <a:solidFill>
                  <a:srgbClr val="111111"/>
                </a:solidFill>
              </a:defRPr>
            </a:lvl8pPr>
            <a:lvl9pPr marL="3657600" indent="0">
              <a:buNone/>
              <a:defRPr sz="900">
                <a:solidFill>
                  <a:srgbClr val="111111"/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>
                <a:solidFill>
                  <a:srgbClr val="111111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>
                <a:solidFill>
                  <a:srgbClr val="111111"/>
                </a:solidFill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111111"/>
                </a:solidFill>
              </a:rPr>
              <a:t>Second level</a:t>
            </a:r>
          </a:p>
          <a:p>
            <a:pPr lvl="2"/>
            <a:r>
              <a:rPr lang="en-US" smtClean="0">
                <a:solidFill>
                  <a:srgbClr val="111111"/>
                </a:solidFill>
              </a:rPr>
              <a:t>Third level</a:t>
            </a:r>
          </a:p>
          <a:p>
            <a:pPr lvl="3"/>
            <a:r>
              <a:rPr lang="en-US" smtClean="0">
                <a:solidFill>
                  <a:srgbClr val="111111"/>
                </a:solidFill>
              </a:rPr>
              <a:t>Fourth level</a:t>
            </a:r>
          </a:p>
          <a:p>
            <a:pPr lvl="4"/>
            <a:r>
              <a:rPr lang="en-US" smtClean="0">
                <a:solidFill>
                  <a:srgbClr val="111111"/>
                </a:solidFill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rgbClr val="111111"/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solidFill>
                  <a:srgbClr val="111111"/>
                </a:solidFill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rgbClr val="11111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rgbClr val="111111"/>
                </a:solidFill>
              </a:defRPr>
            </a:lvl1pPr>
          </a:lstStyle>
          <a:p>
            <a:fld id="{C1FF6DA9-008F-8B48-92A6-B652298478BF}" type="slidenum">
              <a:rPr lang="en-US" smtClean="0">
                <a:solidFill>
                  <a:srgbClr val="111111"/>
                </a:solidFill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latin typeface="Cambria"/>
          <a:ea typeface="+mj-ea"/>
          <a:cs typeface="+mj-cs"/>
          <a:solidFill>
            <a:srgbClr val="111111"/>
          </a:solidFill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latin typeface="Cambria"/>
          <a:ea typeface="+mn-ea"/>
          <a:cs typeface="+mn-cs"/>
          <a:solidFill>
            <a:srgbClr val="111111"/>
          </a:solidFill>
        </a:defRPr>
      </a:lvl9pPr>
    </p:bodyStyle>
    <p:otherStyle>
      <a:defPPr>
        <a:defRPr lang="en-US">
          <a:solidFill>
            <a:srgbClr val="111111"/>
          </a:solidFill>
        </a:defRPr>
      </a:defPPr>
      <a:lvl1pPr algn="l" defTabSz="457200" eaLnBrk="1" hangingPunct="1" latinLnBrk="0" marL="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1pPr>
      <a:lvl2pPr algn="l" defTabSz="457200" eaLnBrk="1" hangingPunct="1" latinLnBrk="0" marL="457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2pPr>
      <a:lvl3pPr algn="l" defTabSz="457200" eaLnBrk="1" hangingPunct="1" latinLnBrk="0" marL="914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3pPr>
      <a:lvl4pPr algn="l" defTabSz="457200" eaLnBrk="1" hangingPunct="1" latinLnBrk="0" marL="1371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4pPr>
      <a:lvl5pPr algn="l" defTabSz="457200" eaLnBrk="1" hangingPunct="1" latinLnBrk="0" marL="18288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5pPr>
      <a:lvl6pPr algn="l" defTabSz="457200" eaLnBrk="1" hangingPunct="1" latinLnBrk="0" marL="22860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6pPr>
      <a:lvl7pPr algn="l" defTabSz="457200" eaLnBrk="1" hangingPunct="1" latinLnBrk="0" marL="27432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7pPr>
      <a:lvl8pPr algn="l" defTabSz="457200" eaLnBrk="1" hangingPunct="1" latinLnBrk="0" marL="32004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8pPr>
      <a:lvl9pPr algn="l" defTabSz="457200" eaLnBrk="1" hangingPunct="1" latinLnBrk="0" marL="3657600" rtl="0">
        <a:defRPr kern="1200" sz="1800">
          <a:latin typeface="Cambria"/>
          <a:ea typeface="+mn-ea"/>
          <a:cs typeface="+mn-cs"/>
          <a:solidFill>
            <a:srgbClr val="111111"/>
          </a:solidFill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oliver.padmaperuma@uni-ulm.de" TargetMode="External" /><Relationship Id="rId3" Type="http://schemas.openxmlformats.org/officeDocument/2006/relationships/hyperlink" Target="mailto:andre.guettler@uni-ulm.de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Brown Bag Seminar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Engage with doctoral research and prepare your referee report</a:t>
            </a:r>
            <a:br/>
            <a:br/>
            <a:r>
              <a:rPr/>
              <a:t>Prof. Dr. Andre Guettler</a:t>
            </a:r>
            <a:br/>
            <a:r>
              <a:rPr/>
              <a:t>Oliver Padmaperuma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Logistics</a:t>
            </a:r>
          </a:p>
          <a:p>
            <a:pPr lvl="0"/>
            <a:r>
              <a:rPr sz="2000" b="1"/>
              <a:t>Date:</a:t>
            </a:r>
            <a:r>
              <a:rPr sz="2000"/>
              <a:t> 20 January 2026</a:t>
            </a:r>
          </a:p>
          <a:p>
            <a:pPr lvl="0"/>
            <a:r>
              <a:rPr sz="2000" b="1"/>
              <a:t>Time:</a:t>
            </a:r>
            <a:r>
              <a:rPr sz="2000"/>
              <a:t> 13:30–16:00</a:t>
            </a:r>
          </a:p>
          <a:p>
            <a:pPr lvl="0"/>
            <a:r>
              <a:rPr sz="2000" b="1"/>
              <a:t>Attendance:</a:t>
            </a:r>
            <a:r>
              <a:rPr sz="2000"/>
              <a:t> mandatory for all registered students</a:t>
            </a:r>
          </a:p>
          <a:p>
            <a:pPr lvl="0"/>
            <a:r>
              <a:rPr sz="2000" b="1"/>
              <a:t>Location:</a:t>
            </a:r>
            <a:r>
              <a:rPr sz="2000"/>
              <a:t> Helmholtzstraße 22, Ulm — Brown Bag room (TBA)</a:t>
            </a:r>
          </a:p>
          <a:p>
            <a:pPr lvl="0" indent="0" marL="0">
              <a:buNone/>
            </a:pPr>
            <a:r>
              <a:rPr/>
              <a:t>The Brown Bag Seminar is a regular institute event where doctoral candidates present work in progress to faculty and peers. For this course it doubles as the input for </a:t>
            </a:r>
            <a:r>
              <a:rPr b="1"/>
              <a:t>Assignment II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Attend the </a:t>
            </a:r>
            <a:r>
              <a:rPr b="1"/>
              <a:t>full session</a:t>
            </a:r>
            <a:r>
              <a:rPr/>
              <a:t> (13:30 – 16:00).</a:t>
            </a:r>
          </a:p>
          <a:p>
            <a:pPr lvl="0"/>
            <a:r>
              <a:rPr/>
              <a:t>Take careful </a:t>
            </a:r>
            <a:r>
              <a:rPr b="1"/>
              <a:t>notes</a:t>
            </a:r>
            <a:r>
              <a:rPr/>
              <a:t> on each presentation — question, identification strategy, data, results.</a:t>
            </a:r>
          </a:p>
          <a:p>
            <a:pPr lvl="0"/>
            <a:r>
              <a:rPr/>
              <a:t>Apply the </a:t>
            </a:r>
            <a:r>
              <a:rPr b="1"/>
              <a:t>referee checklist</a:t>
            </a:r>
            <a:r>
              <a:rPr/>
              <a:t> from Lecture 4:</a:t>
            </a:r>
          </a:p>
          <a:p>
            <a:pPr lvl="1"/>
            <a:r>
              <a:rPr/>
              <a:t>the question · identification · data · econometric analysis · results &amp; conclusion.</a:t>
            </a:r>
          </a:p>
          <a:p>
            <a:pPr lvl="0"/>
            <a:r>
              <a:rPr/>
              <a:t>Discuss with peers afterwards — sharpen your judgments before writing.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you’ll receive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</a:t>
            </a:r>
            <a:r>
              <a:rPr b="1"/>
              <a:t>PDF of each presentation</a:t>
            </a:r>
            <a:r>
              <a:rPr/>
              <a:t> ahead of the session.</a:t>
            </a:r>
          </a:p>
          <a:p>
            <a:pPr lvl="0"/>
            <a:r>
              <a:rPr/>
              <a:t>The corresponding </a:t>
            </a:r>
            <a:r>
              <a:rPr b="1"/>
              <a:t>working paper</a:t>
            </a:r>
            <a:r>
              <a:rPr/>
              <a:t> when available. If a paper isn’t available, base your report </a:t>
            </a:r>
            <a:r>
              <a:rPr b="1"/>
              <a:t>solely on the presentation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/>
              <a:t>Topics will be announced </a:t>
            </a:r>
            <a:r>
              <a:rPr sz="2000" b="1"/>
              <a:t>at least one week before</a:t>
            </a:r>
            <a:r>
              <a:rPr sz="2000"/>
              <a:t> the seminar via Moodle.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deliverable — Assignment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Referee report</a:t>
            </a:r>
          </a:p>
          <a:p>
            <a:pPr lvl="0"/>
            <a:r>
              <a:rPr sz="2000"/>
              <a:t>Choose </a:t>
            </a:r>
            <a:r>
              <a:rPr sz="2000" b="1"/>
              <a:t>one</a:t>
            </a:r>
            <a:r>
              <a:rPr sz="2000"/>
              <a:t> doctoral presentation.</a:t>
            </a:r>
          </a:p>
          <a:p>
            <a:pPr lvl="0"/>
            <a:r>
              <a:rPr sz="2000"/>
              <a:t>Write a </a:t>
            </a:r>
            <a:r>
              <a:rPr sz="2000" b="1"/>
              <a:t>2.5–3 page</a:t>
            </a:r>
            <a:r>
              <a:rPr sz="2000"/>
              <a:t> report in academic referee style (11 pt Times New Roman, 1.5 spaced).</a:t>
            </a:r>
          </a:p>
          <a:p>
            <a:pPr lvl="0"/>
            <a:r>
              <a:rPr sz="2000"/>
              <a:t>Submit as a group of up to </a:t>
            </a:r>
            <a:r>
              <a:rPr sz="2000" b="1"/>
              <a:t>5</a:t>
            </a:r>
            <a:r>
              <a:rPr sz="2000"/>
              <a:t> students.</a:t>
            </a:r>
          </a:p>
          <a:p>
            <a:pPr lvl="0"/>
            <a:r>
              <a:rPr sz="2000" b="1"/>
              <a:t>Deadline:</a:t>
            </a:r>
            <a:r>
              <a:rPr sz="2000"/>
              <a:t> 3 February 2026, email to </a:t>
            </a:r>
            <a:r>
              <a:rPr sz="2000">
                <a:hlinkClick r:id="rId2"/>
              </a:rPr>
              <a:t>oliver.padmaperuma@uni-ulm.de</a:t>
            </a:r>
            <a:r>
              <a:rPr sz="2000"/>
              <a:t>, CC </a:t>
            </a:r>
            <a:r>
              <a:rPr sz="2000">
                <a:hlinkClick r:id="rId3"/>
              </a:rPr>
              <a:t>andre.guettler@uni-ulm.de</a:t>
            </a:r>
            <a:r>
              <a:rPr sz="2000"/>
              <a:t>.</a:t>
            </a:r>
          </a:p>
          <a:p>
            <a:pPr lvl="0"/>
            <a:r>
              <a:rPr sz="2000"/>
              <a:t>Include your name(s) and the </a:t>
            </a:r>
            <a:r>
              <a:rPr sz="2000" b="1"/>
              <a:t>title of the chosen presentation</a:t>
            </a:r>
            <a:r>
              <a:rPr sz="2000"/>
              <a:t> in the document.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refresher — the four-part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</a:t>
            </a:r>
            <a:r>
              <a:rPr/>
              <a:t> - Topic clearly explained? Question precise? - Author motivates well in the introduction? - Is the answer obvious in advance? - Question original? Reasonable scope?</a:t>
            </a:r>
          </a:p>
          <a:p>
            <a:pPr lvl="0" indent="0" marL="0">
              <a:buNone/>
            </a:pPr>
            <a:r>
              <a:rPr b="1"/>
              <a:t>Identification strategy</a:t>
            </a:r>
            <a:r>
              <a:rPr/>
              <a:t> - Source of variation clearly explained? - Endogeneity concerns addressed (reverse causality, omitted variables)? - Error-term assumptions justified? - Robust to alternative specifications?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</a:t>
            </a:r>
            <a:r>
              <a:rPr/>
              <a:t> - Clear description? Well-suited to the question? - Could you replicate the study in five years? - Measurement error / cross-sectional dependence discussed? - Summary statistics used to motivate the analysis?</a:t>
            </a:r>
          </a:p>
          <a:p>
            <a:pPr lvl="0" indent="0" marL="0">
              <a:buNone/>
            </a:pPr>
            <a:r>
              <a:rPr b="1"/>
              <a:t>Econometric analysis &amp; results</a:t>
            </a:r>
            <a:r>
              <a:rPr/>
              <a:t> - Techniques well-suited? Properties of estimators discussed? - Alternative specifications and robustness? - Results clearly presented and used to answer the question? - Caveats acknowledged? Conclusions well-supported? - </a:t>
            </a:r>
            <a:r>
              <a:rPr i="1"/>
              <a:t>Are you convinced?</a:t>
            </a:r>
            <a:r>
              <a:rPr/>
              <a:t> What did you learn?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at the 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Bring focused attention, your laptop or notebook, and the four-part checklist. Good empirical referee reports start from clean, structured notes.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Bag Seminar</dc:title>
  <dc:creator>Prof. Dr. Andre Guettler; Oliver Padmaperuma</dc:creator>
  <cp:keywords/>
  <dcterms:created xsi:type="dcterms:W3CDTF">2026-04-30T09:06:52Z</dcterms:created>
  <dcterms:modified xsi:type="dcterms:W3CDTF">2026-04-30T09:06:52Z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ssignment-1-problem-set-deadline">
    <vt:lpwstr>19 January 2026</vt:lpwstr>
  </property>
  <property fmtid="{D5CDD505-2E9C-101B-9397-08002B2CF9AE}" pid="4" name="assignment-1-problem-set-deadline-iso">
    <vt:lpwstr>2026-01-19</vt:lpwstr>
  </property>
  <property fmtid="{D5CDD505-2E9C-101B-9397-08002B2CF9AE}" pid="5" name="assignment-1-problem-set-weight">
    <vt:lpwstr>50</vt:lpwstr>
  </property>
  <property fmtid="{D5CDD505-2E9C-101B-9397-08002B2CF9AE}" pid="6" name="assignment-2-referee-report-deadline">
    <vt:lpwstr>3 February 2026</vt:lpwstr>
  </property>
  <property fmtid="{D5CDD505-2E9C-101B-9397-08002B2CF9AE}" pid="7" name="assignment-2-referee-report-deadline-iso">
    <vt:lpwstr>2026-02-03</vt:lpwstr>
  </property>
  <property fmtid="{D5CDD505-2E9C-101B-9397-08002B2CF9AE}" pid="8" name="assignment-2-referee-report-weight">
    <vt:lpwstr>50</vt:lpwstr>
  </property>
  <property fmtid="{D5CDD505-2E9C-101B-9397-08002B2CF9AE}" pid="9" name="authors">
    <vt:lpwstr/>
  </property>
  <property fmtid="{D5CDD505-2E9C-101B-9397-08002B2CF9AE}" pid="10" name="biblio-config">
    <vt:lpwstr>True</vt:lpwstr>
  </property>
  <property fmtid="{D5CDD505-2E9C-101B-9397-08002B2CF9AE}" pid="11" name="bibliography">
    <vt:lpwstr/>
  </property>
  <property fmtid="{D5CDD505-2E9C-101B-9397-08002B2CF9AE}" pid="12" name="by-affiliation">
    <vt:lpwstr/>
  </property>
  <property fmtid="{D5CDD505-2E9C-101B-9397-08002B2CF9AE}" pid="13" name="by-author">
    <vt:lpwstr/>
  </property>
  <property fmtid="{D5CDD505-2E9C-101B-9397-08002B2CF9AE}" pid="14" name="course">
    <vt:lpwstr/>
  </property>
  <property fmtid="{D5CDD505-2E9C-101B-9397-08002B2CF9AE}" pid="15" name="date">
    <vt:lpwstr>2026-01-20</vt:lpwstr>
  </property>
  <property fmtid="{D5CDD505-2E9C-101B-9397-08002B2CF9AE}" pid="16" name="default-time">
    <vt:lpwstr>Wednesdays 14:15–15:45</vt:lpwstr>
  </property>
  <property fmtid="{D5CDD505-2E9C-101B-9397-08002B2CF9AE}" pid="17" name="default-venue">
    <vt:lpwstr>Helmholtzstraße 22, Ulm</vt:lpwstr>
  </property>
  <property fmtid="{D5CDD505-2E9C-101B-9397-08002B2CF9AE}" pid="18" name="exam-id">
    <vt:lpwstr>13337</vt:lpwstr>
  </property>
  <property fmtid="{D5CDD505-2E9C-101B-9397-08002B2CF9AE}" pid="19" name="header-includes">
    <vt:lpwstr/>
  </property>
  <property fmtid="{D5CDD505-2E9C-101B-9397-08002B2CF9AE}" pid="20" name="include-after">
    <vt:lpwstr/>
  </property>
  <property fmtid="{D5CDD505-2E9C-101B-9397-08002B2CF9AE}" pid="21" name="include-before">
    <vt:lpwstr/>
  </property>
  <property fmtid="{D5CDD505-2E9C-101B-9397-08002B2CF9AE}" pid="22" name="labels">
    <vt:lpwstr/>
  </property>
  <property fmtid="{D5CDD505-2E9C-101B-9397-08002B2CF9AE}" pid="23" name="lecture-01-basics-date">
    <vt:lpwstr>29 October 2025</vt:lpwstr>
  </property>
  <property fmtid="{D5CDD505-2E9C-101B-9397-08002B2CF9AE}" pid="24" name="lecture-01-basics-date-iso">
    <vt:lpwstr>2025-10-29</vt:lpwstr>
  </property>
  <property fmtid="{D5CDD505-2E9C-101B-9397-08002B2CF9AE}" pid="25" name="lecture-01-basics-date-short">
    <vt:lpwstr>29.10.2025</vt:lpwstr>
  </property>
  <property fmtid="{D5CDD505-2E9C-101B-9397-08002B2CF9AE}" pid="26" name="lecture-01-basics-week">
    <vt:lpwstr>1</vt:lpwstr>
  </property>
  <property fmtid="{D5CDD505-2E9C-101B-9397-08002B2CF9AE}" pid="27" name="lecture-02-data-handling-date">
    <vt:lpwstr>5 November 2025</vt:lpwstr>
  </property>
  <property fmtid="{D5CDD505-2E9C-101B-9397-08002B2CF9AE}" pid="28" name="lecture-02-data-handling-date-iso">
    <vt:lpwstr>2025-11-05</vt:lpwstr>
  </property>
  <property fmtid="{D5CDD505-2E9C-101B-9397-08002B2CF9AE}" pid="29" name="lecture-02-data-handling-date-short">
    <vt:lpwstr>05.11.2025</vt:lpwstr>
  </property>
  <property fmtid="{D5CDD505-2E9C-101B-9397-08002B2CF9AE}" pid="30" name="lecture-02-data-handling-week">
    <vt:lpwstr>2</vt:lpwstr>
  </property>
  <property fmtid="{D5CDD505-2E9C-101B-9397-08002B2CF9AE}" pid="31" name="lecture-03-statistical-analysis-date">
    <vt:lpwstr>12 November 2025</vt:lpwstr>
  </property>
  <property fmtid="{D5CDD505-2E9C-101B-9397-08002B2CF9AE}" pid="32" name="lecture-03-statistical-analysis-date-iso">
    <vt:lpwstr>2025-11-12</vt:lpwstr>
  </property>
  <property fmtid="{D5CDD505-2E9C-101B-9397-08002B2CF9AE}" pid="33" name="lecture-03-statistical-analysis-date-short">
    <vt:lpwstr>12.11.2025</vt:lpwstr>
  </property>
  <property fmtid="{D5CDD505-2E9C-101B-9397-08002B2CF9AE}" pid="34" name="lecture-03-statistical-analysis-week">
    <vt:lpwstr>3</vt:lpwstr>
  </property>
  <property fmtid="{D5CDD505-2E9C-101B-9397-08002B2CF9AE}" pid="35" name="lecture-04-academic-publishing-date">
    <vt:lpwstr>19 November 2025</vt:lpwstr>
  </property>
  <property fmtid="{D5CDD505-2E9C-101B-9397-08002B2CF9AE}" pid="36" name="lecture-04-academic-publishing-date-iso">
    <vt:lpwstr>2025-11-19</vt:lpwstr>
  </property>
  <property fmtid="{D5CDD505-2E9C-101B-9397-08002B2CF9AE}" pid="37" name="lecture-04-academic-publishing-date-short">
    <vt:lpwstr>19.11.2025</vt:lpwstr>
  </property>
  <property fmtid="{D5CDD505-2E9C-101B-9397-08002B2CF9AE}" pid="38" name="lecture-04-academic-publishing-week">
    <vt:lpwstr>4</vt:lpwstr>
  </property>
  <property fmtid="{D5CDD505-2E9C-101B-9397-08002B2CF9AE}" pid="39" name="lecture-05-brown-bag-seminar-date">
    <vt:lpwstr>20 January 2026</vt:lpwstr>
  </property>
  <property fmtid="{D5CDD505-2E9C-101B-9397-08002B2CF9AE}" pid="40" name="lecture-05-brown-bag-seminar-date-iso">
    <vt:lpwstr>2026-01-20</vt:lpwstr>
  </property>
  <property fmtid="{D5CDD505-2E9C-101B-9397-08002B2CF9AE}" pid="41" name="lecture-05-brown-bag-seminar-date-short">
    <vt:lpwstr>20.01.2026</vt:lpwstr>
  </property>
  <property fmtid="{D5CDD505-2E9C-101B-9397-08002B2CF9AE}" pid="42" name="lecture-05-brown-bag-seminar-time">
    <vt:lpwstr>13:30–16:00</vt:lpwstr>
  </property>
  <property fmtid="{D5CDD505-2E9C-101B-9397-08002B2CF9AE}" pid="43" name="lecture-05-brown-bag-seminar-venue">
    <vt:lpwstr>Helmholtzstraße 22, Ulm — Brown Bag room (TBA)</vt:lpwstr>
  </property>
  <property fmtid="{D5CDD505-2E9C-101B-9397-08002B2CF9AE}" pid="44" name="lecture-05-brown-bag-seminar-week">
    <vt:lpwstr>13</vt:lpwstr>
  </property>
  <property fmtid="{D5CDD505-2E9C-101B-9397-08002B2CF9AE}" pid="45" name="registration-deadline">
    <vt:lpwstr>30 November 2025</vt:lpwstr>
  </property>
  <property fmtid="{D5CDD505-2E9C-101B-9397-08002B2CF9AE}" pid="46" name="registration-deadline-iso">
    <vt:lpwstr>2025-11-30</vt:lpwstr>
  </property>
  <property fmtid="{D5CDD505-2E9C-101B-9397-08002B2CF9AE}" pid="47" name="registration-system">
    <vt:lpwstr>campusonline</vt:lpwstr>
  </property>
  <property fmtid="{D5CDD505-2E9C-101B-9397-08002B2CF9AE}" pid="48" name="semester">
    <vt:lpwstr>Winter 2025/2026</vt:lpwstr>
  </property>
  <property fmtid="{D5CDD505-2E9C-101B-9397-08002B2CF9AE}" pid="49" name="solutions">
    <vt:lpwstr>False</vt:lpwstr>
  </property>
  <property fmtid="{D5CDD505-2E9C-101B-9397-08002B2CF9AE}" pid="50" name="subtitle">
    <vt:lpwstr>Engage with doctoral research and prepare your referee report</vt:lpwstr>
  </property>
  <property fmtid="{D5CDD505-2E9C-101B-9397-08002B2CF9AE}" pid="51" name="time">
    <vt:lpwstr>13:30–16:00</vt:lpwstr>
  </property>
  <property fmtid="{D5CDD505-2E9C-101B-9397-08002B2CF9AE}" pid="52" name="toc-title">
    <vt:lpwstr>Table of contents</vt:lpwstr>
  </property>
  <property fmtid="{D5CDD505-2E9C-101B-9397-08002B2CF9AE}" pid="53" name="topics">
    <vt:lpwstr/>
  </property>
  <property fmtid="{D5CDD505-2E9C-101B-9397-08002B2CF9AE}" pid="54" name="venue">
    <vt:lpwstr>Helmholtzstraße 22, Ulm — Brown Bag room (TBA)</vt:lpwstr>
  </property>
  <property fmtid="{D5CDD505-2E9C-101B-9397-08002B2CF9AE}" pid="55" name="week">
    <vt:lpwstr>13</vt:lpwstr>
  </property>
</Properties>
</file>