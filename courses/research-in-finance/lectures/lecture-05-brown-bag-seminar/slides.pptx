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Brown Bag Seminar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Engage with doctoral research and prepare your referee report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Logistics</a:t>
            </a:r>
          </a:p>
          <a:p>
            <a:pPr lvl="0"/>
            <a:r>
              <a:rPr sz="2000" b="1"/>
              <a:t>Date:</a:t>
            </a:r>
            <a:r>
              <a:rPr sz="2000"/>
              <a:t> 20 January 2026</a:t>
            </a:r>
          </a:p>
          <a:p>
            <a:pPr lvl="0"/>
            <a:r>
              <a:rPr sz="2000" b="1"/>
              <a:t>Time:</a:t>
            </a:r>
            <a:r>
              <a:rPr sz="2000"/>
              <a:t> 13:30–16:00</a:t>
            </a:r>
          </a:p>
          <a:p>
            <a:pPr lvl="0"/>
            <a:r>
              <a:rPr sz="2000" b="1"/>
              <a:t>Attendance:</a:t>
            </a:r>
            <a:r>
              <a:rPr sz="2000"/>
              <a:t> mandatory for all registered students</a:t>
            </a:r>
          </a:p>
          <a:p>
            <a:pPr lvl="0"/>
            <a:r>
              <a:rPr sz="2000" b="1"/>
              <a:t>Location:</a:t>
            </a:r>
            <a:r>
              <a:rPr sz="2000"/>
              <a:t> Helmholtzstraße 22, Ulm — Brown Bag room (TBA)</a:t>
            </a:r>
          </a:p>
          <a:p>
            <a:pPr lvl="0" indent="0" marL="0">
              <a:buNone/>
            </a:pPr>
            <a:r>
              <a:rPr/>
              <a:t>The Brown Bag Seminar is a regular institute event where doctoral candidates present work in progress to faculty and peers. For this course it doubles as the input for </a:t>
            </a:r>
            <a:r>
              <a:rPr b="1"/>
              <a:t>Assignment II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Attend the </a:t>
            </a:r>
            <a:r>
              <a:rPr b="1"/>
              <a:t>full session</a:t>
            </a:r>
            <a:r>
              <a:rPr/>
              <a:t> (13:30 – 16:00).</a:t>
            </a:r>
          </a:p>
          <a:p>
            <a:pPr lvl="0"/>
            <a:r>
              <a:rPr/>
              <a:t>Take careful </a:t>
            </a:r>
            <a:r>
              <a:rPr b="1"/>
              <a:t>notes</a:t>
            </a:r>
            <a:r>
              <a:rPr/>
              <a:t> on each presentation — question, identification strategy, data, results.</a:t>
            </a:r>
          </a:p>
          <a:p>
            <a:pPr lvl="0"/>
            <a:r>
              <a:rPr/>
              <a:t>Apply the </a:t>
            </a:r>
            <a:r>
              <a:rPr b="1"/>
              <a:t>referee checklist</a:t>
            </a:r>
            <a:r>
              <a:rPr/>
              <a:t> from Lecture 4:</a:t>
            </a:r>
          </a:p>
          <a:p>
            <a:pPr lvl="1"/>
            <a:r>
              <a:rPr/>
              <a:t>the question · identification · data · econometric analysis · results &amp; conclusion.</a:t>
            </a:r>
          </a:p>
          <a:p>
            <a:pPr lvl="0"/>
            <a:r>
              <a:rPr/>
              <a:t>Discuss with peers afterwards — sharpen your judgments before writing.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receive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PDF of each presentation</a:t>
            </a:r>
            <a:r>
              <a:rPr/>
              <a:t> ahead of the session.</a:t>
            </a:r>
          </a:p>
          <a:p>
            <a:pPr lvl="0"/>
            <a:r>
              <a:rPr/>
              <a:t>The corresponding </a:t>
            </a:r>
            <a:r>
              <a:rPr b="1"/>
              <a:t>working paper</a:t>
            </a:r>
            <a:r>
              <a:rPr/>
              <a:t> when available. If a paper isn’t available, base your report </a:t>
            </a:r>
            <a:r>
              <a:rPr b="1"/>
              <a:t>solely on the presentation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Topics will be announced </a:t>
            </a:r>
            <a:r>
              <a:rPr sz="2000" b="1"/>
              <a:t>at least one week before</a:t>
            </a:r>
            <a:r>
              <a:rPr sz="2000"/>
              <a:t> the seminar via Moodle.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deliverable — Assignment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Referee report</a:t>
            </a:r>
          </a:p>
          <a:p>
            <a:pPr lvl="0"/>
            <a:r>
              <a:rPr sz="2000"/>
              <a:t>Choose </a:t>
            </a:r>
            <a:r>
              <a:rPr sz="2000" b="1"/>
              <a:t>one</a:t>
            </a:r>
            <a:r>
              <a:rPr sz="2000"/>
              <a:t> doctoral presentation.</a:t>
            </a:r>
          </a:p>
          <a:p>
            <a:pPr lvl="0"/>
            <a:r>
              <a:rPr sz="2000"/>
              <a:t>Write a </a:t>
            </a:r>
            <a:r>
              <a:rPr sz="2000" b="1"/>
              <a:t>2.5–3 page</a:t>
            </a:r>
            <a:r>
              <a:rPr sz="2000"/>
              <a:t> report in academic referee style (11 pt Times New Roman, 1.5 spaced).</a:t>
            </a:r>
          </a:p>
          <a:p>
            <a:pPr lvl="0"/>
            <a:r>
              <a:rPr sz="2000"/>
              <a:t>Submit as a group of up to </a:t>
            </a:r>
            <a:r>
              <a:rPr sz="2000" b="1"/>
              <a:t>5</a:t>
            </a:r>
            <a:r>
              <a:rPr sz="2000"/>
              <a:t> students.</a:t>
            </a:r>
          </a:p>
          <a:p>
            <a:pPr lvl="0"/>
            <a:r>
              <a:rPr sz="2000" b="1"/>
              <a:t>Deadline:</a:t>
            </a:r>
            <a:r>
              <a:rPr sz="2000"/>
              <a:t> 3 February 2026, email to </a:t>
            </a:r>
            <a:r>
              <a:rPr sz="2000">
                <a:hlinkClick r:id="rId2"/>
              </a:rPr>
              <a:t>oliver.padmaperuma@uni-ulm.de</a:t>
            </a:r>
            <a:r>
              <a:rPr sz="2000"/>
              <a:t>, CC </a:t>
            </a:r>
            <a:r>
              <a:rPr sz="2000">
                <a:hlinkClick r:id="rId3"/>
              </a:rPr>
              <a:t>andre.guettler@uni-ulm.de</a:t>
            </a:r>
            <a:r>
              <a:rPr sz="2000"/>
              <a:t>.</a:t>
            </a:r>
          </a:p>
          <a:p>
            <a:pPr lvl="0"/>
            <a:r>
              <a:rPr sz="2000"/>
              <a:t>Include your name(s) and the </a:t>
            </a:r>
            <a:r>
              <a:rPr sz="2000" b="1"/>
              <a:t>title of the chosen presentation</a:t>
            </a:r>
            <a:r>
              <a:rPr sz="2000"/>
              <a:t> in the document.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refresher — the four-part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</a:t>
            </a:r>
            <a:r>
              <a:rPr/>
              <a:t> - Topic clearly explained? Question precise? - Author motivates well in the introduction? - Is the answer obvious in advance? - Question original? Reasonable scope?</a:t>
            </a:r>
          </a:p>
          <a:p>
            <a:pPr lvl="0" indent="0" marL="0">
              <a:buNone/>
            </a:pPr>
            <a:r>
              <a:rPr b="1"/>
              <a:t>Identification strategy</a:t>
            </a:r>
            <a:r>
              <a:rPr/>
              <a:t> - Source of variation clearly explained? - Endogeneity concerns addressed (reverse causality, omitted variables)? - Error-term assumptions justified? - Robust to alternative specifications?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</a:t>
            </a:r>
            <a:r>
              <a:rPr/>
              <a:t> - Clear description? Well-suited to the question? - Could you replicate the study in five years? - Measurement error / cross-sectional dependence discussed? - Summary statistics used to motivate the analysis?</a:t>
            </a:r>
          </a:p>
          <a:p>
            <a:pPr lvl="0" indent="0" marL="0">
              <a:buNone/>
            </a:pPr>
            <a:r>
              <a:rPr b="1"/>
              <a:t>Econometric analysis &amp; results</a:t>
            </a:r>
            <a:r>
              <a:rPr/>
              <a:t> - Techniques well-suited? Properties of estimators discussed? - Alternative specifications and robustness? - Results clearly presented and used to answer the question? - Caveats acknowledged? Conclusions well-supported? - </a:t>
            </a:r>
            <a:r>
              <a:rPr i="1"/>
              <a:t>Are you convinced?</a:t>
            </a:r>
            <a:r>
              <a:rPr/>
              <a:t> What did you learn?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at the seminar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Bring focused attention, your laptop or notebook, and the four-part checklist. Good empirical referee reports start from clean, structured notes.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Brown Bag Seminar</dc:title>
  <dc:creator>Prof. Dr. Andre Guettler; Oliver Padmaperuma</dc:creator>
  <cp:keywords/>
  <dcterms:created xsi:type="dcterms:W3CDTF">2026-04-30T08:32:44Z</dcterms:created>
  <dcterms:modified xsi:type="dcterms:W3CDTF">2026-04-30T08:32:44Z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2026-01-20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Engage with doctoral research and prepare your referee report</vt:lpwstr>
  </property>
  <property fmtid="{D5CDD505-2E9C-101B-9397-08002B2CF9AE}" pid="51" name="time">
    <vt:lpwstr>13:30–16:00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 — Brown Bag room (TBA)</vt:lpwstr>
  </property>
  <property fmtid="{D5CDD505-2E9C-101B-9397-08002B2CF9AE}" pid="55" name="week">
    <vt:lpwstr>13</vt:lpwstr>
  </property>
</Properties>
</file>