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1" Type="http://schemas.openxmlformats.org/officeDocument/2006/relationships/slideMaster" Target="slideMasters/slideMaster1.xml" /><Relationship Id="rId30" Type="http://schemas.openxmlformats.org/officeDocument/2006/relationships/printerSettings" Target="printerSettings/printerSettings1.bin" /><Relationship Id="rId31" Type="http://schemas.openxmlformats.org/officeDocument/2006/relationships/presProps" Target="presProps.xml" /><Relationship Id="rId32" Type="http://schemas.openxmlformats.org/officeDocument/2006/relationships/viewProps" Target="viewProps.xml" /><Relationship Id="rId33" Type="http://schemas.openxmlformats.org/officeDocument/2006/relationships/theme" Target="theme/theme1.xml" /><Relationship Id="rId34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457200" indent="0" algn="ctr">
              <a:buNone/>
              <a:defRPr>
                <a:solidFill>
                  <a:srgbClr val="111111"/>
                </a:solidFill>
              </a:defRPr>
            </a:lvl2pPr>
            <a:lvl3pPr marL="914400" indent="0" algn="ctr">
              <a:buNone/>
              <a:defRPr>
                <a:solidFill>
                  <a:srgbClr val="111111"/>
                </a:solidFill>
              </a:defRPr>
            </a:lvl3pPr>
            <a:lvl4pPr marL="1371600" indent="0" algn="ctr">
              <a:buNone/>
              <a:defRPr>
                <a:solidFill>
                  <a:srgbClr val="111111"/>
                </a:solidFill>
              </a:defRPr>
            </a:lvl4pPr>
            <a:lvl5pPr marL="1828800" indent="0" algn="ctr">
              <a:buNone/>
              <a:defRPr>
                <a:solidFill>
                  <a:srgbClr val="111111"/>
                </a:solidFill>
              </a:defRPr>
            </a:lvl5pPr>
            <a:lvl6pPr marL="2286000" indent="0" algn="ctr">
              <a:buNone/>
              <a:defRPr>
                <a:solidFill>
                  <a:srgbClr val="111111"/>
                </a:solidFill>
              </a:defRPr>
            </a:lvl6pPr>
            <a:lvl7pPr marL="2743200" indent="0" algn="ctr">
              <a:buNone/>
              <a:defRPr>
                <a:solidFill>
                  <a:srgbClr val="111111"/>
                </a:solidFill>
              </a:defRPr>
            </a:lvl7pPr>
            <a:lvl8pPr marL="3200400" indent="0" algn="ctr">
              <a:buNone/>
              <a:defRPr>
                <a:solidFill>
                  <a:srgbClr val="111111"/>
                </a:solidFill>
              </a:defRPr>
            </a:lvl8pPr>
            <a:lvl9pPr marL="36576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 smtClean="0">
                <a:solidFill>
                  <a:srgbClr val="111111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111111"/>
                </a:solidFill>
              </a:defRPr>
            </a:lvl1pPr>
            <a:lvl2pPr marL="457200" indent="0">
              <a:buNone/>
              <a:defRPr sz="1800">
                <a:solidFill>
                  <a:srgbClr val="111111"/>
                </a:solidFill>
              </a:defRPr>
            </a:lvl2pPr>
            <a:lvl3pPr marL="914400" indent="0">
              <a:buNone/>
              <a:defRPr sz="1600">
                <a:solidFill>
                  <a:srgbClr val="111111"/>
                </a:solidFill>
              </a:defRPr>
            </a:lvl3pPr>
            <a:lvl4pPr marL="1371600" indent="0">
              <a:buNone/>
              <a:defRPr sz="1400">
                <a:solidFill>
                  <a:srgbClr val="111111"/>
                </a:solidFill>
              </a:defRPr>
            </a:lvl4pPr>
            <a:lvl5pPr marL="1828800" indent="0">
              <a:buNone/>
              <a:defRPr sz="1400">
                <a:solidFill>
                  <a:srgbClr val="111111"/>
                </a:solidFill>
              </a:defRPr>
            </a:lvl5pPr>
            <a:lvl6pPr marL="2286000" indent="0">
              <a:buNone/>
              <a:defRPr sz="1400">
                <a:solidFill>
                  <a:srgbClr val="111111"/>
                </a:solidFill>
              </a:defRPr>
            </a:lvl6pPr>
            <a:lvl7pPr marL="2743200" indent="0">
              <a:buNone/>
              <a:defRPr sz="1400">
                <a:solidFill>
                  <a:srgbClr val="111111"/>
                </a:solidFill>
              </a:defRPr>
            </a:lvl7pPr>
            <a:lvl8pPr marL="3200400" indent="0">
              <a:buNone/>
              <a:defRPr sz="1400">
                <a:solidFill>
                  <a:srgbClr val="111111"/>
                </a:solidFill>
              </a:defRPr>
            </a:lvl8pPr>
            <a:lvl9pPr marL="3657600" indent="0">
              <a:buNone/>
              <a:defRPr sz="14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solidFill>
                  <a:srgbClr val="111111"/>
                </a:solidFill>
              </a:defRPr>
            </a:lvl1pPr>
            <a:lvl2pPr>
              <a:defRPr sz="2800">
                <a:solidFill>
                  <a:srgbClr val="111111"/>
                </a:solidFill>
              </a:defRPr>
            </a:lvl2pPr>
            <a:lvl3pPr>
              <a:defRPr sz="2400">
                <a:solidFill>
                  <a:srgbClr val="111111"/>
                </a:solidFill>
              </a:defRPr>
            </a:lvl3pPr>
            <a:lvl4pPr>
              <a:defRPr sz="2000">
                <a:solidFill>
                  <a:srgbClr val="111111"/>
                </a:solidFill>
              </a:defRPr>
            </a:lvl4pPr>
            <a:lvl5pPr>
              <a:defRPr sz="2000">
                <a:solidFill>
                  <a:srgbClr val="111111"/>
                </a:solidFill>
              </a:defRPr>
            </a:lvl5pPr>
            <a:lvl6pPr>
              <a:defRPr sz="2000">
                <a:solidFill>
                  <a:srgbClr val="111111"/>
                </a:solidFill>
              </a:defRPr>
            </a:lvl6pPr>
            <a:lvl7pPr>
              <a:defRPr sz="2000">
                <a:solidFill>
                  <a:srgbClr val="111111"/>
                </a:solidFill>
              </a:defRPr>
            </a:lvl7pPr>
            <a:lvl8pPr>
              <a:defRPr sz="2000">
                <a:solidFill>
                  <a:srgbClr val="111111"/>
                </a:solidFill>
              </a:defRPr>
            </a:lvl8pPr>
            <a:lvl9pPr>
              <a:defRPr sz="20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solidFill>
                  <a:srgbClr val="111111"/>
                </a:solidFill>
              </a:defRPr>
            </a:lvl1pPr>
            <a:lvl2pPr marL="457200" indent="0">
              <a:buNone/>
              <a:defRPr sz="2800">
                <a:solidFill>
                  <a:srgbClr val="111111"/>
                </a:solidFill>
              </a:defRPr>
            </a:lvl2pPr>
            <a:lvl3pPr marL="914400" indent="0">
              <a:buNone/>
              <a:defRPr sz="2400">
                <a:solidFill>
                  <a:srgbClr val="111111"/>
                </a:solidFill>
              </a:defRPr>
            </a:lvl3pPr>
            <a:lvl4pPr marL="1371600" indent="0">
              <a:buNone/>
              <a:defRPr sz="2000">
                <a:solidFill>
                  <a:srgbClr val="111111"/>
                </a:solidFill>
              </a:defRPr>
            </a:lvl4pPr>
            <a:lvl5pPr marL="1828800" indent="0">
              <a:buNone/>
              <a:defRPr sz="2000">
                <a:solidFill>
                  <a:srgbClr val="111111"/>
                </a:solidFill>
              </a:defRPr>
            </a:lvl5pPr>
            <a:lvl6pPr marL="2286000" indent="0">
              <a:buNone/>
              <a:defRPr sz="2000">
                <a:solidFill>
                  <a:srgbClr val="111111"/>
                </a:solidFill>
              </a:defRPr>
            </a:lvl6pPr>
            <a:lvl7pPr marL="2743200" indent="0">
              <a:buNone/>
              <a:defRPr sz="2000">
                <a:solidFill>
                  <a:srgbClr val="111111"/>
                </a:solidFill>
              </a:defRPr>
            </a:lvl7pPr>
            <a:lvl8pPr marL="3200400" indent="0">
              <a:buNone/>
              <a:defRPr sz="2000">
                <a:solidFill>
                  <a:srgbClr val="111111"/>
                </a:solidFill>
              </a:defRPr>
            </a:lvl8pPr>
            <a:lvl9pPr marL="3657600" indent="0">
              <a:buNone/>
              <a:defRPr sz="2000">
                <a:solidFill>
                  <a:srgbClr val="111111"/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rgbClr val="111111"/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rgbClr val="11111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rgbClr val="111111"/>
                </a:solidFill>
              </a:defRPr>
            </a:lvl1pPr>
          </a:lstStyle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457200" eaLnBrk="1" hangingPunct="1" latinLnBrk="0" marL="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latinLnBrk="0" marL="457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latinLnBrk="0" marL="914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latinLnBrk="0" marL="1371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latinLnBrk="0" marL="18288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latinLnBrk="0" marL="22860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latinLnBrk="0" marL="2743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latinLnBrk="0" marL="3200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latinLnBrk="0" marL="3657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odernstatisticswithr.com/" TargetMode="External" /><Relationship Id="rId3" Type="http://schemas.openxmlformats.org/officeDocument/2006/relationships/hyperlink" Target="https://learningstatisticswithr.com/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ress.princeton.edu/books/paperback/9780691120355/mostly-harmless-econometrics" TargetMode="External" /><Relationship Id="rId3" Type="http://schemas.openxmlformats.org/officeDocument/2006/relationships/hyperlink" Target="https://www.statlearning.com/" TargetMode="External" /><Relationship Id="rId4" Type="http://schemas.openxmlformats.org/officeDocument/2006/relationships/hyperlink" Target="https://learningstatisticswithr.com/" TargetMode="External" /><Relationship Id="rId5" Type="http://schemas.openxmlformats.org/officeDocument/2006/relationships/hyperlink" Target="https://www.modernstatisticswithr.com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Statistical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Descriptive · inferential · modelling — applied in R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Recap from Lecture 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covered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for?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API access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remote data via authenticated queries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Fetching CFTC 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Quandl.api_key("…"); Quandl.datatable("QDL/LFON", …)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Import &amp; cleanse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files (CSV) and initial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 formatting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read_csv() %&gt;% mutate(date = as.Date(date))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Merge &amp; append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 by keys (</a:t>
                      </a:r>
                      <a:r>
                        <a:rPr>
                          <a:latin typeface="Courier"/>
                        </a:rPr>
                        <a:t>merge</a:t>
                      </a:r>
                      <a:r>
                        <a:rPr/>
                        <a:t>) or stack (</a:t>
                      </a:r>
                      <a:r>
                        <a:rPr>
                          <a:latin typeface="Courier"/>
                        </a:rPr>
                        <a:t>bind_rows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Multi-asset views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merge(d1, d2, by="date")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bind_rows(...)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Filter &amp; mutate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Subset rows, derive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Post-2021 windows, net 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filter(date &gt; "2021-01-01") %&gt;% mutate(net = longs - shorts)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 &amp; summarise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 categories, aggregate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means / SD per asset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group_by(Asset, Year) %&gt;% summarise(...)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Pivot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Reshape wide ⇄ 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Correlation 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Layered plotting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Publication-ready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ggplot() + geom_line() + theme_minimal()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Live Coding Session 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 of basic statistical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theory</a:t>
            </a:r>
          </a:p>
          <a:p>
            <a:pPr lvl="0"/>
            <a:r>
              <a:rPr/>
              <a:t>Sample spaces and events</a:t>
            </a:r>
          </a:p>
          <a:p>
            <a:pPr lvl="0"/>
            <a:r>
              <a:rPr/>
              <a:t>Random variables</a:t>
            </a:r>
          </a:p>
          <a:p>
            <a:pPr lvl="0"/>
            <a:r>
              <a:rPr/>
              <a:t>Expectations and moments</a:t>
            </a:r>
          </a:p>
          <a:p>
            <a:pPr lvl="0"/>
            <a:r>
              <a:rPr/>
              <a:t>Inequalities</a:t>
            </a:r>
          </a:p>
          <a:p>
            <a:pPr lvl="0"/>
            <a:r>
              <a:rPr/>
              <a:t>Convergence concepts</a:t>
            </a:r>
          </a:p>
          <a:p>
            <a:pPr lvl="0"/>
            <a:r>
              <a:rPr/>
              <a:t>Distributions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Descriptive statistics</a:t>
            </a:r>
          </a:p>
          <a:p>
            <a:pPr lvl="0"/>
            <a:r>
              <a:rPr/>
              <a:t>Sampling</a:t>
            </a:r>
          </a:p>
          <a:p>
            <a:pPr lvl="0"/>
            <a:r>
              <a:rPr/>
              <a:t>Missing-value handling</a:t>
            </a:r>
          </a:p>
          <a:p>
            <a:pPr lvl="0"/>
            <a:r>
              <a:rPr/>
              <a:t>Central tendency, dispersion, shape</a:t>
            </a:r>
          </a:p>
          <a:p>
            <a:pPr lvl="0"/>
            <a:r>
              <a:rPr/>
              <a:t>Data summarization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Inferential statistics</a:t>
            </a:r>
          </a:p>
          <a:p>
            <a:pPr lvl="0"/>
            <a:r>
              <a:rPr/>
              <a:t>Point and interval estimation</a:t>
            </a:r>
          </a:p>
          <a:p>
            <a:pPr lvl="0"/>
            <a:r>
              <a:rPr/>
              <a:t>Hypothesis testing</a:t>
            </a:r>
          </a:p>
          <a:p>
            <a:pPr lvl="0"/>
            <a:r>
              <a:rPr/>
              <a:t>Non-parametric inference</a:t>
            </a:r>
          </a:p>
          <a:p>
            <a:pPr lvl="0"/>
            <a:r>
              <a:rPr/>
              <a:t>Bayesian inference</a:t>
            </a:r>
          </a:p>
          <a:p>
            <a:pPr lvl="0"/>
            <a:r>
              <a:rPr/>
              <a:t>Statistical decision theory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modelling</a:t>
            </a:r>
          </a:p>
          <a:p>
            <a:pPr lvl="0"/>
            <a:r>
              <a:rPr/>
              <a:t>Regression analysis</a:t>
            </a:r>
          </a:p>
          <a:p>
            <a:pPr lvl="0"/>
            <a:r>
              <a:rPr/>
              <a:t>Multivariate analysis</a:t>
            </a:r>
          </a:p>
          <a:p>
            <a:pPr lvl="0"/>
            <a:r>
              <a:rPr/>
              <a:t>ANOVA</a:t>
            </a:r>
          </a:p>
          <a:p>
            <a:pPr lvl="0"/>
            <a:r>
              <a:rPr/>
              <a:t>Time series &amp; stochastic processes</a:t>
            </a:r>
          </a:p>
          <a:p>
            <a:pPr lvl="0"/>
            <a:r>
              <a:rPr/>
              <a:t>Survival analysis</a:t>
            </a:r>
          </a:p>
          <a:p>
            <a:pPr lvl="0"/>
            <a:r>
              <a:rPr/>
              <a:t>Causal inference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Practical advice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start</a:t>
            </a:r>
            <a:r>
              <a:rPr sz="2000"/>
              <a:t> with a thorough </a:t>
            </a:r>
            <a:r>
              <a:rPr sz="2000" b="1"/>
              <a:t>descriptive analysis</a:t>
            </a:r>
            <a:r>
              <a:rPr sz="2000"/>
              <a:t> to deeply understand your data before turning to advanced methods.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Deep-dive —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Summarises and organises raw data into meaningful patterns using averages, spreads, and visualisations.</a:t>
            </a:r>
          </a:p>
          <a:p>
            <a:pPr lvl="0"/>
            <a:r>
              <a:rPr/>
              <a:t>Presents data </a:t>
            </a:r>
            <a:r>
              <a:rPr b="1"/>
              <a:t>without</a:t>
            </a:r>
            <a:r>
              <a:rPr/>
              <a:t> drawing conclusions beyond the dataset (histograms, box plots).</a:t>
            </a:r>
          </a:p>
          <a:p>
            <a:pPr lvl="0"/>
            <a:r>
              <a:rPr/>
              <a:t>Includes data-type categorisation and basic central-tendency / variability statistics.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Initial overview — trends, outliers, patterns before deeper analysis.</a:t>
            </a:r>
          </a:p>
          <a:p>
            <a:pPr lvl="0"/>
            <a:r>
              <a:rPr/>
              <a:t>Communicating findings to non-experts.</a:t>
            </a:r>
          </a:p>
          <a:p>
            <a:pPr lvl="0"/>
            <a:r>
              <a:rPr/>
              <a:t>Data cleaning and quality checks.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Sampling</a:t>
            </a:r>
            <a:r>
              <a:rPr/>
              <a:t> — methods, survey design, data types (nominal, ordinal, interval, ratio).</a:t>
            </a:r>
          </a:p>
          <a:p>
            <a:pPr lvl="0"/>
            <a:r>
              <a:rPr b="1"/>
              <a:t>Missing values</a:t>
            </a:r>
            <a:r>
              <a:rPr/>
              <a:t> — imputation, prediction, elimination.</a:t>
            </a:r>
          </a:p>
          <a:p>
            <a:pPr lvl="0"/>
            <a:r>
              <a:rPr b="1"/>
              <a:t>Central tendency</a:t>
            </a:r>
            <a:r>
              <a:rPr/>
              <a:t> — mean (arithmetic, geometric, harmonic), median, mode.</a:t>
            </a:r>
          </a:p>
          <a:p>
            <a:pPr lvl="0"/>
            <a:r>
              <a:rPr b="1"/>
              <a:t>Dispersion</a:t>
            </a:r>
            <a:r>
              <a:rPr/>
              <a:t> — variance, standard deviation, range, IQR, coefficient of variation.</a:t>
            </a:r>
          </a:p>
          <a:p>
            <a:pPr lvl="0"/>
            <a:r>
              <a:rPr b="1"/>
              <a:t>Shape &amp; symmetry</a:t>
            </a:r>
            <a:r>
              <a:rPr/>
              <a:t> — skewness, kurtosis, normality (Q-Q plots).</a:t>
            </a:r>
          </a:p>
          <a:p>
            <a:pPr lvl="0"/>
            <a:r>
              <a:rPr b="1"/>
              <a:t>Summarization</a:t>
            </a:r>
            <a:r>
              <a:rPr/>
              <a:t> — frequency distributions, histograms, box / stem-and-leaf / scatter plots, ECDF, quantiles, outliers.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—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Compact summary statistics per asset and per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desc_stats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(Asset, Net_Longs, market_participation)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Variable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"Net_Longs"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Variable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"market_participation"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"Market Part."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(Asset, Variable)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(Value,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(Value,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P10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P50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P90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(Value,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(desc_stats, </a:t>
            </a:r>
            <a:r>
              <a:rPr>
                <a:solidFill>
                  <a:srgbClr val="20794D"/>
                </a:solidFill>
                <a:latin typeface="Courier"/>
              </a:rPr>
              <a:t>"desc_stats_clean.csv"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long_data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(Asset, Net_Longs, market_participation,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non_commercial_shorts, non_commercial_longs)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(long_data,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transparent overlays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"Faceted Density Plots: Distributions by 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"distribution_plot.pdf"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statistics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Uses sample data to </a:t>
            </a:r>
            <a:r>
              <a:rPr b="1"/>
              <a:t>generalise / predict</a:t>
            </a:r>
            <a:r>
              <a:rPr/>
              <a:t> about a population, via estimation and testing.</a:t>
            </a:r>
          </a:p>
          <a:p>
            <a:pPr lvl="0"/>
            <a:r>
              <a:rPr/>
              <a:t>Probability-based methods: hypothesis tests, confidence intervals, p-values to quantify uncertainty.</a:t>
            </a:r>
          </a:p>
          <a:p>
            <a:pPr lvl="0"/>
            <a:r>
              <a:rPr/>
              <a:t>Covers </a:t>
            </a:r>
            <a:r>
              <a:rPr b="1"/>
              <a:t>parametric</a:t>
            </a:r>
            <a:r>
              <a:rPr/>
              <a:t> (assume distribution) and </a:t>
            </a:r>
            <a:r>
              <a:rPr b="1"/>
              <a:t>non-parametric</a:t>
            </a:r>
            <a:r>
              <a:rPr/>
              <a:t> approaches; Bayesian techniques update beliefs.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Test hypotheses (e.g., does treatment have an effect?).</a:t>
            </a:r>
          </a:p>
          <a:p>
            <a:pPr lvl="0"/>
            <a:r>
              <a:rPr/>
              <a:t>Estimate population parameters from samples.</a:t>
            </a:r>
          </a:p>
          <a:p>
            <a:pPr lvl="0"/>
            <a:r>
              <a:rPr/>
              <a:t>Assess relationships and differences with controlled error rates.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Point estimation</a:t>
            </a:r>
            <a:r>
              <a:rPr/>
              <a:t> — bias, variance, MSE; method of moments; MLE; asymptotic normality.</a:t>
            </a:r>
          </a:p>
          <a:p>
            <a:pPr lvl="0"/>
            <a:r>
              <a:rPr b="1"/>
              <a:t>Interval estimation</a:t>
            </a:r>
            <a:r>
              <a:rPr/>
              <a:t> — normal/t-based CIs; bootstrap; coverage probability.</a:t>
            </a:r>
          </a:p>
          <a:p>
            <a:pPr lvl="0"/>
            <a:r>
              <a:rPr b="1"/>
              <a:t>Hypothesis testing</a:t>
            </a:r>
            <a:r>
              <a:rPr/>
              <a:t> — null/alternative; test statistics &amp; p-values; type I/II errors; common tests (t, ANOVA, Wald, LR, χ², permutation, correlation); multiple-testing adjustments (Bonferroni, FDR); goodness-of-fit (KS, χ²).</a:t>
            </a:r>
          </a:p>
          <a:p>
            <a:pPr lvl="0"/>
            <a:r>
              <a:rPr b="1"/>
              <a:t>Non-parametric inference</a:t>
            </a:r>
            <a:r>
              <a:rPr/>
              <a:t> — rank tests (Wilcoxon, Mann-Whitney); sign tests; kernel density basics.</a:t>
            </a:r>
          </a:p>
          <a:p>
            <a:pPr lvl="0"/>
            <a:r>
              <a:rPr b="1"/>
              <a:t>Bayesian inference</a:t>
            </a:r>
            <a:r>
              <a:rPr/>
              <a:t> — priors/posteriors, Bayes’ theorem, conjugate priors, credible intervals, MCMC.</a:t>
            </a:r>
          </a:p>
          <a:p>
            <a:pPr lvl="0"/>
            <a:r>
              <a:rPr b="1"/>
              <a:t>Decision theory</a:t>
            </a:r>
            <a:r>
              <a:rPr/>
              <a:t> — loss/risk; minimax/Bayes estimators.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— correlation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cor_matrix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values_fill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"pairwise.complete.obs"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"pearson"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"Asset1"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Asset1,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Correlation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(Correlation))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Asset2,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Asset1,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Correlation),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 of Net Longs (Assets)"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values show decoupling (e.g., Gold vs Bitcoin in crises)"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Interpretation:</a:t>
            </a:r>
            <a:r>
              <a:rPr sz="2000"/>
              <a:t> values from −1 to 1; diagonal = 1 (self), off-diagonal = strength/direction. </a:t>
            </a:r>
            <a:r>
              <a:rPr sz="2000">
                <a:latin typeface="Courier"/>
              </a:rPr>
              <a:t>|r| &gt; 0.5</a:t>
            </a:r>
            <a:r>
              <a:rPr sz="2000"/>
              <a:t> strong; negative = inverse (hedging potential); low p-values confirm significance.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— Pearson correlation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gold_net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btc_net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Full-dataset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full_test &lt;- </a:t>
            </a: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(gold_net, btc_net)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(full_test)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e.g., r = -0.14, p = 0.03 — weak negative correlation, statistically significant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 (2022)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crisis_gold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crisis_btc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crisis_test &lt;- </a:t>
            </a: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(crisis_gold, crisis_btc)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(crisis_test)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e.g., r = -0.06, p = 0.68 — not statistically significant</a:t>
            </a:r>
          </a:p>
          <a:p>
            <a:pPr lvl="0" indent="0" marL="1270000">
              <a:buNone/>
            </a:pPr>
            <a:r>
              <a:rPr sz="2000" b="1"/>
              <a:t>r ranges −1 to 1</a:t>
            </a:r>
            <a:r>
              <a:rPr sz="2000"/>
              <a:t>; </a:t>
            </a:r>
            <a:r>
              <a:rPr sz="2000">
                <a:latin typeface="Courier"/>
              </a:rPr>
              <a:t>|r| &gt; 0.5</a:t>
            </a:r>
            <a:r>
              <a:rPr sz="2000"/>
              <a:t> strong; </a:t>
            </a:r>
            <a:r>
              <a:rPr sz="2000">
                <a:latin typeface="Courier"/>
              </a:rPr>
              <a:t>p &lt; 0.05</a:t>
            </a:r>
            <a:r>
              <a:rPr sz="2000"/>
              <a:t> rejects H₀ (no association).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 (compare means)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trad_net 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"Silver"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crypto_net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"Ethereum"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Full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(trad_net, crypto_net)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(full_test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  </a:t>
            </a:r>
            <a:r>
              <a:rPr>
                <a:solidFill>
                  <a:srgbClr val="5E5E5E"/>
                </a:solidFill>
                <a:latin typeface="Courier"/>
              </a:rPr>
              <a:t># tidy = clean table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 &lt; 0.05 → crypto means differ from traditional means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 (2022)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crisis_data    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non_crisis_data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crisis_test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Net_Longs, non_crisis_data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(crisis_test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 b="1"/>
              <a:t>Parametric</a:t>
            </a:r>
            <a:r>
              <a:rPr sz="2000"/>
              <a:t>, assumes normality. Outputs t-statistic, p-value, CI. Low p (</a:t>
            </a:r>
            <a:r>
              <a:rPr sz="2000">
                <a:latin typeface="Courier"/>
              </a:rPr>
              <a:t>&lt;0.05</a:t>
            </a:r>
            <a:r>
              <a:rPr sz="2000"/>
              <a:t>) rejects H₀ of equal means. Use Wilcoxon if non-normal; ANOVA for &gt;2 groups.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Wilcoxon test (compare medians, non-parametric)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wilcox_full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(trad_net, crypto_net)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(wilcox_full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crisis_net     &lt;- 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non_crisis_net &lt;- non_crisis_data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wilcox_crisis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(crisis_net, non_crisis_net)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(wilcox_crisis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/>
              <a:t>Compares </a:t>
            </a:r>
            <a:r>
              <a:rPr sz="2000" b="1"/>
              <a:t>medians</a:t>
            </a:r>
            <a:r>
              <a:rPr sz="2000"/>
              <a:t> non-parametrically using ranks; outputs W-statistic, p-value. Robust to outliers / non-normality. Use when Shapiro shows non-normality. For &gt;2 groups: Kruskal-Wallis.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Shapiro-Wilk test (normality)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shapiro_gold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shapiro_btc 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(shapiro_gold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p &lt; 0.05 → non-normal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(shapiro_btc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p &gt; 0.05 → normal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Q-Q plot for visual check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Density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gold_btc_data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), 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(gold_btc_data,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 Distributions: Gold vs Bitcoin (Faceted)"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Outputs W-statistic (</a:t>
            </a:r>
            <a:r>
              <a:rPr sz="2000">
                <a:latin typeface="Courier"/>
              </a:rPr>
              <a:t>1</a:t>
            </a:r>
            <a:r>
              <a:rPr sz="2000"/>
              <a:t> = perfect normal) and p-value. Low p rejects H₀ (normality). Transformations (</a:t>
            </a:r>
            <a:r>
              <a:rPr sz="2000">
                <a:latin typeface="Courier"/>
              </a:rPr>
              <a:t>log</a:t>
            </a:r>
            <a:r>
              <a:rPr sz="2000"/>
              <a:t>) or non-parametric tests follow if rejected.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Kolmogorov-Smirnov test (compare distributions)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gold_net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btc_net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ks_test &lt;- </a:t>
            </a:r>
            <a:r>
              <a:rPr>
                <a:solidFill>
                  <a:srgbClr val="4758AB"/>
                </a:solidFill>
                <a:latin typeface="Courier"/>
              </a:rPr>
              <a:t>ks.test</a:t>
            </a:r>
            <a:r>
              <a:rPr>
                <a:solidFill>
                  <a:srgbClr val="003B4F"/>
                </a:solidFill>
                <a:latin typeface="Courier"/>
              </a:rPr>
              <a:t>(gold_net, btc_net)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(ks_test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D = 0.25, p &lt; 0.05 → different shapes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ECDF visualisation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(gold_btc_data,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stat_ecdf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"ECDF Plot: Gold vs Bitcoin (Faceted)"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"Cumulative Probability"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Compares distributions non-parametrically; outputs D (max CDF difference) and p-value. Validates group differences before parametric tests.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modelling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Mathematical representations of data relationships (regression, multivariate) to </a:t>
            </a:r>
            <a:r>
              <a:rPr b="1"/>
              <a:t>explain or predict</a:t>
            </a:r>
            <a:r>
              <a:rPr/>
              <a:t> outcomes.</a:t>
            </a:r>
          </a:p>
          <a:p>
            <a:pPr lvl="0"/>
            <a:r>
              <a:rPr/>
              <a:t>Time-series forecasting, ML interfaces, computational simulations.</a:t>
            </a:r>
          </a:p>
          <a:p>
            <a:pPr lvl="0"/>
            <a:r>
              <a:rPr/>
              <a:t>Focuses on model fitting, diagnostics, validation in real-world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Forecasting (markets, disease).</a:t>
            </a:r>
          </a:p>
          <a:p>
            <a:pPr lvl="0"/>
            <a:r>
              <a:rPr/>
              <a:t>Causal inference, classification, dimensionality reduction.</a:t>
            </a:r>
          </a:p>
          <a:p>
            <a:pPr lvl="0"/>
            <a:r>
              <a:rPr/>
              <a:t>Optimization in big-data settings.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Regression</a:t>
            </a:r>
            <a:r>
              <a:rPr/>
              <a:t> — simple/multiple linear, logistic, fixed/random effects, clustered/robust SEs, interactions, non-linear terms.</a:t>
            </a:r>
          </a:p>
          <a:p>
            <a:pPr lvl="0"/>
            <a:r>
              <a:rPr b="1"/>
              <a:t>Multivariate</a:t>
            </a:r>
            <a:r>
              <a:rPr/>
              <a:t> — PCA, factor analysis, canonical correlation, k-means, discriminant analysis.</a:t>
            </a:r>
          </a:p>
          <a:p>
            <a:pPr lvl="0"/>
            <a:r>
              <a:rPr b="1"/>
              <a:t>Time series</a:t>
            </a:r>
            <a:r>
              <a:rPr/>
              <a:t> — ACF/PACF, ADF/KPSS stationarity, ARIMA, Monte Carlo, GARCH.</a:t>
            </a:r>
          </a:p>
          <a:p>
            <a:pPr lvl="0"/>
            <a:r>
              <a:rPr b="1"/>
              <a:t>Survival</a:t>
            </a:r>
            <a:r>
              <a:rPr/>
              <a:t> — Kaplan-Meier, Cox PH, censoring, Weibull.</a:t>
            </a:r>
          </a:p>
          <a:p>
            <a:pPr lvl="0"/>
            <a:r>
              <a:rPr b="1"/>
              <a:t>Causal inference</a:t>
            </a:r>
            <a:r>
              <a:rPr/>
              <a:t> — IV, DID, PSM, DAGs, RDD.</a:t>
            </a:r>
          </a:p>
          <a:p>
            <a:pPr lvl="0"/>
            <a:r>
              <a:rPr b="1"/>
              <a:t>Non-linear / GLM</a:t>
            </a:r>
            <a:r>
              <a:rPr/>
              <a:t> — GLMs, Poisson, splines, quantile regression.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— with fixed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0: hedging net bias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combined_clean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net_commercial =</a:t>
            </a:r>
            <a:r>
              <a:rPr>
                <a:solidFill>
                  <a:srgbClr val="003B4F"/>
                </a:solidFill>
                <a:latin typeface="Courier"/>
              </a:rPr>
              <a:t> commercial_longs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commercial_shorts)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1: simple LM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simple_lm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(simple_lm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2: + asset fixed effects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fe_asset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(fe_asset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3: + asset &amp; year fixed effects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fe_asset_year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(fe_asset_year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 b="1"/>
              <a:t>Why fixed effects</a:t>
            </a:r>
          </a:p>
          <a:p>
            <a:pPr lvl="0"/>
            <a:r>
              <a:rPr sz="2000"/>
              <a:t>Absorb group-specific means → estimate </a:t>
            </a:r>
            <a:r>
              <a:rPr sz="2000" b="1"/>
              <a:t>within-group</a:t>
            </a:r>
            <a:r>
              <a:rPr sz="2000"/>
              <a:t> variation.</a:t>
            </a:r>
          </a:p>
          <a:p>
            <a:pPr lvl="0"/>
            <a:r>
              <a:rPr sz="2000"/>
              <a:t>Control for time-invariant confounders.</a:t>
            </a:r>
          </a:p>
          <a:p>
            <a:pPr lvl="0"/>
            <a:r>
              <a:rPr sz="2000"/>
              <a:t>Reduce omitted-variable bias.</a:t>
            </a:r>
          </a:p>
          <a:p>
            <a:pPr lvl="0"/>
            <a:r>
              <a:rPr sz="2000"/>
              <a:t>Limitation: cannot estimate group effects themselves; for time-varying interactions use </a:t>
            </a:r>
            <a:r>
              <a:rPr sz="2000">
                <a:latin typeface="Courier"/>
              </a:rPr>
              <a:t>Year * Asset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Clustered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(sandwich);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HC1 clustered by Year — robust to heteroskedasticity &amp; intra-cluster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(simple_lm,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(simple_lm,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(clustered_se)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plot — check linearity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(simple_lm)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(simple_lm))</a:t>
            </a:r>
          </a:p>
          <a:p>
            <a:pPr lvl="0" indent="0" marL="1270000">
              <a:buNone/>
            </a:pPr>
            <a:r>
              <a:rPr sz="2000" b="1"/>
              <a:t>Why clustered SEs</a:t>
            </a:r>
          </a:p>
          <a:p>
            <a:pPr lvl="0"/>
            <a:r>
              <a:rPr sz="2000"/>
              <a:t>Adjust for </a:t>
            </a:r>
            <a:r>
              <a:rPr sz="2000" b="1"/>
              <a:t>intra-group correlation</a:t>
            </a:r>
            <a:r>
              <a:rPr sz="2000"/>
              <a:t> (e.g., observations in the same year).</a:t>
            </a:r>
          </a:p>
          <a:p>
            <a:pPr lvl="0"/>
            <a:r>
              <a:rPr sz="2000"/>
              <a:t>Wider SEs may make p-values larger (e.g., 0.01 → 0.05) — conservative inference.</a:t>
            </a:r>
          </a:p>
          <a:p>
            <a:pPr lvl="0"/>
            <a:r>
              <a:rPr sz="2000"/>
              <a:t>Need ≥ 20 clusters; bootstrap for fewer.</a:t>
            </a:r>
          </a:p>
          <a:p>
            <a:pPr lvl="0"/>
            <a:r>
              <a:rPr sz="2000"/>
              <a:t>Always specify in your write-up: </a:t>
            </a:r>
            <a:r>
              <a:rPr sz="2000" i="1"/>
              <a:t>“SEs clustered at the year level to account for intra-year correlation and heteroskedasticity.”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Exporting results — </a:t>
            </a:r>
            <a:r>
              <a:rPr>
                <a:latin typeface="Courier"/>
              </a:rPr>
              <a:t>stargazer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(stargazer)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clustered SEs for each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clustered_se_simple       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(simple_lm,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(simple_lm,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clustered_se_fe_asset     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(fe_asset,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(fe_asset,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clustered_se_fe_asset_year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(fe_asset_year,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(fe_asset_year,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Build LaTeX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stargazer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simple_lm, fe_asset, fe_asset_year,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"latex"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out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"regression_table.tex"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dep.var.caption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"Effects on Net Longs (Post-2021 Data)"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"tab:regression_net"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dep.var.labels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"Non-Commercial Longs"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covariate.labels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"Commercial Longs"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omit.stat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star.char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"*"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"**"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"***"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star.cutoffs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add.lines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"Asset FE"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"Year FE"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model.numbers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table.placement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(clustered_se_simple[,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clustered_se_fe_asset[,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clustered_se_fe_asset_year[,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stargazer</a:t>
            </a:r>
            <a:r>
              <a:rPr sz="2000"/>
              <a:t> produces clean LaTeX/HTML/ASCII regression tables — multiple models side by side, plus summary tables for data frames, vectors, matrices.</a:t>
            </a:r>
          </a:p>
          <a:p>
            <a:pPr lvl="0" indent="0" marL="1270000">
              <a:buNone/>
            </a:pPr>
            <a:r>
              <a:rPr sz="2000" b="1"/>
              <a:t>Reporting</a:t>
            </a:r>
          </a:p>
          <a:p>
            <a:pPr lvl="0" indent="0" marL="1270000">
              <a:buNone/>
            </a:pPr>
            <a:r>
              <a:rPr sz="2000"/>
              <a:t>Always report </a:t>
            </a:r>
            <a:r>
              <a:rPr sz="2000" b="1"/>
              <a:t>R²</a:t>
            </a:r>
            <a:r>
              <a:rPr sz="2000"/>
              <a:t>, </a:t>
            </a:r>
            <a:r>
              <a:rPr sz="2000" b="1"/>
              <a:t>N</a:t>
            </a:r>
            <a:r>
              <a:rPr sz="2000"/>
              <a:t>, and </a:t>
            </a:r>
            <a:r>
              <a:rPr sz="2000" b="1"/>
              <a:t>p-values</a:t>
            </a:r>
            <a:r>
              <a:rPr sz="2000"/>
              <a:t>: </a:t>
            </a:r>
            <a:r>
              <a:rPr sz="2000" i="1"/>
              <a:t>“All models include year and asset fixed effects; \\\* p &lt; 0.01, \\ p &lt; 0.05, \* p &lt; 0.1.”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Discussion of Assignment I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Problem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 — Prepare your data</a:t>
            </a:r>
          </a:p>
          <a:p>
            <a:pPr lvl="0" indent="-457200" marL="457200">
              <a:buAutoNum type="alphaLcPeriod"/>
            </a:pPr>
            <a:r>
              <a:rPr b="1"/>
              <a:t>Get the data:</a:t>
            </a:r>
            <a:r>
              <a:rPr/>
              <a:t> create </a:t>
            </a:r>
            <a:r>
              <a:rPr>
                <a:latin typeface="Courier"/>
              </a:rPr>
              <a:t>.R</a:t>
            </a:r>
            <a:r>
              <a:rPr/>
              <a:t> script, load libraries, set API key, load Quandl futures data (gold, silver, BTC, ETH). Merge by date into </a:t>
            </a:r>
            <a:r>
              <a:rPr>
                <a:latin typeface="Courier"/>
              </a:rPr>
              <a:t>merged_*</a:t>
            </a:r>
            <a:r>
              <a:rPr/>
              <a:t>, drop NAs, sort ascending by date.</a:t>
            </a:r>
          </a:p>
          <a:p>
            <a:pPr lvl="0" indent="-457200" marL="457200">
              <a:buAutoNum type="alphaLcPeriod"/>
            </a:pPr>
            <a:r>
              <a:rPr b="1"/>
              <a:t>Understand the data:</a:t>
            </a:r>
            <a:r>
              <a:rPr/>
              <a:t> read Nasdaq &amp; CFTC sources; write 3–5 sentences for your “Data” section.</a:t>
            </a:r>
          </a:p>
          <a:p>
            <a:pPr lvl="0" indent="-457200" marL="457200">
              <a:buAutoNum type="alphaLcPeriod"/>
            </a:pPr>
            <a:r>
              <a:rPr b="1"/>
              <a:t>Join data sets:</a:t>
            </a:r>
            <a:r>
              <a:rPr/>
              <a:t> combine into </a:t>
            </a:r>
            <a:r>
              <a:rPr>
                <a:latin typeface="Courier"/>
              </a:rPr>
              <a:t>combined</a:t>
            </a:r>
            <a:r>
              <a:rPr/>
              <a:t>, with an </a:t>
            </a:r>
            <a:r>
              <a:rPr>
                <a:latin typeface="Courier"/>
              </a:rPr>
              <a:t>Asset</a:t>
            </a:r>
            <a:r>
              <a:rPr/>
              <a:t> variable.</a:t>
            </a:r>
          </a:p>
          <a:p>
            <a:pPr lvl="0" indent="-457200" marL="457200">
              <a:buAutoNum type="alphaLcPeriod"/>
            </a:pPr>
            <a:r>
              <a:rPr b="1"/>
              <a:t>Clean &amp; transform:</a:t>
            </a:r>
            <a:r>
              <a:rPr/>
              <a:t> filter post-1 April 2021, save as </a:t>
            </a:r>
            <a:r>
              <a:rPr>
                <a:latin typeface="Courier"/>
              </a:rPr>
              <a:t>combined_clean</a:t>
            </a:r>
            <a:r>
              <a:rPr/>
              <a:t>. Derive </a:t>
            </a:r>
            <a:r>
              <a:rPr i="1"/>
              <a:t>Net Long Position</a:t>
            </a:r>
            <a:r>
              <a:rPr/>
              <a:t> per trader type, </a:t>
            </a:r>
            <a:r>
              <a:rPr i="1"/>
              <a:t>Weekly Change</a:t>
            </a:r>
            <a:r>
              <a:rPr/>
              <a:t>, and </a:t>
            </a:r>
            <a:r>
              <a:rPr>
                <a:latin typeface="Courier"/>
              </a:rPr>
              <a:t>Year</a:t>
            </a:r>
            <a:r>
              <a:rPr/>
              <a:t>/</a:t>
            </a:r>
            <a:r>
              <a:rPr>
                <a:latin typeface="Courier"/>
              </a:rPr>
              <a:t>Quarter</a:t>
            </a:r>
            <a:r>
              <a:rPr/>
              <a:t>/</a:t>
            </a:r>
            <a:r>
              <a:rPr>
                <a:latin typeface="Courier"/>
              </a:rPr>
              <a:t>Month</a:t>
            </a:r>
            <a:r>
              <a:rPr/>
              <a:t> indicators.</a:t>
            </a:r>
          </a:p>
          <a:p>
            <a:pPr lvl="0" indent="-457200" marL="457200">
              <a:buAutoNum type="alphaLcPeriod"/>
            </a:pPr>
            <a:r>
              <a:rPr b="1"/>
              <a:t>Descriptive analysis:</a:t>
            </a:r>
            <a:r>
              <a:rPr/>
              <a:t> mean, sd, min, P10, median, P90, max — table for the </a:t>
            </a:r>
            <a:r>
              <a:rPr i="1"/>
              <a:t>Data</a:t>
            </a:r>
            <a:r>
              <a:rPr/>
              <a:t> section.</a:t>
            </a:r>
          </a:p>
          <a:p>
            <a:pPr lvl="0" indent="-457200" marL="457200">
              <a:buAutoNum type="alphaLcPeriod"/>
            </a:pPr>
            <a:r>
              <a:rPr b="1"/>
              <a:t>Analysis &amp; plot:</a:t>
            </a:r>
            <a:r>
              <a:rPr/>
              <a:t> discuss patterns; implement min. </a:t>
            </a:r>
            <a:r>
              <a:rPr b="1"/>
              <a:t>two</a:t>
            </a:r>
            <a:r>
              <a:rPr/>
              <a:t> </a:t>
            </a:r>
            <a:r>
              <a:rPr>
                <a:latin typeface="Courier"/>
              </a:rPr>
              <a:t>ggplot</a:t>
            </a:r>
            <a:r>
              <a:rPr/>
              <a:t> plots with 4–5 sentences 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 — Write a paper</a:t>
            </a:r>
          </a:p>
          <a:p>
            <a:pPr lvl="0" indent="-457200" marL="457200">
              <a:buAutoNum type="alphaLcPeriod"/>
            </a:pPr>
            <a:r>
              <a:rPr b="1"/>
              <a:t>Define a research question:</a:t>
            </a:r>
            <a:r>
              <a:rPr/>
              <a:t> simple, testable RQ from your patterns (e.g., “Do crypto assets show higher Net Long Position volatility?”). Briefly motivate in </a:t>
            </a:r>
            <a:r>
              <a:rPr i="1"/>
              <a:t>Introduction</a:t>
            </a:r>
            <a:r>
              <a:rPr/>
              <a:t> (≥ 0.5 page).</a:t>
            </a:r>
          </a:p>
          <a:p>
            <a:pPr lvl="0" indent="-457200" marL="457200">
              <a:buAutoNum type="alphaLcPeriod"/>
            </a:pPr>
            <a:r>
              <a:rPr b="1"/>
              <a:t>Literature review:</a:t>
            </a:r>
            <a:r>
              <a:rPr/>
              <a:t> 1–2 papers to build on (3–4 sentences, ≥ 0.5 page).</a:t>
            </a:r>
          </a:p>
          <a:p>
            <a:pPr lvl="0" indent="-457200" marL="457200">
              <a:buAutoNum type="alphaLcPeriod"/>
            </a:pPr>
            <a:r>
              <a:rPr b="1"/>
              <a:t>Define your approach:</a:t>
            </a:r>
            <a:r>
              <a:rPr/>
              <a:t> how you will answer, why it makes sense (≥ 0.5 page).</a:t>
            </a:r>
          </a:p>
          <a:p>
            <a:pPr lvl="0" indent="-457200" marL="457200">
              <a:buAutoNum type="alphaLcPeriod"/>
            </a:pPr>
            <a:r>
              <a:rPr b="1"/>
              <a:t>Report insights:</a:t>
            </a:r>
            <a:r>
              <a:rPr/>
              <a:t> </a:t>
            </a:r>
            <a:r>
              <a:rPr i="1"/>
              <a:t>Results</a:t>
            </a:r>
            <a:r>
              <a:rPr/>
              <a:t> (≥ 1.5 pages), min. </a:t>
            </a:r>
            <a:r>
              <a:rPr b="1"/>
              <a:t>two</a:t>
            </a:r>
            <a:r>
              <a:rPr/>
              <a:t> LaTeX tables via </a:t>
            </a:r>
            <a:r>
              <a:rPr>
                <a:latin typeface="Courier"/>
              </a:rPr>
              <a:t>stargazer</a:t>
            </a:r>
            <a:r>
              <a:rPr/>
              <a:t> (academic style) and min. </a:t>
            </a:r>
            <a:r>
              <a:rPr b="1"/>
              <a:t>2</a:t>
            </a:r>
            <a:r>
              <a:rPr/>
              <a:t> captioned plots.</a:t>
            </a:r>
          </a:p>
          <a:p>
            <a:pPr lvl="0" indent="-457200" marL="457200">
              <a:buAutoNum type="alphaLcPeriod"/>
            </a:pPr>
            <a:r>
              <a:rPr b="1"/>
              <a:t>Explain &amp; discuss:</a:t>
            </a:r>
            <a:r>
              <a:rPr/>
              <a:t> </a:t>
            </a:r>
            <a:r>
              <a:rPr i="1"/>
              <a:t>Conclusion</a:t>
            </a:r>
            <a:r>
              <a:rPr/>
              <a:t> (≥ 0.5 page) — implications, quality vs length.</a:t>
            </a:r>
          </a:p>
          <a:p>
            <a:pPr lvl="0" indent="0" marL="1270000">
              <a:buNone/>
            </a:pPr>
            <a:r>
              <a:rPr sz="2000"/>
              <a:t>Use the </a:t>
            </a:r>
            <a:r>
              <a:rPr sz="2000" b="1"/>
              <a:t>Overleaf template</a:t>
            </a:r>
            <a:r>
              <a:rPr sz="2000"/>
              <a:t> on Moodle. Page minima per section: Intro 0.5, Lit 0.5, Method 0.5, Data 1.5, Results 1.5, Conclusion 0.5.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submission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</a:t>
            </a:r>
          </a:p>
          <a:p>
            <a:pPr lvl="0" indent="0" marL="0">
              <a:buNone/>
            </a:pPr>
            <a:r>
              <a:rPr/>
              <a:t>Solve the problem set posted on Moodle, building on Lectures 1–3.</a:t>
            </a:r>
          </a:p>
          <a:p>
            <a:pPr lvl="0" indent="0" marL="0">
              <a:buNone/>
            </a:pPr>
            <a:r>
              <a:rPr b="1"/>
              <a:t>Submit ONLY two files:</a:t>
            </a:r>
          </a:p>
          <a:p>
            <a:pPr lvl="0" indent="-457200" marL="4572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.R</a:t>
            </a:r>
            <a:r>
              <a:rPr/>
              <a:t> script — well-commented, self-explanatory, efficient (meaningful names, functions for repetition, avoid for-loops). Include text/comments answering Exercise 1 </a:t>
            </a:r>
            <a:r>
              <a:rPr i="1"/>
              <a:t>and</a:t>
            </a:r>
            <a:r>
              <a:rPr/>
              <a:t> 2.</a:t>
            </a:r>
          </a:p>
          <a:p>
            <a:pPr lvl="0" indent="-457200" marL="457200">
              <a:buAutoNum type="arabicPeriod"/>
            </a:pPr>
            <a:r>
              <a:rPr/>
              <a:t>One PDF compiled from the Overleaf template — outputs from your </a:t>
            </a:r>
            <a:r>
              <a:rPr>
                <a:latin typeface="Courier"/>
              </a:rPr>
              <a:t>.R</a:t>
            </a:r>
            <a:r>
              <a:rPr/>
              <a:t> script (plots, calculations), </a:t>
            </a:r>
            <a:r>
              <a:rPr>
                <a:latin typeface="Courier"/>
              </a:rPr>
              <a:t>stargazer</a:t>
            </a:r>
            <a:r>
              <a:rPr/>
              <a:t> LaTeX tables, captioned plots, written text. </a:t>
            </a:r>
            <a:r>
              <a:rPr b="1"/>
              <a:t>11 pt Times New Roman, 1.5 spaced.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</a:t>
            </a:r>
          </a:p>
          <a:p>
            <a:pPr lvl="0"/>
            <a:r>
              <a:rPr/>
              <a:t>Work in </a:t>
            </a:r>
            <a:r>
              <a:rPr b="1"/>
              <a:t>teams of up to 5</a:t>
            </a:r>
            <a:r>
              <a:rPr/>
              <a:t> students.</a:t>
            </a:r>
          </a:p>
          <a:p>
            <a:pPr lvl="0"/>
            <a:r>
              <a:rPr b="1"/>
              <a:t>50% of the final grade.</a:t>
            </a:r>
            <a:r>
              <a:rPr/>
              <a:t> Evaluated on code quality, creativity (plots/RQ), writing (concise, skim-friendly, with economic justifications).</a:t>
            </a:r>
          </a:p>
          <a:p>
            <a:pPr lvl="0"/>
            <a:r>
              <a:rPr b="1"/>
              <a:t>Deadline:</a:t>
            </a:r>
            <a:r>
              <a:rPr/>
              <a:t> </a:t>
            </a:r>
            <a:r>
              <a:rPr b="1"/>
              <a:t>19 January 2026 (midnight)</a:t>
            </a:r>
            <a:r>
              <a:rPr/>
              <a:t>. Email files to </a:t>
            </a:r>
            <a:r>
              <a:rPr>
                <a:hlinkClick r:id="rId2"/>
              </a:rPr>
              <a:t>oliver.padmaperuma@uni-ulm.de</a:t>
            </a:r>
            <a:r>
              <a:rPr/>
              <a:t>, with </a:t>
            </a:r>
            <a:r>
              <a:rPr>
                <a:hlinkClick r:id="rId3"/>
              </a:rPr>
              <a:t>andre.guettler@uni-ulm.de</a:t>
            </a:r>
            <a:r>
              <a:rPr/>
              <a:t> and your teammates in CC.</a:t>
            </a:r>
          </a:p>
          <a:p>
            <a:pPr lvl="0"/>
            <a:r>
              <a:rPr/>
              <a:t>Subject / file pattern: </a:t>
            </a:r>
            <a:r>
              <a:rPr b="1">
                <a:latin typeface="Courier"/>
              </a:rPr>
              <a:t>RiF_ProblemSet_surname1_surname2_...</a:t>
            </a:r>
          </a:p>
          <a:p>
            <a:pPr lvl="0"/>
            <a:r>
              <a:rPr/>
              <a:t>If attachments are too large, share a cloud link in the email body.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Descriptive statistics</a:t>
            </a:r>
          </a:p>
          <a:p>
            <a:pPr lvl="0"/>
            <a:r>
              <a:rPr/>
              <a:t>Distribution plots</a:t>
            </a:r>
          </a:p>
          <a:p>
            <a:pPr lvl="0"/>
            <a:r>
              <a:rPr/>
              <a:t>Correlation matrix &amp; test</a:t>
            </a:r>
          </a:p>
          <a:p>
            <a:pPr lvl="0"/>
            <a:r>
              <a:rPr/>
              <a:t>t-Test, Wilcoxon test</a:t>
            </a:r>
          </a:p>
          <a:p>
            <a:pPr lvl="0"/>
            <a:r>
              <a:rPr/>
              <a:t>Shapiro-Wilk, KS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Linear regression</a:t>
            </a:r>
          </a:p>
          <a:p>
            <a:pPr lvl="0"/>
            <a:r>
              <a:rPr/>
              <a:t>Fixed effects</a:t>
            </a:r>
          </a:p>
          <a:p>
            <a:pPr lvl="0"/>
            <a:r>
              <a:rPr/>
              <a:t>Clustered standard errors</a:t>
            </a:r>
          </a:p>
          <a:p>
            <a:pPr lvl="0"/>
            <a:r>
              <a:rPr/>
              <a:t>Exporting tables (</a:t>
            </a:r>
            <a:r>
              <a:rPr>
                <a:latin typeface="Courier"/>
              </a:rPr>
              <a:t>stargazer</a:t>
            </a:r>
            <a:r>
              <a:rPr/>
              <a:t>)</a:t>
            </a:r>
          </a:p>
          <a:p>
            <a:pPr lvl="0"/>
            <a:r>
              <a:rPr/>
              <a:t>Assignment I — Problem Set briefing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Angrist and Pischke (2009) — the standard graduate text on identification and causal inference in empirical economics.</a:t>
            </a:r>
          </a:p>
          <a:p>
            <a:pPr lvl="0"/>
            <a:r>
              <a:rPr/>
              <a:t>Thulin (2024) — modern statistical methods worked through in R, free at </a:t>
            </a:r>
            <a:r>
              <a:rPr>
                <a:hlinkClick r:id="rId2"/>
              </a:rPr>
              <a:t>https://www.modernstatisticswithr.com/</a:t>
            </a:r>
            <a:r>
              <a:rPr/>
              <a:t>.</a:t>
            </a:r>
          </a:p>
          <a:p>
            <a:pPr lvl="0"/>
            <a:r>
              <a:rPr/>
              <a:t>Navarro (2015) — accessible introduction to statistics with R, free at </a:t>
            </a:r>
            <a:r>
              <a:rPr>
                <a:hlinkClick r:id="rId3"/>
              </a:rPr>
              <a:t>https://learningstatisticswithr.com/</a:t>
            </a:r>
            <a:r>
              <a:rPr/>
              <a:t>.</a:t>
            </a:r>
          </a:p>
          <a:p>
            <a:pPr lvl="0"/>
            <a:r>
              <a:rPr/>
              <a:t>Gentle (2020) — applied statistical analysis on financial data, with R examples.</a:t>
            </a:r>
          </a:p>
          <a:p>
            <a:pPr lvl="0"/>
            <a:r>
              <a:rPr/>
              <a:t>James et al. (2021) — covers regression, model selection, resampling, and tree-based methods.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Document today’s code</a:t>
            </a:r>
            <a:r>
              <a:rPr/>
              <a:t> in a clean way and save as an </a:t>
            </a:r>
            <a:r>
              <a:rPr>
                <a:latin typeface="Courier"/>
              </a:rPr>
              <a:t>.Rmd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Lecture 4:</a:t>
            </a:r>
            <a:r>
              <a:rPr sz="2000"/>
              <a:t> Academic publishing and refereeing — what makes a great empirical paper, the publication process, how to write a referee report.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Angrist, Joshua D., and Jörn-Steffen Pischke. 2009. </a:t>
            </a:r>
            <a:r>
              <a:rPr i="1"/>
              <a:t>Mostly Harmless Econometrics: An Empiricist’s Companion</a:t>
            </a:r>
            <a:r>
              <a:rPr/>
              <a:t>. Princeton, NJ: Princeton University Press. </a:t>
            </a:r>
            <a:r>
              <a:rPr>
                <a:hlinkClick r:id="rId2"/>
              </a:rPr>
              <a:t>https://press.princeton.edu/books/paperback/9780691120355/mostly-harmless-econometrics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Gentle, James E. 2020. </a:t>
            </a:r>
            <a:r>
              <a:rPr i="1"/>
              <a:t>Statistical Analysis of Financial Data: With Examples in R</a:t>
            </a:r>
            <a:r>
              <a:rPr/>
              <a:t>. Boca Raton, FL: CRC Press.</a:t>
            </a:r>
          </a:p>
          <a:p>
            <a:pPr lvl="0" indent="0" marL="0">
              <a:buNone/>
            </a:pPr>
            <a:r>
              <a:rPr/>
              <a:t>James, Gareth, Daniela Witten, Trevor Hastie, and Robert Tibshirani. 2021. </a:t>
            </a:r>
            <a:r>
              <a:rPr i="1"/>
              <a:t>An Introduction to Statistical Learning with Applications in R</a:t>
            </a:r>
            <a:r>
              <a:rPr/>
              <a:t>. 2nd ed. New York, NY: Springer. </a:t>
            </a:r>
            <a:r>
              <a:rPr>
                <a:hlinkClick r:id="rId3"/>
              </a:rPr>
              <a:t>https://www.statlearning.com/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Navarro, Daniel J. 2015. </a:t>
            </a:r>
            <a:r>
              <a:rPr i="1"/>
              <a:t>Learning Statistics with R</a:t>
            </a:r>
            <a:r>
              <a:rPr/>
              <a:t>. </a:t>
            </a:r>
            <a:r>
              <a:rPr>
                <a:hlinkClick r:id="rId4"/>
              </a:rPr>
              <a:t>https://learningstatisticswithr.com/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Thulin, Måns. 2024. </a:t>
            </a:r>
            <a:r>
              <a:rPr i="1"/>
              <a:t>Modern Statistics with R</a:t>
            </a:r>
            <a:r>
              <a:rPr/>
              <a:t>. </a:t>
            </a:r>
            <a:r>
              <a:rPr>
                <a:hlinkClick r:id="rId5"/>
              </a:rPr>
              <a:t>https://www.modernstatisticswithr.com/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Statistical Analysis</dc:title>
  <dc:creator>Prof. Dr. Andre Guettler; Oliver Padmaperuma</dc:creator>
  <cp:keywords/>
  <dcterms:created xsi:type="dcterms:W3CDTF">2026-04-30T09:12:14Z</dcterms:created>
  <dcterms:modified xsi:type="dcterms:W3CDTF">2026-04-30T09:12:14Z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2025-11-12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Descriptive · inferential · modelling — applied in R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3</vt:lpwstr>
  </property>
</Properties>
</file>