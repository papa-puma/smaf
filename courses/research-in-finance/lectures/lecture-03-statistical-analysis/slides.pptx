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oliver.padmaperuma@uni-ulm.de" TargetMode="External" /><Relationship Id="rId3" Type="http://schemas.openxmlformats.org/officeDocument/2006/relationships/hyperlink" Target="mailto:andre.guettler@uni-ulm.de" TargetMode="Externa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ress.princeton.edu/books/paperback/9780691120355/mostly-harmless-econometrics" TargetMode="External" /><Relationship Id="rId3" Type="http://schemas.openxmlformats.org/officeDocument/2006/relationships/hyperlink" Target="https://www.modernstatisticswithr.com/" TargetMode="External" /><Relationship Id="rId4" Type="http://schemas.openxmlformats.org/officeDocument/2006/relationships/hyperlink" Target="https://learningstatisticswithr.com/" TargetMode="External" /><Relationship Id="rId5" Type="http://schemas.openxmlformats.org/officeDocument/2006/relationships/hyperlink" Target="https://www.statlearning.com/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3: Statistical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· inferential · modelling — applied in R</a:t>
            </a:r>
            <a:br/>
            <a:br/>
            <a:r>
              <a:rPr/>
              <a:t>Prof. Dr. Andre Guettler</a:t>
            </a:r>
            <a:br/>
            <a:r>
              <a:rPr/>
              <a:t>Oliver Padmaperuma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Recap from Lecture 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covered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is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for?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 syntax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API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remote data via authenticated queries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Fetching CFTC time series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Quandl.api_key("…"); Quandl.datatable("QDL/LFON", …)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Import &amp; cleanse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files (CSV) and initial transforms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 formatting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read_csv() %&gt;% mutate(date = as.Date(date))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Merge &amp; append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 by keys (</a:t>
                      </a:r>
                      <a:r>
                        <a:rPr>
                          <a:latin typeface="Courier"/>
                        </a:rPr>
                        <a:t>merge</a:t>
                      </a:r>
                      <a:r>
                        <a:rPr/>
                        <a:t>) or stack (</a:t>
                      </a:r>
                      <a:r>
                        <a:rPr>
                          <a:latin typeface="Courier"/>
                        </a:rPr>
                        <a:t>bind_rows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Multi-asset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merge(d1, d2, by="date")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bind_rows(...)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Filter &amp; mutate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Subset rows, derive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Post-2021 windows, net longs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filter(date &gt; "2021-01-01") %&gt;% mutate(net = longs - shorts)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Group &amp; summarise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 categories, aggregate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means / SD per asset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group_by(Asset, Year) %&gt;% summarise(...)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Pivot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Reshape wide ⇄ long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Correlation matrices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Visualization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Layered plotting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Publication-ready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ggplot() + geom_line() + theme_minimal()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Live Coding Session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 of basic statistical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Probability theory</a:t>
            </a:r>
          </a:p>
          <a:p>
            <a:pPr lvl="0"/>
            <a:r>
              <a:rPr/>
              <a:t>Sample spaces and events</a:t>
            </a:r>
          </a:p>
          <a:p>
            <a:pPr lvl="0"/>
            <a:r>
              <a:rPr/>
              <a:t>Random variables</a:t>
            </a:r>
          </a:p>
          <a:p>
            <a:pPr lvl="0"/>
            <a:r>
              <a:rPr/>
              <a:t>Expectations and moments</a:t>
            </a:r>
          </a:p>
          <a:p>
            <a:pPr lvl="0"/>
            <a:r>
              <a:rPr/>
              <a:t>Inequalities</a:t>
            </a:r>
          </a:p>
          <a:p>
            <a:pPr lvl="0"/>
            <a:r>
              <a:rPr/>
              <a:t>Convergence concepts</a:t>
            </a:r>
          </a:p>
          <a:p>
            <a:pPr lvl="0"/>
            <a:r>
              <a:rPr/>
              <a:t>Distributions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Descriptive statistics</a:t>
            </a:r>
          </a:p>
          <a:p>
            <a:pPr lvl="0"/>
            <a:r>
              <a:rPr/>
              <a:t>Sampling</a:t>
            </a:r>
          </a:p>
          <a:p>
            <a:pPr lvl="0"/>
            <a:r>
              <a:rPr/>
              <a:t>Missing-value handling</a:t>
            </a:r>
          </a:p>
          <a:p>
            <a:pPr lvl="0"/>
            <a:r>
              <a:rPr/>
              <a:t>Central tendency, dispersion, shape</a:t>
            </a:r>
          </a:p>
          <a:p>
            <a:pPr lvl="0"/>
            <a:r>
              <a:rPr/>
              <a:t>Data summarization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Inferential statistics</a:t>
            </a:r>
          </a:p>
          <a:p>
            <a:pPr lvl="0"/>
            <a:r>
              <a:rPr/>
              <a:t>Point and interval estimation</a:t>
            </a:r>
          </a:p>
          <a:p>
            <a:pPr lvl="0"/>
            <a:r>
              <a:rPr/>
              <a:t>Hypothesis testing</a:t>
            </a:r>
          </a:p>
          <a:p>
            <a:pPr lvl="0"/>
            <a:r>
              <a:rPr/>
              <a:t>Non-parametric inference</a:t>
            </a:r>
          </a:p>
          <a:p>
            <a:pPr lvl="0"/>
            <a:r>
              <a:rPr/>
              <a:t>Bayesian inference</a:t>
            </a:r>
          </a:p>
          <a:p>
            <a:pPr lvl="0"/>
            <a:r>
              <a:rPr/>
              <a:t>Statistical decision theory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Statistical modelling</a:t>
            </a:r>
          </a:p>
          <a:p>
            <a:pPr lvl="0"/>
            <a:r>
              <a:rPr/>
              <a:t>Regression analysis</a:t>
            </a:r>
          </a:p>
          <a:p>
            <a:pPr lvl="0"/>
            <a:r>
              <a:rPr/>
              <a:t>Multivariate analysis</a:t>
            </a:r>
          </a:p>
          <a:p>
            <a:pPr lvl="0"/>
            <a:r>
              <a:rPr/>
              <a:t>ANOVA</a:t>
            </a:r>
          </a:p>
          <a:p>
            <a:pPr lvl="0"/>
            <a:r>
              <a:rPr/>
              <a:t>Time series &amp; stochastic processes</a:t>
            </a:r>
          </a:p>
          <a:p>
            <a:pPr lvl="0"/>
            <a:r>
              <a:rPr/>
              <a:t>Survival analysis</a:t>
            </a:r>
          </a:p>
          <a:p>
            <a:pPr lvl="0"/>
            <a:r>
              <a:rPr/>
              <a:t>Causal inference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Practical advice</a:t>
            </a:r>
          </a:p>
          <a:p>
            <a:pPr lvl="0" indent="0" marL="1270000">
              <a:buNone/>
            </a:pPr>
            <a:r>
              <a:rPr sz="2000"/>
              <a:t>Always </a:t>
            </a:r>
            <a:r>
              <a:rPr sz="2000" b="1"/>
              <a:t>start</a:t>
            </a:r>
            <a:r>
              <a:rPr sz="2000"/>
              <a:t> with a thorough </a:t>
            </a:r>
            <a:r>
              <a:rPr sz="2000" b="1"/>
              <a:t>descriptive analysis</a:t>
            </a:r>
            <a:r>
              <a:rPr sz="2000"/>
              <a:t> to deeply understand your data before turning to advanced methods.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Deep-dive —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it?</a:t>
            </a:r>
          </a:p>
          <a:p>
            <a:pPr lvl="0"/>
            <a:r>
              <a:rPr/>
              <a:t>Summarises and organises raw data into meaningful patterns using averages, spreads, and visualisations.</a:t>
            </a:r>
          </a:p>
          <a:p>
            <a:pPr lvl="0"/>
            <a:r>
              <a:rPr/>
              <a:t>Presents data </a:t>
            </a:r>
            <a:r>
              <a:rPr b="1"/>
              <a:t>without</a:t>
            </a:r>
            <a:r>
              <a:rPr/>
              <a:t> drawing conclusions beyond the dataset (histograms, box plots).</a:t>
            </a:r>
          </a:p>
          <a:p>
            <a:pPr lvl="0"/>
            <a:r>
              <a:rPr/>
              <a:t>Includes data-type categorisation and basic central-tendency / variability statistics.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is it used for?</a:t>
            </a:r>
          </a:p>
          <a:p>
            <a:pPr lvl="0"/>
            <a:r>
              <a:rPr/>
              <a:t>Initial overview — trends, outliers, patterns before deeper analysis.</a:t>
            </a:r>
          </a:p>
          <a:p>
            <a:pPr lvl="0"/>
            <a:r>
              <a:rPr/>
              <a:t>Communicating findings to non-experts.</a:t>
            </a:r>
          </a:p>
          <a:p>
            <a:pPr lvl="0"/>
            <a:r>
              <a:rPr/>
              <a:t>Data cleaning and quality checks.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blocks</a:t>
            </a:r>
          </a:p>
          <a:p>
            <a:pPr lvl="0"/>
            <a:r>
              <a:rPr b="1"/>
              <a:t>Sampling</a:t>
            </a:r>
            <a:r>
              <a:rPr/>
              <a:t> — methods, survey design, data types (nominal, ordinal, interval, ratio).</a:t>
            </a:r>
          </a:p>
          <a:p>
            <a:pPr lvl="0"/>
            <a:r>
              <a:rPr b="1"/>
              <a:t>Missing values</a:t>
            </a:r>
            <a:r>
              <a:rPr/>
              <a:t> — imputation, prediction, elimination.</a:t>
            </a:r>
          </a:p>
          <a:p>
            <a:pPr lvl="0"/>
            <a:r>
              <a:rPr b="1"/>
              <a:t>Central tendency</a:t>
            </a:r>
            <a:r>
              <a:rPr/>
              <a:t> — mean (arithmetic, geometric, harmonic), median, mode.</a:t>
            </a:r>
          </a:p>
          <a:p>
            <a:pPr lvl="0"/>
            <a:r>
              <a:rPr b="1"/>
              <a:t>Dispersion</a:t>
            </a:r>
            <a:r>
              <a:rPr/>
              <a:t> — variance, standard deviation, range, IQR, coefficient of variation.</a:t>
            </a:r>
          </a:p>
          <a:p>
            <a:pPr lvl="0"/>
            <a:r>
              <a:rPr b="1"/>
              <a:t>Shape &amp; symmetry</a:t>
            </a:r>
            <a:r>
              <a:rPr/>
              <a:t> — skewness, kurtosis, normality (Q-Q plots).</a:t>
            </a:r>
          </a:p>
          <a:p>
            <a:pPr lvl="0"/>
            <a:r>
              <a:rPr b="1"/>
              <a:t>Summarization</a:t>
            </a:r>
            <a:r>
              <a:rPr/>
              <a:t> — frequency distributions, histograms, box / stem-and-leaf / scatter plots, ECDF, quantiles, outliers.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— 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(dplyr)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Compact summary statistics per asset and per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desc_stats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(Asset, Net_Longs, market_participation)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Asset,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"Variable"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Variable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Variable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"Net_Longs"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Variable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"market_participation"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"Market Part."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(Asset, Variable)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(Value,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Std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(Value,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Min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(Value,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P10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(Value,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P50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(Value,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P90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quantile</a:t>
            </a:r>
            <a:r>
              <a:rPr>
                <a:solidFill>
                  <a:srgbClr val="003B4F"/>
                </a:solidFill>
                <a:latin typeface="Courier"/>
              </a:rPr>
              <a:t>(Value,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Max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(Value,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(desc_stats, </a:t>
            </a:r>
            <a:r>
              <a:rPr>
                <a:solidFill>
                  <a:srgbClr val="20794D"/>
                </a:solidFill>
                <a:latin typeface="Courier"/>
              </a:rPr>
              <a:t>"desc_stats_clean.csv"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Distribution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long_data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(Asset, Net_Longs, market_participation,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non_commercial_shorts, non_commercial_longs)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Asset,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"Variable"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(long_data,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Value,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transparent overlays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Variable,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"Faceted Density Plots: Distributions by Variable"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"distribution_plot.pdf"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Inferential statistics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it?</a:t>
            </a:r>
          </a:p>
          <a:p>
            <a:pPr lvl="0"/>
            <a:r>
              <a:rPr/>
              <a:t>Uses sample data to </a:t>
            </a:r>
            <a:r>
              <a:rPr b="1"/>
              <a:t>generalise / predict</a:t>
            </a:r>
            <a:r>
              <a:rPr/>
              <a:t> about a population, via estimation and testing.</a:t>
            </a:r>
          </a:p>
          <a:p>
            <a:pPr lvl="0"/>
            <a:r>
              <a:rPr/>
              <a:t>Probability-based methods: hypothesis tests, confidence intervals, p-values to quantify uncertainty.</a:t>
            </a:r>
          </a:p>
          <a:p>
            <a:pPr lvl="0"/>
            <a:r>
              <a:rPr/>
              <a:t>Covers </a:t>
            </a:r>
            <a:r>
              <a:rPr b="1"/>
              <a:t>parametric</a:t>
            </a:r>
            <a:r>
              <a:rPr/>
              <a:t> (assume distribution) and </a:t>
            </a:r>
            <a:r>
              <a:rPr b="1"/>
              <a:t>non-parametric</a:t>
            </a:r>
            <a:r>
              <a:rPr/>
              <a:t> approaches; Bayesian techniques update beliefs.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is it used for?</a:t>
            </a:r>
          </a:p>
          <a:p>
            <a:pPr lvl="0"/>
            <a:r>
              <a:rPr/>
              <a:t>Test hypotheses (e.g., does treatment have an effect?).</a:t>
            </a:r>
          </a:p>
          <a:p>
            <a:pPr lvl="0"/>
            <a:r>
              <a:rPr/>
              <a:t>Estimate population parameters from samples.</a:t>
            </a:r>
          </a:p>
          <a:p>
            <a:pPr lvl="0"/>
            <a:r>
              <a:rPr/>
              <a:t>Assess relationships and differences with controlled error rates.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blocks</a:t>
            </a:r>
          </a:p>
          <a:p>
            <a:pPr lvl="0"/>
            <a:r>
              <a:rPr b="1"/>
              <a:t>Point estimation</a:t>
            </a:r>
            <a:r>
              <a:rPr/>
              <a:t> — bias, variance, MSE; method of moments; MLE; asymptotic normality.</a:t>
            </a:r>
          </a:p>
          <a:p>
            <a:pPr lvl="0"/>
            <a:r>
              <a:rPr b="1"/>
              <a:t>Interval estimation</a:t>
            </a:r>
            <a:r>
              <a:rPr/>
              <a:t> — normal/t-based CIs; bootstrap; coverage probability.</a:t>
            </a:r>
          </a:p>
          <a:p>
            <a:pPr lvl="0"/>
            <a:r>
              <a:rPr b="1"/>
              <a:t>Hypothesis testing</a:t>
            </a:r>
            <a:r>
              <a:rPr/>
              <a:t> — null/alternative; test statistics &amp; p-values; type I/II errors; common tests (t, ANOVA, Wald, LR, χ², permutation, correlation); multiple-testing adjustments (Bonferroni, FDR); goodness-of-fit (KS, χ²).</a:t>
            </a:r>
          </a:p>
          <a:p>
            <a:pPr lvl="0"/>
            <a:r>
              <a:rPr b="1"/>
              <a:t>Non-parametric inference</a:t>
            </a:r>
            <a:r>
              <a:rPr/>
              <a:t> — rank tests (Wilcoxon, Mann-Whitney); sign tests; kernel density basics.</a:t>
            </a:r>
          </a:p>
          <a:p>
            <a:pPr lvl="0"/>
            <a:r>
              <a:rPr b="1"/>
              <a:t>Bayesian inference</a:t>
            </a:r>
            <a:r>
              <a:rPr/>
              <a:t> — priors/posteriors, Bayes’ theorem, conjugate priors, credible intervals, MCMC.</a:t>
            </a:r>
          </a:p>
          <a:p>
            <a:pPr lvl="0"/>
            <a:r>
              <a:rPr b="1"/>
              <a:t>Decision theory</a:t>
            </a:r>
            <a:r>
              <a:rPr/>
              <a:t> — loss/risk; minimax/Bayes estimators.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Inferential — correlation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(dplyr); </a:t>
            </a: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cor_matrix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(date, Asset, Net_Longs)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values_fill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use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"pairwise.complete.obs"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"pearson"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"Asset1"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Asset1,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Correlation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(Correlation,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(Correlation))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(cor_matrix,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Asset2,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Asset1,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Correlation))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Correlation),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scale_fill_gradient2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midpoint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limits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axis.text.x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 Matrix of Net Longs (Assets)"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"Negative values show decoupling (e.g., Gold vs Bitcoin in crises)"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Interpretation:</a:t>
            </a:r>
            <a:r>
              <a:rPr sz="2000"/>
              <a:t> values from −1 to 1; diagonal = 1 (self), off-diagonal = strength/direction. </a:t>
            </a:r>
            <a:r>
              <a:rPr sz="2000">
                <a:latin typeface="Courier"/>
              </a:rPr>
              <a:t>|r| &gt; 0.5</a:t>
            </a:r>
            <a:r>
              <a:rPr sz="2000"/>
              <a:t> strong; negative = inverse (hedging potential); low p-values confirm significance.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Inferential — Pearson correlation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gold_net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btc_net 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Full-dataset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full_test &lt;- </a:t>
            </a:r>
            <a:r>
              <a:rPr>
                <a:solidFill>
                  <a:srgbClr val="4758AB"/>
                </a:solidFill>
                <a:latin typeface="Courier"/>
              </a:rPr>
              <a:t>cor.test</a:t>
            </a:r>
            <a:r>
              <a:rPr>
                <a:solidFill>
                  <a:srgbClr val="003B4F"/>
                </a:solidFill>
                <a:latin typeface="Courier"/>
              </a:rPr>
              <a:t>(gold_net, btc_net)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(full_test)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e.g., r = -0.14, p = 0.03 — weak negative correlation, statistically significant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Crisis subset (2022)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crisis_gold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2022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crisis_btc 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2022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crisis_test &lt;- </a:t>
            </a:r>
            <a:r>
              <a:rPr>
                <a:solidFill>
                  <a:srgbClr val="4758AB"/>
                </a:solidFill>
                <a:latin typeface="Courier"/>
              </a:rPr>
              <a:t>cor.test</a:t>
            </a:r>
            <a:r>
              <a:rPr>
                <a:solidFill>
                  <a:srgbClr val="003B4F"/>
                </a:solidFill>
                <a:latin typeface="Courier"/>
              </a:rPr>
              <a:t>(crisis_gold, crisis_btc)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(crisis_test)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e.g., r = -0.06, p = 0.68 — not statistically significant</a:t>
            </a:r>
          </a:p>
          <a:p>
            <a:pPr lvl="0" indent="0" marL="1270000">
              <a:buNone/>
            </a:pPr>
            <a:r>
              <a:rPr sz="2000" b="1"/>
              <a:t>r ranges −1 to 1</a:t>
            </a:r>
            <a:r>
              <a:rPr sz="2000"/>
              <a:t>; </a:t>
            </a:r>
            <a:r>
              <a:rPr sz="2000">
                <a:latin typeface="Courier"/>
              </a:rPr>
              <a:t>|r| &gt; 0.5</a:t>
            </a:r>
            <a:r>
              <a:rPr sz="2000"/>
              <a:t> strong; </a:t>
            </a:r>
            <a:r>
              <a:rPr sz="2000">
                <a:latin typeface="Courier"/>
              </a:rPr>
              <a:t>p &lt; 0.05</a:t>
            </a:r>
            <a:r>
              <a:rPr sz="2000"/>
              <a:t> rejects H₀ (no association).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t-Test (compare means)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(broom)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trad_net  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"Silver"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crypto_net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"Ethereum"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Full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full_test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(trad_net, crypto_net)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(full_test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     </a:t>
            </a:r>
            <a:r>
              <a:rPr>
                <a:solidFill>
                  <a:srgbClr val="5E5E5E"/>
                </a:solidFill>
                <a:latin typeface="Courier"/>
              </a:rPr>
              <a:t># tidy = clean table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p &lt; 0.05 → crypto means differ from traditional means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Crisis subset (2022)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crisis_data     &lt;- combined_clean[combined_clean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2022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non_crisis_data &lt;- combined_clean[combined_clean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2022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crisis_test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(crisis_data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Net_Longs, non_crisis_data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(crisis_test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  <a:p>
            <a:pPr lvl="0" indent="0" marL="1270000">
              <a:buNone/>
            </a:pPr>
            <a:r>
              <a:rPr sz="2000" b="1"/>
              <a:t>Parametric</a:t>
            </a:r>
            <a:r>
              <a:rPr sz="2000"/>
              <a:t>, assumes normality. Outputs t-statistic, p-value, CI. Low p (</a:t>
            </a:r>
            <a:r>
              <a:rPr sz="2000">
                <a:latin typeface="Courier"/>
              </a:rPr>
              <a:t>&lt;0.05</a:t>
            </a:r>
            <a:r>
              <a:rPr sz="2000"/>
              <a:t>) rejects H₀ of equal means. Use Wilcoxon if non-normal; ANOVA for &gt;2 groups.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Wilcoxon test (compare medians, non-parametric)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dataset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wilcox_full &lt;- </a:t>
            </a:r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(trad_net, crypto_net)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(wilcox_full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Crisis subset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crisis_net     &lt;- crisis_data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non_crisis_net &lt;- non_crisis_data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wilcox_crisis &lt;- </a:t>
            </a:r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(crisis_net, non_crisis_net)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(wilcox_crisis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  <a:p>
            <a:pPr lvl="0" indent="0" marL="1270000">
              <a:buNone/>
            </a:pPr>
            <a:r>
              <a:rPr sz="2000"/>
              <a:t>Compares </a:t>
            </a:r>
            <a:r>
              <a:rPr sz="2000" b="1"/>
              <a:t>medians</a:t>
            </a:r>
            <a:r>
              <a:rPr sz="2000"/>
              <a:t> non-parametrically using ranks; outputs W-statistic, p-value. Robust to outliers / non-normality. Use when Shapiro shows non-normality. For &gt;2 groups: Kruskal-Wallis.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Shapiro-Wilk test (normality)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(broom)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shapiro_gold &lt;-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shapiro_btc  &lt;-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(shapiro_gold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   </a:t>
            </a:r>
            <a:r>
              <a:rPr>
                <a:solidFill>
                  <a:srgbClr val="5E5E5E"/>
                </a:solidFill>
                <a:latin typeface="Courier"/>
              </a:rPr>
              <a:t># e.g., p &lt; 0.05 → non-normal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(shapiro_btc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   </a:t>
            </a:r>
            <a:r>
              <a:rPr>
                <a:solidFill>
                  <a:srgbClr val="5E5E5E"/>
                </a:solidFill>
                <a:latin typeface="Courier"/>
              </a:rPr>
              <a:t># e.g., p &gt; 0.05 → normal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Q-Q plot for visual check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qqnorm</a:t>
            </a:r>
            <a:r>
              <a:rPr>
                <a:solidFill>
                  <a:srgbClr val="003B4F"/>
                </a:solidFill>
                <a:latin typeface="Courier"/>
              </a:rPr>
              <a:t>(combined_clean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qqline</a:t>
            </a:r>
            <a:r>
              <a:rPr>
                <a:solidFill>
                  <a:srgbClr val="003B4F"/>
                </a:solidFill>
                <a:latin typeface="Courier"/>
              </a:rPr>
              <a:t>(combined_clean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Density comparison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gold_btc_data &lt;- combined_clean[combined_clean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), ]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(gold_btc_data,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geom_density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Longs Distributions: Gold vs Bitcoin (Faceted)"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"Density"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Outputs W-statistic (</a:t>
            </a:r>
            <a:r>
              <a:rPr sz="2000">
                <a:latin typeface="Courier"/>
              </a:rPr>
              <a:t>1</a:t>
            </a:r>
            <a:r>
              <a:rPr sz="2000"/>
              <a:t> = perfect normal) and p-value. Low p rejects H₀ (normality). Transformations (</a:t>
            </a:r>
            <a:r>
              <a:rPr sz="2000">
                <a:latin typeface="Courier"/>
              </a:rPr>
              <a:t>log</a:t>
            </a:r>
            <a:r>
              <a:rPr sz="2000"/>
              <a:t>) or non-parametric tests follow if rejected.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Kolmogorov-Smirnov test (compare distributions)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gold_net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btc_net  &lt;- 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Net_Longs[combined_clean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Asset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ks_test &lt;- </a:t>
            </a:r>
            <a:r>
              <a:rPr>
                <a:solidFill>
                  <a:srgbClr val="4758AB"/>
                </a:solidFill>
                <a:latin typeface="Courier"/>
              </a:rPr>
              <a:t>ks.test</a:t>
            </a:r>
            <a:r>
              <a:rPr>
                <a:solidFill>
                  <a:srgbClr val="003B4F"/>
                </a:solidFill>
                <a:latin typeface="Courier"/>
              </a:rPr>
              <a:t>(gold_net, btc_net)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(ks_test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   </a:t>
            </a:r>
            <a:r>
              <a:rPr>
                <a:solidFill>
                  <a:srgbClr val="5E5E5E"/>
                </a:solidFill>
                <a:latin typeface="Courier"/>
              </a:rPr>
              <a:t># e.g., D = 0.25, p &lt; 0.05 → different shapes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ECDF visualisation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(gold_btc_data,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stat_ecdf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"ECDF Plot: Gold vs Bitcoin (Faceted)"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"Cumulative Probability"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Compares distributions non-parametrically; outputs D (max CDF difference) and p-value. Validates group differences before parametric tests.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Statistical modelling —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it?</a:t>
            </a:r>
          </a:p>
          <a:p>
            <a:pPr lvl="0"/>
            <a:r>
              <a:rPr/>
              <a:t>Mathematical representations of data relationships (regression, multivariate) to </a:t>
            </a:r>
            <a:r>
              <a:rPr b="1"/>
              <a:t>explain or predict</a:t>
            </a:r>
            <a:r>
              <a:rPr/>
              <a:t> outcomes.</a:t>
            </a:r>
          </a:p>
          <a:p>
            <a:pPr lvl="0"/>
            <a:r>
              <a:rPr/>
              <a:t>Time-series forecasting, ML interfaces, computational simulations.</a:t>
            </a:r>
          </a:p>
          <a:p>
            <a:pPr lvl="0"/>
            <a:r>
              <a:rPr/>
              <a:t>Focuses on model fitting, diagnostics, validation in real-world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is it used for?</a:t>
            </a:r>
          </a:p>
          <a:p>
            <a:pPr lvl="0"/>
            <a:r>
              <a:rPr/>
              <a:t>Forecasting (markets, disease).</a:t>
            </a:r>
          </a:p>
          <a:p>
            <a:pPr lvl="0"/>
            <a:r>
              <a:rPr/>
              <a:t>Causal inference, classification, dimensionality reduction.</a:t>
            </a:r>
          </a:p>
          <a:p>
            <a:pPr lvl="0"/>
            <a:r>
              <a:rPr/>
              <a:t>Optimization in big-data settings.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Building blocks</a:t>
            </a:r>
          </a:p>
          <a:p>
            <a:pPr lvl="0"/>
            <a:r>
              <a:rPr b="1"/>
              <a:t>Regression</a:t>
            </a:r>
            <a:r>
              <a:rPr/>
              <a:t> — simple/multiple linear, logistic, fixed/random effects, clustered/robust SEs, interactions, non-linear terms.</a:t>
            </a:r>
          </a:p>
          <a:p>
            <a:pPr lvl="0"/>
            <a:r>
              <a:rPr b="1"/>
              <a:t>Multivariate</a:t>
            </a:r>
            <a:r>
              <a:rPr/>
              <a:t> — PCA, factor analysis, canonical correlation, k-means, discriminant analysis.</a:t>
            </a:r>
          </a:p>
          <a:p>
            <a:pPr lvl="0"/>
            <a:r>
              <a:rPr b="1"/>
              <a:t>Time series</a:t>
            </a:r>
            <a:r>
              <a:rPr/>
              <a:t> — ACF/PACF, ADF/KPSS stationarity, ARIMA, Monte Carlo, GARCH.</a:t>
            </a:r>
          </a:p>
          <a:p>
            <a:pPr lvl="0"/>
            <a:r>
              <a:rPr b="1"/>
              <a:t>Survival</a:t>
            </a:r>
            <a:r>
              <a:rPr/>
              <a:t> — Kaplan-Meier, Cox PH, censoring, Weibull.</a:t>
            </a:r>
          </a:p>
          <a:p>
            <a:pPr lvl="0"/>
            <a:r>
              <a:rPr b="1"/>
              <a:t>Causal inference</a:t>
            </a:r>
            <a:r>
              <a:rPr/>
              <a:t> — IV, DID, PSM, DAGs, RDD.</a:t>
            </a:r>
          </a:p>
          <a:p>
            <a:pPr lvl="0"/>
            <a:r>
              <a:rPr b="1"/>
              <a:t>Non-linear / GLM</a:t>
            </a:r>
            <a:r>
              <a:rPr/>
              <a:t> — GLMs, Poisson, splines, quantile regression.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 — with fixed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(broom); </a:t>
            </a: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(dplyr)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0: hedging net bias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combined_clean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net_commercial =</a:t>
            </a:r>
            <a:r>
              <a:rPr>
                <a:solidFill>
                  <a:srgbClr val="003B4F"/>
                </a:solidFill>
                <a:latin typeface="Courier"/>
              </a:rPr>
              <a:t> commercial_longs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commercial_shorts)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1: simple LM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simple_lm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(Net_Longs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net_commercial,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combined_clean)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(simple_lm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2: + asset fixed effects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fe_asset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(Net_Longs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net_commercial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(Asset),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combined_clean)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(fe_asset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3: + asset &amp; year fixed effects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fe_asset_year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(Net_Longs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net_commercial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(Asset)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combined_clean)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(fe_asset_year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tidy</a:t>
            </a:r>
            <a:r>
              <a:rPr>
                <a:solidFill>
                  <a:srgbClr val="003B4F"/>
                </a:solidFill>
                <a:latin typeface="Courier"/>
              </a:rPr>
              <a:t>())</a:t>
            </a:r>
          </a:p>
          <a:p>
            <a:pPr lvl="0" indent="0" marL="1270000">
              <a:buNone/>
            </a:pPr>
            <a:r>
              <a:rPr sz="2000" b="1"/>
              <a:t>Why fixed effects</a:t>
            </a:r>
          </a:p>
          <a:p>
            <a:pPr lvl="0"/>
            <a:r>
              <a:rPr sz="2000"/>
              <a:t>Absorb group-specific means → estimate </a:t>
            </a:r>
            <a:r>
              <a:rPr sz="2000" b="1"/>
              <a:t>within-group</a:t>
            </a:r>
            <a:r>
              <a:rPr sz="2000"/>
              <a:t> variation.</a:t>
            </a:r>
          </a:p>
          <a:p>
            <a:pPr lvl="0"/>
            <a:r>
              <a:rPr sz="2000"/>
              <a:t>Control for time-invariant confounders.</a:t>
            </a:r>
          </a:p>
          <a:p>
            <a:pPr lvl="0"/>
            <a:r>
              <a:rPr sz="2000"/>
              <a:t>Reduce omitted-variable bias.</a:t>
            </a:r>
          </a:p>
          <a:p>
            <a:pPr lvl="0"/>
            <a:r>
              <a:rPr sz="2000"/>
              <a:t>Limitation: cannot estimate group effects themselves; for time-varying interactions use </a:t>
            </a:r>
            <a:r>
              <a:rPr sz="2000">
                <a:latin typeface="Courier"/>
              </a:rPr>
              <a:t>Year * Asset</a:t>
            </a:r>
            <a:r>
              <a:rPr sz="2000"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Clustered standard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(sandwich); </a:t>
            </a: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(lmtest)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HC1 clustered by Year — robust to heteroskedasticity &amp; intra-cluster correlation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clustered_se &lt;- </a:t>
            </a:r>
            <a:r>
              <a:rPr>
                <a:solidFill>
                  <a:srgbClr val="4758AB"/>
                </a:solidFill>
                <a:latin typeface="Courier"/>
              </a:rPr>
              <a:t>coeftest</a:t>
            </a:r>
            <a:r>
              <a:rPr>
                <a:solidFill>
                  <a:srgbClr val="003B4F"/>
                </a:solidFill>
                <a:latin typeface="Courier"/>
              </a:rPr>
              <a:t>(simple_lm, </a:t>
            </a:r>
            <a:r>
              <a:rPr>
                <a:solidFill>
                  <a:srgbClr val="657422"/>
                </a:solidFill>
                <a:latin typeface="Courier"/>
              </a:rPr>
              <a:t>vcov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vcovHC</a:t>
            </a:r>
            <a:r>
              <a:rPr>
                <a:solidFill>
                  <a:srgbClr val="003B4F"/>
                </a:solidFill>
                <a:latin typeface="Courier"/>
              </a:rPr>
              <a:t>(simple_lm,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"HC1"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cluster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(clustered_se)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Residuals plot — check linearity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(simple_lm)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(simple_lm))</a:t>
            </a:r>
          </a:p>
          <a:p>
            <a:pPr lvl="0" indent="0" marL="1270000">
              <a:buNone/>
            </a:pPr>
            <a:r>
              <a:rPr sz="2000" b="1"/>
              <a:t>Why clustered SEs</a:t>
            </a:r>
          </a:p>
          <a:p>
            <a:pPr lvl="0"/>
            <a:r>
              <a:rPr sz="2000"/>
              <a:t>Adjust for </a:t>
            </a:r>
            <a:r>
              <a:rPr sz="2000" b="1"/>
              <a:t>intra-group correlation</a:t>
            </a:r>
            <a:r>
              <a:rPr sz="2000"/>
              <a:t> (e.g., observations in the same year).</a:t>
            </a:r>
          </a:p>
          <a:p>
            <a:pPr lvl="0"/>
            <a:r>
              <a:rPr sz="2000"/>
              <a:t>Wider SEs may make p-values larger (e.g., 0.01 → 0.05) — conservative inference.</a:t>
            </a:r>
          </a:p>
          <a:p>
            <a:pPr lvl="0"/>
            <a:r>
              <a:rPr sz="2000"/>
              <a:t>Need ≥ 20 clusters; bootstrap for fewer.</a:t>
            </a:r>
          </a:p>
          <a:p>
            <a:pPr lvl="0"/>
            <a:r>
              <a:rPr sz="2000"/>
              <a:t>Always specify in your write-up: </a:t>
            </a:r>
            <a:r>
              <a:rPr sz="2000" i="1"/>
              <a:t>“SEs clustered at the year level to account for intra-year correlation and heteroskedasticity.”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Exporting results — </a:t>
            </a:r>
            <a:r>
              <a:rPr>
                <a:latin typeface="Courier"/>
              </a:rPr>
              <a:t>stargazer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(stargazer)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clustered SEs for each model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clustered_se_simple        &lt;- </a:t>
            </a:r>
            <a:r>
              <a:rPr>
                <a:solidFill>
                  <a:srgbClr val="4758AB"/>
                </a:solidFill>
                <a:latin typeface="Courier"/>
              </a:rPr>
              <a:t>coeftest</a:t>
            </a:r>
            <a:r>
              <a:rPr>
                <a:solidFill>
                  <a:srgbClr val="003B4F"/>
                </a:solidFill>
                <a:latin typeface="Courier"/>
              </a:rPr>
              <a:t>(simple_lm,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vcov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vcovHC</a:t>
            </a:r>
            <a:r>
              <a:rPr>
                <a:solidFill>
                  <a:srgbClr val="003B4F"/>
                </a:solidFill>
                <a:latin typeface="Courier"/>
              </a:rPr>
              <a:t>(simple_lm,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"HC1"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cluster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clustered_se_fe_asset      &lt;- </a:t>
            </a:r>
            <a:r>
              <a:rPr>
                <a:solidFill>
                  <a:srgbClr val="4758AB"/>
                </a:solidFill>
                <a:latin typeface="Courier"/>
              </a:rPr>
              <a:t>coeftest</a:t>
            </a:r>
            <a:r>
              <a:rPr>
                <a:solidFill>
                  <a:srgbClr val="003B4F"/>
                </a:solidFill>
                <a:latin typeface="Courier"/>
              </a:rPr>
              <a:t>(fe_asset,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vcov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vcovHC</a:t>
            </a:r>
            <a:r>
              <a:rPr>
                <a:solidFill>
                  <a:srgbClr val="003B4F"/>
                </a:solidFill>
                <a:latin typeface="Courier"/>
              </a:rPr>
              <a:t>(fe_asset,     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"HC1"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cluster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clustered_se_fe_asset_year &lt;- </a:t>
            </a:r>
            <a:r>
              <a:rPr>
                <a:solidFill>
                  <a:srgbClr val="4758AB"/>
                </a:solidFill>
                <a:latin typeface="Courier"/>
              </a:rPr>
              <a:t>coeftest</a:t>
            </a:r>
            <a:r>
              <a:rPr>
                <a:solidFill>
                  <a:srgbClr val="003B4F"/>
                </a:solidFill>
                <a:latin typeface="Courier"/>
              </a:rPr>
              <a:t>(fe_asset_year,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vcov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vcovHC</a:t>
            </a:r>
            <a:r>
              <a:rPr>
                <a:solidFill>
                  <a:srgbClr val="003B4F"/>
                </a:solidFill>
                <a:latin typeface="Courier"/>
              </a:rPr>
              <a:t>(fe_asset_year,  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"HC1"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cluster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Build LaTeX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stargazer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simple_lm, fe_asset, fe_asset_year,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"latex"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out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"regression_table.tex"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dep.var.caption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"Effects on Net Longs (Post-2021 Data)"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"tab:regression_net"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dep.var.labels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"Non-Commercial Longs"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covariate.labels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"Commercial Longs"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omit.stat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"f"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star.char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"*"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"**"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"***"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star.cutoffs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0.01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add.lines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"Asset FE"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"Yes"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"Yes"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"Year FE"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20794D"/>
                </a:solidFill>
                <a:latin typeface="Courier"/>
              </a:rPr>
              <a:t>"No"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"No"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20794D"/>
                </a:solidFill>
                <a:latin typeface="Courier"/>
              </a:rPr>
              <a:t>"Yes"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"factor"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model.numbers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table.placement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(clustered_se_simple[,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clustered_se_fe_asset[,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clustered_se_fe_asset_year[,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stargazer</a:t>
            </a:r>
            <a:r>
              <a:rPr sz="2000"/>
              <a:t> produces clean LaTeX/HTML/ASCII regression tables — multiple models side by side, plus summary tables for data frames, vectors, matrices.</a:t>
            </a:r>
          </a:p>
          <a:p>
            <a:pPr lvl="0" indent="0" marL="1270000">
              <a:buNone/>
            </a:pPr>
            <a:r>
              <a:rPr sz="2000" b="1"/>
              <a:t>Reporting</a:t>
            </a:r>
          </a:p>
          <a:p>
            <a:pPr lvl="0" indent="0" marL="1270000">
              <a:buNone/>
            </a:pPr>
            <a:r>
              <a:rPr sz="2000"/>
              <a:t>Always report </a:t>
            </a:r>
            <a:r>
              <a:rPr sz="2000" b="1"/>
              <a:t>R²</a:t>
            </a:r>
            <a:r>
              <a:rPr sz="2000"/>
              <a:t>, </a:t>
            </a:r>
            <a:r>
              <a:rPr sz="2000" b="1"/>
              <a:t>N</a:t>
            </a:r>
            <a:r>
              <a:rPr sz="2000"/>
              <a:t>, and </a:t>
            </a:r>
            <a:r>
              <a:rPr sz="2000" b="1"/>
              <a:t>p-values</a:t>
            </a:r>
            <a:r>
              <a:rPr sz="2000"/>
              <a:t>: </a:t>
            </a:r>
            <a:r>
              <a:rPr sz="2000" i="1"/>
              <a:t>“All models include year and asset fixed effects; \\\* p &lt; 0.01, \\ p &lt; 0.05, \* p &lt; 0.1.”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Discussion of Assignment 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 I — Problem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1 — Prepare your data</a:t>
            </a:r>
          </a:p>
          <a:p>
            <a:pPr lvl="0" indent="-342900" marL="342900">
              <a:buAutoNum type="alphaLcPeriod"/>
            </a:pPr>
            <a:r>
              <a:rPr b="1"/>
              <a:t>Get the data:</a:t>
            </a:r>
            <a:r>
              <a:rPr/>
              <a:t> create </a:t>
            </a:r>
            <a:r>
              <a:rPr>
                <a:latin typeface="Courier"/>
              </a:rPr>
              <a:t>.R</a:t>
            </a:r>
            <a:r>
              <a:rPr/>
              <a:t> script, load libraries, set API key, load Quandl futures data (gold, silver, BTC, ETH). Merge by date into </a:t>
            </a:r>
            <a:r>
              <a:rPr>
                <a:latin typeface="Courier"/>
              </a:rPr>
              <a:t>merged_*</a:t>
            </a:r>
            <a:r>
              <a:rPr/>
              <a:t>, drop NAs, sort ascending by date.</a:t>
            </a:r>
          </a:p>
          <a:p>
            <a:pPr lvl="0" indent="-342900" marL="342900">
              <a:buAutoNum type="alphaLcPeriod"/>
            </a:pPr>
            <a:r>
              <a:rPr b="1"/>
              <a:t>Understand the data:</a:t>
            </a:r>
            <a:r>
              <a:rPr/>
              <a:t> read Nasdaq &amp; CFTC sources; write 3–5 sentences for your “Data” section.</a:t>
            </a:r>
          </a:p>
          <a:p>
            <a:pPr lvl="0" indent="-342900" marL="342900">
              <a:buAutoNum type="alphaLcPeriod"/>
            </a:pPr>
            <a:r>
              <a:rPr b="1"/>
              <a:t>Join data sets:</a:t>
            </a:r>
            <a:r>
              <a:rPr/>
              <a:t> combine into </a:t>
            </a:r>
            <a:r>
              <a:rPr>
                <a:latin typeface="Courier"/>
              </a:rPr>
              <a:t>combined</a:t>
            </a:r>
            <a:r>
              <a:rPr/>
              <a:t>, with an </a:t>
            </a:r>
            <a:r>
              <a:rPr>
                <a:latin typeface="Courier"/>
              </a:rPr>
              <a:t>Asset</a:t>
            </a:r>
            <a:r>
              <a:rPr/>
              <a:t> variable.</a:t>
            </a:r>
          </a:p>
          <a:p>
            <a:pPr lvl="0" indent="-342900" marL="342900">
              <a:buAutoNum type="alphaLcPeriod"/>
            </a:pPr>
            <a:r>
              <a:rPr b="1"/>
              <a:t>Clean &amp; transform:</a:t>
            </a:r>
            <a:r>
              <a:rPr/>
              <a:t> filter post-1 April 2021, save as </a:t>
            </a:r>
            <a:r>
              <a:rPr>
                <a:latin typeface="Courier"/>
              </a:rPr>
              <a:t>combined_clean</a:t>
            </a:r>
            <a:r>
              <a:rPr/>
              <a:t>. Derive </a:t>
            </a:r>
            <a:r>
              <a:rPr i="1"/>
              <a:t>Net Long Position</a:t>
            </a:r>
            <a:r>
              <a:rPr/>
              <a:t> per trader type, </a:t>
            </a:r>
            <a:r>
              <a:rPr i="1"/>
              <a:t>Weekly Change</a:t>
            </a:r>
            <a:r>
              <a:rPr/>
              <a:t>, and </a:t>
            </a:r>
            <a:r>
              <a:rPr>
                <a:latin typeface="Courier"/>
              </a:rPr>
              <a:t>Year</a:t>
            </a:r>
            <a:r>
              <a:rPr/>
              <a:t>/</a:t>
            </a:r>
            <a:r>
              <a:rPr>
                <a:latin typeface="Courier"/>
              </a:rPr>
              <a:t>Quarter</a:t>
            </a:r>
            <a:r>
              <a:rPr/>
              <a:t>/</a:t>
            </a:r>
            <a:r>
              <a:rPr>
                <a:latin typeface="Courier"/>
              </a:rPr>
              <a:t>Month</a:t>
            </a:r>
            <a:r>
              <a:rPr/>
              <a:t> indicators.</a:t>
            </a:r>
          </a:p>
          <a:p>
            <a:pPr lvl="0" indent="-342900" marL="342900">
              <a:buAutoNum type="alphaLcPeriod"/>
            </a:pPr>
            <a:r>
              <a:rPr b="1"/>
              <a:t>Descriptive analysis:</a:t>
            </a:r>
            <a:r>
              <a:rPr/>
              <a:t> mean, sd, min, P10, median, P90, max — table for the </a:t>
            </a:r>
            <a:r>
              <a:rPr i="1"/>
              <a:t>Data</a:t>
            </a:r>
            <a:r>
              <a:rPr/>
              <a:t> section.</a:t>
            </a:r>
          </a:p>
          <a:p>
            <a:pPr lvl="0" indent="-342900" marL="342900">
              <a:buAutoNum type="alphaLcPeriod"/>
            </a:pPr>
            <a:r>
              <a:rPr b="1"/>
              <a:t>Analysis &amp; plot:</a:t>
            </a:r>
            <a:r>
              <a:rPr/>
              <a:t> discuss patterns; implement min. </a:t>
            </a:r>
            <a:r>
              <a:rPr b="1"/>
              <a:t>two</a:t>
            </a:r>
            <a:r>
              <a:rPr/>
              <a:t> </a:t>
            </a:r>
            <a:r>
              <a:rPr>
                <a:latin typeface="Courier"/>
              </a:rPr>
              <a:t>ggplot</a:t>
            </a:r>
            <a:r>
              <a:rPr/>
              <a:t> plots with 4–5 sentences each.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2 — Write a paper</a:t>
            </a:r>
          </a:p>
          <a:p>
            <a:pPr lvl="0" indent="-342900" marL="342900">
              <a:buAutoNum type="alphaLcPeriod"/>
            </a:pPr>
            <a:r>
              <a:rPr b="1"/>
              <a:t>Define a research question:</a:t>
            </a:r>
            <a:r>
              <a:rPr/>
              <a:t> simple, testable RQ from your patterns (e.g., “Do crypto assets show higher Net Long Position volatility?”). Briefly motivate in </a:t>
            </a:r>
            <a:r>
              <a:rPr i="1"/>
              <a:t>Introduction</a:t>
            </a:r>
            <a:r>
              <a:rPr/>
              <a:t> (≥ 0.5 page).</a:t>
            </a:r>
          </a:p>
          <a:p>
            <a:pPr lvl="0" indent="-342900" marL="342900">
              <a:buAutoNum type="alphaLcPeriod"/>
            </a:pPr>
            <a:r>
              <a:rPr b="1"/>
              <a:t>Literature review:</a:t>
            </a:r>
            <a:r>
              <a:rPr/>
              <a:t> 1–2 papers to build on (3–4 sentences, ≥ 0.5 page).</a:t>
            </a:r>
          </a:p>
          <a:p>
            <a:pPr lvl="0" indent="-342900" marL="342900">
              <a:buAutoNum type="alphaLcPeriod"/>
            </a:pPr>
            <a:r>
              <a:rPr b="1"/>
              <a:t>Define your approach:</a:t>
            </a:r>
            <a:r>
              <a:rPr/>
              <a:t> how you will answer, why it makes sense (≥ 0.5 page).</a:t>
            </a:r>
          </a:p>
          <a:p>
            <a:pPr lvl="0" indent="-342900" marL="342900">
              <a:buAutoNum type="alphaLcPeriod"/>
            </a:pPr>
            <a:r>
              <a:rPr b="1"/>
              <a:t>Report insights:</a:t>
            </a:r>
            <a:r>
              <a:rPr/>
              <a:t> </a:t>
            </a:r>
            <a:r>
              <a:rPr i="1"/>
              <a:t>Results</a:t>
            </a:r>
            <a:r>
              <a:rPr/>
              <a:t> (≥ 1.5 pages), min. </a:t>
            </a:r>
            <a:r>
              <a:rPr b="1"/>
              <a:t>two</a:t>
            </a:r>
            <a:r>
              <a:rPr/>
              <a:t> LaTeX tables via </a:t>
            </a:r>
            <a:r>
              <a:rPr>
                <a:latin typeface="Courier"/>
              </a:rPr>
              <a:t>stargazer</a:t>
            </a:r>
            <a:r>
              <a:rPr/>
              <a:t> (academic style) and min. </a:t>
            </a:r>
            <a:r>
              <a:rPr b="1"/>
              <a:t>2</a:t>
            </a:r>
            <a:r>
              <a:rPr/>
              <a:t> captioned plots.</a:t>
            </a:r>
          </a:p>
          <a:p>
            <a:pPr lvl="0" indent="-342900" marL="342900">
              <a:buAutoNum type="alphaLcPeriod"/>
            </a:pPr>
            <a:r>
              <a:rPr b="1"/>
              <a:t>Explain &amp; discuss:</a:t>
            </a:r>
            <a:r>
              <a:rPr/>
              <a:t> </a:t>
            </a:r>
            <a:r>
              <a:rPr i="1"/>
              <a:t>Conclusion</a:t>
            </a:r>
            <a:r>
              <a:rPr/>
              <a:t> (≥ 0.5 page) — implications, quality vs length.</a:t>
            </a:r>
          </a:p>
          <a:p>
            <a:pPr lvl="0" indent="0" marL="1270000">
              <a:buNone/>
            </a:pPr>
            <a:r>
              <a:rPr sz="2000"/>
              <a:t>Use the </a:t>
            </a:r>
            <a:r>
              <a:rPr sz="2000" b="1"/>
              <a:t>Overleaf template</a:t>
            </a:r>
            <a:r>
              <a:rPr sz="2000"/>
              <a:t> on Moodle. Page minima per section: Intro 0.5, Lit 0.5, Method 0.5, Data 1.5, Results 1.5, Conclusion 0.5.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Assignment I — submission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</a:t>
            </a:r>
          </a:p>
          <a:p>
            <a:pPr lvl="0" indent="0" marL="0">
              <a:buNone/>
            </a:pPr>
            <a:r>
              <a:rPr/>
              <a:t>Solve the problem set posted on Moodle, building on Lectures 1–3.</a:t>
            </a:r>
          </a:p>
          <a:p>
            <a:pPr lvl="0" indent="0" marL="0">
              <a:buNone/>
            </a:pPr>
            <a:r>
              <a:rPr b="1"/>
              <a:t>Submit ONLY two files:</a:t>
            </a:r>
          </a:p>
          <a:p>
            <a:pPr lvl="0" indent="-342900" marL="342900">
              <a:buAutoNum type="arabicPeriod"/>
            </a:pPr>
            <a:r>
              <a:rPr/>
              <a:t>One </a:t>
            </a:r>
            <a:r>
              <a:rPr>
                <a:latin typeface="Courier"/>
              </a:rPr>
              <a:t>.R</a:t>
            </a:r>
            <a:r>
              <a:rPr/>
              <a:t> script — well-commented, self-explanatory, efficient (meaningful names, functions for repetition, avoid for-loops). Include text/comments answering Exercise 1 </a:t>
            </a:r>
            <a:r>
              <a:rPr i="1"/>
              <a:t>and</a:t>
            </a:r>
            <a:r>
              <a:rPr/>
              <a:t> 2.</a:t>
            </a:r>
          </a:p>
          <a:p>
            <a:pPr lvl="0" indent="-342900" marL="342900">
              <a:buAutoNum type="arabicPeriod"/>
            </a:pPr>
            <a:r>
              <a:rPr/>
              <a:t>One PDF compiled from the Overleaf template — outputs from your </a:t>
            </a:r>
            <a:r>
              <a:rPr>
                <a:latin typeface="Courier"/>
              </a:rPr>
              <a:t>.R</a:t>
            </a:r>
            <a:r>
              <a:rPr/>
              <a:t> script (plots, calculations), </a:t>
            </a:r>
            <a:r>
              <a:rPr>
                <a:latin typeface="Courier"/>
              </a:rPr>
              <a:t>stargazer</a:t>
            </a:r>
            <a:r>
              <a:rPr/>
              <a:t> LaTeX tables, captioned plots, written text. </a:t>
            </a:r>
            <a:r>
              <a:rPr b="1"/>
              <a:t>11 pt Times New Roman, 1.5 spaced.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</a:t>
            </a:r>
          </a:p>
          <a:p>
            <a:pPr lvl="0"/>
            <a:r>
              <a:rPr/>
              <a:t>Work in </a:t>
            </a:r>
            <a:r>
              <a:rPr b="1"/>
              <a:t>teams of up to 5</a:t>
            </a:r>
            <a:r>
              <a:rPr/>
              <a:t> students.</a:t>
            </a:r>
          </a:p>
          <a:p>
            <a:pPr lvl="0"/>
            <a:r>
              <a:rPr b="1"/>
              <a:t>50% of the final grade.</a:t>
            </a:r>
            <a:r>
              <a:rPr/>
              <a:t> Evaluated on code quality, creativity (plots/RQ), writing (concise, skim-friendly, with economic justifications).</a:t>
            </a:r>
          </a:p>
          <a:p>
            <a:pPr lvl="0"/>
            <a:r>
              <a:rPr b="1"/>
              <a:t>Deadline:</a:t>
            </a:r>
            <a:r>
              <a:rPr/>
              <a:t> </a:t>
            </a:r>
            <a:r>
              <a:rPr b="1"/>
              <a:t>19 January 2026 (midnight)</a:t>
            </a:r>
            <a:r>
              <a:rPr/>
              <a:t>. Email files to </a:t>
            </a:r>
            <a:r>
              <a:rPr>
                <a:hlinkClick r:id="rId2"/>
              </a:rPr>
              <a:t>oliver.padmaperuma@uni-ulm.de</a:t>
            </a:r>
            <a:r>
              <a:rPr/>
              <a:t>, with </a:t>
            </a:r>
            <a:r>
              <a:rPr>
                <a:hlinkClick r:id="rId3"/>
              </a:rPr>
              <a:t>andre.guettler@uni-ulm.de</a:t>
            </a:r>
            <a:r>
              <a:rPr/>
              <a:t> and your teammates in CC.</a:t>
            </a:r>
          </a:p>
          <a:p>
            <a:pPr lvl="0"/>
            <a:r>
              <a:rPr/>
              <a:t>Subject / file pattern: </a:t>
            </a:r>
            <a:r>
              <a:rPr b="1">
                <a:latin typeface="Courier"/>
              </a:rPr>
              <a:t>RiF_ProblemSet_surname1_surname2_...</a:t>
            </a:r>
          </a:p>
          <a:p>
            <a:pPr lvl="0"/>
            <a:r>
              <a:rPr/>
              <a:t>If attachments are too large, share a cloud link in the email body.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1.4 Conclusion of Lecture 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covered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Descriptive statistics</a:t>
            </a:r>
          </a:p>
          <a:p>
            <a:pPr lvl="0"/>
            <a:r>
              <a:rPr/>
              <a:t>Distribution plots</a:t>
            </a:r>
          </a:p>
          <a:p>
            <a:pPr lvl="0"/>
            <a:r>
              <a:rPr/>
              <a:t>Correlation matrix &amp; test</a:t>
            </a:r>
          </a:p>
          <a:p>
            <a:pPr lvl="0"/>
            <a:r>
              <a:rPr/>
              <a:t>t-Test, Wilcoxon test</a:t>
            </a:r>
          </a:p>
          <a:p>
            <a:pPr lvl="0"/>
            <a:r>
              <a:rPr/>
              <a:t>Shapiro-Wilk, KS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Linear regression</a:t>
            </a:r>
          </a:p>
          <a:p>
            <a:pPr lvl="0"/>
            <a:r>
              <a:rPr/>
              <a:t>Fixed effects</a:t>
            </a:r>
          </a:p>
          <a:p>
            <a:pPr lvl="0"/>
            <a:r>
              <a:rPr/>
              <a:t>Clustered standard errors</a:t>
            </a:r>
          </a:p>
          <a:p>
            <a:pPr lvl="0"/>
            <a:r>
              <a:rPr/>
              <a:t>Exporting tables (</a:t>
            </a:r>
            <a:r>
              <a:rPr>
                <a:latin typeface="Courier"/>
              </a:rPr>
              <a:t>stargazer</a:t>
            </a:r>
            <a:r>
              <a:rPr/>
              <a:t>)</a:t>
            </a:r>
          </a:p>
          <a:p>
            <a:pPr lvl="0"/>
            <a:r>
              <a:rPr/>
              <a:t>Assignment I — Problem Set briefing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Angrist, J. D., &amp; Pischke, J.-S. (2009). </a:t>
            </a:r>
            <a:r>
              <a:rPr i="1"/>
              <a:t>Mostly Harmless Econometrics: An Empiricist’s Companion</a:t>
            </a:r>
            <a:r>
              <a:rPr/>
              <a:t>. Princeton University Press. </a:t>
            </a:r>
            <a:r>
              <a:rPr>
                <a:hlinkClick r:id="rId2"/>
              </a:rPr>
              <a:t>https://press.princeton.edu/books/paperback/9780691120355/mostly-harmless-econometrics</a:t>
            </a:r>
          </a:p>
          <a:p>
            <a:pPr lvl="0"/>
            <a:r>
              <a:rPr/>
              <a:t>Thulin, M. (2024). </a:t>
            </a:r>
            <a:r>
              <a:rPr i="1"/>
              <a:t>Modern Statistics with R</a:t>
            </a:r>
            <a:r>
              <a:rPr/>
              <a:t>. Free: </a:t>
            </a:r>
            <a:r>
              <a:rPr>
                <a:hlinkClick r:id="rId3"/>
              </a:rPr>
              <a:t>https://www.modernstatisticswithr.com/</a:t>
            </a:r>
          </a:p>
          <a:p>
            <a:pPr lvl="0"/>
            <a:r>
              <a:rPr/>
              <a:t>Navarro, D. J. (2015). </a:t>
            </a:r>
            <a:r>
              <a:rPr i="1"/>
              <a:t>Learning Statistics with R</a:t>
            </a:r>
            <a:r>
              <a:rPr/>
              <a:t>. Free: </a:t>
            </a:r>
            <a:r>
              <a:rPr>
                <a:hlinkClick r:id="rId4"/>
              </a:rPr>
              <a:t>https://learningstatisticswithr.com/</a:t>
            </a:r>
          </a:p>
          <a:p>
            <a:pPr lvl="0"/>
            <a:r>
              <a:rPr/>
              <a:t>Gentle, J. E. (2020). </a:t>
            </a:r>
            <a:r>
              <a:rPr i="1"/>
              <a:t>Statistical Analysis of Financial Data: With Examples in R</a:t>
            </a:r>
            <a:r>
              <a:rPr/>
              <a:t>. CRC Press.</a:t>
            </a:r>
          </a:p>
          <a:p>
            <a:pPr lvl="0"/>
            <a:r>
              <a:rPr/>
              <a:t>James, G. et al. (2021). </a:t>
            </a:r>
            <a:r>
              <a:rPr i="1"/>
              <a:t>An Introduction to Statistical Learning with applications in R</a:t>
            </a:r>
            <a:r>
              <a:rPr/>
              <a:t> (2nd ed.). Springer. Free PDF: </a:t>
            </a:r>
            <a:r>
              <a:rPr>
                <a:hlinkClick r:id="rId5"/>
              </a:rPr>
              <a:t>https://www.statlearning.com/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Prepare before 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Document today’s code</a:t>
            </a:r>
            <a:r>
              <a:rPr/>
              <a:t> in a clean way and save as an </a:t>
            </a:r>
            <a:r>
              <a:rPr>
                <a:latin typeface="Courier"/>
              </a:rPr>
              <a:t>.Rmd</a:t>
            </a:r>
            <a:r>
              <a:rPr/>
              <a:t> file.</a:t>
            </a:r>
          </a:p>
          <a:p>
            <a:pPr lvl="0" indent="0" marL="1270000">
              <a:buNone/>
            </a:pPr>
            <a:r>
              <a:rPr sz="2000" b="1"/>
              <a:t>Lecture 4:</a:t>
            </a:r>
            <a:r>
              <a:rPr sz="2000"/>
              <a:t> Academic publishing and refereeing — what makes a great empirical paper, the publication process, how to write a referee report.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Statistical Analysis</dc:title>
  <dc:creator>Prof. Dr. Andre Guettler; Oliver Padmaperuma</dc:creator>
  <cp:keywords/>
  <dcterms:created xsi:type="dcterms:W3CDTF">2026-04-30T08:20:55Z</dcterms:created>
  <dcterms:modified xsi:type="dcterms:W3CDTF">2026-04-30T08:20:55Z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ssignment-1-problem-set-deadline">
    <vt:lpwstr>19 January 2026</vt:lpwstr>
  </property>
  <property fmtid="{D5CDD505-2E9C-101B-9397-08002B2CF9AE}" pid="4" name="assignment-1-problem-set-deadline-iso">
    <vt:lpwstr>2026-01-19</vt:lpwstr>
  </property>
  <property fmtid="{D5CDD505-2E9C-101B-9397-08002B2CF9AE}" pid="5" name="assignment-1-problem-set-weight">
    <vt:lpwstr>50</vt:lpwstr>
  </property>
  <property fmtid="{D5CDD505-2E9C-101B-9397-08002B2CF9AE}" pid="6" name="assignment-2-referee-report-deadline">
    <vt:lpwstr>3 February 2026</vt:lpwstr>
  </property>
  <property fmtid="{D5CDD505-2E9C-101B-9397-08002B2CF9AE}" pid="7" name="assignment-2-referee-report-deadline-iso">
    <vt:lpwstr>2026-02-03</vt:lpwstr>
  </property>
  <property fmtid="{D5CDD505-2E9C-101B-9397-08002B2CF9AE}" pid="8" name="assignment-2-referee-report-weight">
    <vt:lpwstr>50</vt:lpwstr>
  </property>
  <property fmtid="{D5CDD505-2E9C-101B-9397-08002B2CF9AE}" pid="9" name="authors">
    <vt:lpwstr/>
  </property>
  <property fmtid="{D5CDD505-2E9C-101B-9397-08002B2CF9AE}" pid="10" name="biblio-config">
    <vt:lpwstr>True</vt:lpwstr>
  </property>
  <property fmtid="{D5CDD505-2E9C-101B-9397-08002B2CF9AE}" pid="11" name="by-affiliation">
    <vt:lpwstr/>
  </property>
  <property fmtid="{D5CDD505-2E9C-101B-9397-08002B2CF9AE}" pid="12" name="by-author">
    <vt:lpwstr/>
  </property>
  <property fmtid="{D5CDD505-2E9C-101B-9397-08002B2CF9AE}" pid="13" name="course">
    <vt:lpwstr/>
  </property>
  <property fmtid="{D5CDD505-2E9C-101B-9397-08002B2CF9AE}" pid="14" name="date">
    <vt:lpwstr>2025-11-12</vt:lpwstr>
  </property>
  <property fmtid="{D5CDD505-2E9C-101B-9397-08002B2CF9AE}" pid="15" name="default-time">
    <vt:lpwstr>Wednesdays 14:15–15:45</vt:lpwstr>
  </property>
  <property fmtid="{D5CDD505-2E9C-101B-9397-08002B2CF9AE}" pid="16" name="default-venue">
    <vt:lpwstr>Helmholtzstraße 22, Ulm</vt:lpwstr>
  </property>
  <property fmtid="{D5CDD505-2E9C-101B-9397-08002B2CF9AE}" pid="17" name="exam-id">
    <vt:lpwstr>13337</vt:lpwstr>
  </property>
  <property fmtid="{D5CDD505-2E9C-101B-9397-08002B2CF9AE}" pid="18" name="header-includes">
    <vt:lpwstr/>
  </property>
  <property fmtid="{D5CDD505-2E9C-101B-9397-08002B2CF9AE}" pid="19" name="include-after">
    <vt:lpwstr/>
  </property>
  <property fmtid="{D5CDD505-2E9C-101B-9397-08002B2CF9AE}" pid="20" name="include-before">
    <vt:lpwstr/>
  </property>
  <property fmtid="{D5CDD505-2E9C-101B-9397-08002B2CF9AE}" pid="21" name="labels">
    <vt:lpwstr/>
  </property>
  <property fmtid="{D5CDD505-2E9C-101B-9397-08002B2CF9AE}" pid="22" name="lecture-01-basics-date">
    <vt:lpwstr>29 October 2025</vt:lpwstr>
  </property>
  <property fmtid="{D5CDD505-2E9C-101B-9397-08002B2CF9AE}" pid="23" name="lecture-01-basics-date-iso">
    <vt:lpwstr>2025-10-29</vt:lpwstr>
  </property>
  <property fmtid="{D5CDD505-2E9C-101B-9397-08002B2CF9AE}" pid="24" name="lecture-01-basics-date-short">
    <vt:lpwstr>29.10.2025</vt:lpwstr>
  </property>
  <property fmtid="{D5CDD505-2E9C-101B-9397-08002B2CF9AE}" pid="25" name="lecture-01-basics-week">
    <vt:lpwstr>1</vt:lpwstr>
  </property>
  <property fmtid="{D5CDD505-2E9C-101B-9397-08002B2CF9AE}" pid="26" name="lecture-02-data-handling-date">
    <vt:lpwstr>5 November 2025</vt:lpwstr>
  </property>
  <property fmtid="{D5CDD505-2E9C-101B-9397-08002B2CF9AE}" pid="27" name="lecture-02-data-handling-date-iso">
    <vt:lpwstr>2025-11-05</vt:lpwstr>
  </property>
  <property fmtid="{D5CDD505-2E9C-101B-9397-08002B2CF9AE}" pid="28" name="lecture-02-data-handling-date-short">
    <vt:lpwstr>05.11.2025</vt:lpwstr>
  </property>
  <property fmtid="{D5CDD505-2E9C-101B-9397-08002B2CF9AE}" pid="29" name="lecture-02-data-handling-week">
    <vt:lpwstr>2</vt:lpwstr>
  </property>
  <property fmtid="{D5CDD505-2E9C-101B-9397-08002B2CF9AE}" pid="30" name="lecture-03-statistical-analysis-date">
    <vt:lpwstr>12 November 2025</vt:lpwstr>
  </property>
  <property fmtid="{D5CDD505-2E9C-101B-9397-08002B2CF9AE}" pid="31" name="lecture-03-statistical-analysis-date-iso">
    <vt:lpwstr>2025-11-12</vt:lpwstr>
  </property>
  <property fmtid="{D5CDD505-2E9C-101B-9397-08002B2CF9AE}" pid="32" name="lecture-03-statistical-analysis-date-short">
    <vt:lpwstr>12.11.2025</vt:lpwstr>
  </property>
  <property fmtid="{D5CDD505-2E9C-101B-9397-08002B2CF9AE}" pid="33" name="lecture-03-statistical-analysis-week">
    <vt:lpwstr>3</vt:lpwstr>
  </property>
  <property fmtid="{D5CDD505-2E9C-101B-9397-08002B2CF9AE}" pid="34" name="lecture-04-academic-publishing-date">
    <vt:lpwstr>19 November 2025</vt:lpwstr>
  </property>
  <property fmtid="{D5CDD505-2E9C-101B-9397-08002B2CF9AE}" pid="35" name="lecture-04-academic-publishing-date-iso">
    <vt:lpwstr>2025-11-19</vt:lpwstr>
  </property>
  <property fmtid="{D5CDD505-2E9C-101B-9397-08002B2CF9AE}" pid="36" name="lecture-04-academic-publishing-date-short">
    <vt:lpwstr>19.11.2025</vt:lpwstr>
  </property>
  <property fmtid="{D5CDD505-2E9C-101B-9397-08002B2CF9AE}" pid="37" name="lecture-04-academic-publishing-week">
    <vt:lpwstr>4</vt:lpwstr>
  </property>
  <property fmtid="{D5CDD505-2E9C-101B-9397-08002B2CF9AE}" pid="38" name="lecture-05-brown-bag-seminar-date">
    <vt:lpwstr>20 January 2026</vt:lpwstr>
  </property>
  <property fmtid="{D5CDD505-2E9C-101B-9397-08002B2CF9AE}" pid="39" name="lecture-05-brown-bag-seminar-date-iso">
    <vt:lpwstr>2026-01-20</vt:lpwstr>
  </property>
  <property fmtid="{D5CDD505-2E9C-101B-9397-08002B2CF9AE}" pid="40" name="lecture-05-brown-bag-seminar-date-short">
    <vt:lpwstr>20.01.2026</vt:lpwstr>
  </property>
  <property fmtid="{D5CDD505-2E9C-101B-9397-08002B2CF9AE}" pid="41" name="lecture-05-brown-bag-seminar-time">
    <vt:lpwstr>13:30–16:00</vt:lpwstr>
  </property>
  <property fmtid="{D5CDD505-2E9C-101B-9397-08002B2CF9AE}" pid="42" name="lecture-05-brown-bag-seminar-venue">
    <vt:lpwstr>Helmholtzstraße 22, Ulm — Brown Bag room (TBA)</vt:lpwstr>
  </property>
  <property fmtid="{D5CDD505-2E9C-101B-9397-08002B2CF9AE}" pid="43" name="lecture-05-brown-bag-seminar-week">
    <vt:lpwstr>13</vt:lpwstr>
  </property>
  <property fmtid="{D5CDD505-2E9C-101B-9397-08002B2CF9AE}" pid="44" name="registration-deadline">
    <vt:lpwstr>30 November 2025</vt:lpwstr>
  </property>
  <property fmtid="{D5CDD505-2E9C-101B-9397-08002B2CF9AE}" pid="45" name="registration-deadline-iso">
    <vt:lpwstr>2025-11-30</vt:lpwstr>
  </property>
  <property fmtid="{D5CDD505-2E9C-101B-9397-08002B2CF9AE}" pid="46" name="registration-system">
    <vt:lpwstr>campusonline</vt:lpwstr>
  </property>
  <property fmtid="{D5CDD505-2E9C-101B-9397-08002B2CF9AE}" pid="47" name="semester">
    <vt:lpwstr>Winter 2025/2026</vt:lpwstr>
  </property>
  <property fmtid="{D5CDD505-2E9C-101B-9397-08002B2CF9AE}" pid="48" name="solutions">
    <vt:lpwstr>False</vt:lpwstr>
  </property>
  <property fmtid="{D5CDD505-2E9C-101B-9397-08002B2CF9AE}" pid="49" name="subtitle">
    <vt:lpwstr>Descriptive · inferential · modelling — applied in R</vt:lpwstr>
  </property>
  <property fmtid="{D5CDD505-2E9C-101B-9397-08002B2CF9AE}" pid="50" name="time">
    <vt:lpwstr>Wednesdays 14:15–15:45</vt:lpwstr>
  </property>
  <property fmtid="{D5CDD505-2E9C-101B-9397-08002B2CF9AE}" pid="51" name="toc-title">
    <vt:lpwstr>Table of contents</vt:lpwstr>
  </property>
  <property fmtid="{D5CDD505-2E9C-101B-9397-08002B2CF9AE}" pid="52" name="topics">
    <vt:lpwstr/>
  </property>
  <property fmtid="{D5CDD505-2E9C-101B-9397-08002B2CF9AE}" pid="53" name="venue">
    <vt:lpwstr>Helmholtzstraße 22, Ulm</vt:lpwstr>
  </property>
  <property fmtid="{D5CDD505-2E9C-101B-9397-08002B2CF9AE}" pid="54" name="week">
    <vt:lpwstr>3</vt:lpwstr>
  </property>
</Properties>
</file>