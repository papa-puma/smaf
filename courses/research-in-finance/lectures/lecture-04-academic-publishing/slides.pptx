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0"/>
  </p:notes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51" Type="http://schemas.openxmlformats.org/officeDocument/2006/relationships/printerSettings" Target="printerSettings/printerSettings1.bin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Spend a minute on this — most students underestimate the publication timeline. R&amp;Rs alone can take 12+ months at top journals.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111111"/>
                </a:solidFill>
              </a:defRPr>
            </a:lvl1pPr>
            <a:lvl2pPr marL="457200" indent="0" algn="ctr">
              <a:buNone/>
              <a:defRPr>
                <a:solidFill>
                  <a:srgbClr val="111111"/>
                </a:solidFill>
              </a:defRPr>
            </a:lvl2pPr>
            <a:lvl3pPr marL="914400" indent="0" algn="ctr">
              <a:buNone/>
              <a:defRPr>
                <a:solidFill>
                  <a:srgbClr val="111111"/>
                </a:solidFill>
              </a:defRPr>
            </a:lvl3pPr>
            <a:lvl4pPr marL="1371600" indent="0" algn="ctr">
              <a:buNone/>
              <a:defRPr>
                <a:solidFill>
                  <a:srgbClr val="111111"/>
                </a:solidFill>
              </a:defRPr>
            </a:lvl4pPr>
            <a:lvl5pPr marL="1828800" indent="0" algn="ctr">
              <a:buNone/>
              <a:defRPr>
                <a:solidFill>
                  <a:srgbClr val="111111"/>
                </a:solidFill>
              </a:defRPr>
            </a:lvl5pPr>
            <a:lvl6pPr marL="2286000" indent="0" algn="ctr">
              <a:buNone/>
              <a:defRPr>
                <a:solidFill>
                  <a:srgbClr val="111111"/>
                </a:solidFill>
              </a:defRPr>
            </a:lvl6pPr>
            <a:lvl7pPr marL="2743200" indent="0" algn="ctr">
              <a:buNone/>
              <a:defRPr>
                <a:solidFill>
                  <a:srgbClr val="111111"/>
                </a:solidFill>
              </a:defRPr>
            </a:lvl7pPr>
            <a:lvl8pPr marL="3200400" indent="0" algn="ctr">
              <a:buNone/>
              <a:defRPr>
                <a:solidFill>
                  <a:srgbClr val="111111"/>
                </a:solidFill>
              </a:defRPr>
            </a:lvl8pPr>
            <a:lvl9pPr marL="3657600" indent="0" algn="ctr">
              <a:buNone/>
              <a:defRPr>
                <a:solidFill>
                  <a:srgbClr val="111111"/>
                </a:solidFill>
              </a:defRPr>
            </a:lvl9pPr>
          </a:lstStyle>
          <a:p>
            <a:r>
              <a:rPr lang="en-US" smtClean="0">
                <a:solidFill>
                  <a:srgbClr val="111111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11111"/>
                </a:solidFill>
              </a:defRPr>
            </a:lvl1pPr>
            <a:lvl2pPr marL="457200" indent="0">
              <a:buNone/>
              <a:defRPr sz="1800">
                <a:solidFill>
                  <a:srgbClr val="111111"/>
                </a:solidFill>
              </a:defRPr>
            </a:lvl2pPr>
            <a:lvl3pPr marL="914400" indent="0">
              <a:buNone/>
              <a:defRPr sz="1600">
                <a:solidFill>
                  <a:srgbClr val="111111"/>
                </a:solidFill>
              </a:defRPr>
            </a:lvl3pPr>
            <a:lvl4pPr marL="1371600" indent="0">
              <a:buNone/>
              <a:defRPr sz="1400">
                <a:solidFill>
                  <a:srgbClr val="111111"/>
                </a:solidFill>
              </a:defRPr>
            </a:lvl4pPr>
            <a:lvl5pPr marL="1828800" indent="0">
              <a:buNone/>
              <a:defRPr sz="1400">
                <a:solidFill>
                  <a:srgbClr val="111111"/>
                </a:solidFill>
              </a:defRPr>
            </a:lvl5pPr>
            <a:lvl6pPr marL="2286000" indent="0">
              <a:buNone/>
              <a:defRPr sz="1400">
                <a:solidFill>
                  <a:srgbClr val="111111"/>
                </a:solidFill>
              </a:defRPr>
            </a:lvl6pPr>
            <a:lvl7pPr marL="2743200" indent="0">
              <a:buNone/>
              <a:defRPr sz="1400">
                <a:solidFill>
                  <a:srgbClr val="111111"/>
                </a:solidFill>
              </a:defRPr>
            </a:lvl7pPr>
            <a:lvl8pPr marL="3200400" indent="0">
              <a:buNone/>
              <a:defRPr sz="1400">
                <a:solidFill>
                  <a:srgbClr val="111111"/>
                </a:solidFill>
              </a:defRPr>
            </a:lvl8pPr>
            <a:lvl9pPr marL="3657600" indent="0">
              <a:buNone/>
              <a:defRPr sz="14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rgbClr val="111111"/>
                </a:solidFill>
              </a:defRPr>
            </a:lvl1pPr>
            <a:lvl2pPr>
              <a:defRPr sz="2800">
                <a:solidFill>
                  <a:srgbClr val="111111"/>
                </a:solidFill>
              </a:defRPr>
            </a:lvl2pPr>
            <a:lvl3pPr>
              <a:defRPr sz="2400">
                <a:solidFill>
                  <a:srgbClr val="111111"/>
                </a:solidFill>
              </a:defRPr>
            </a:lvl3pPr>
            <a:lvl4pPr>
              <a:defRPr sz="2000">
                <a:solidFill>
                  <a:srgbClr val="111111"/>
                </a:solidFill>
              </a:defRPr>
            </a:lvl4pPr>
            <a:lvl5pPr>
              <a:defRPr sz="2000">
                <a:solidFill>
                  <a:srgbClr val="111111"/>
                </a:solidFill>
              </a:defRPr>
            </a:lvl5pPr>
            <a:lvl6pPr>
              <a:defRPr sz="2000">
                <a:solidFill>
                  <a:srgbClr val="111111"/>
                </a:solidFill>
              </a:defRPr>
            </a:lvl6pPr>
            <a:lvl7pPr>
              <a:defRPr sz="2000">
                <a:solidFill>
                  <a:srgbClr val="111111"/>
                </a:solidFill>
              </a:defRPr>
            </a:lvl7pPr>
            <a:lvl8pPr>
              <a:defRPr sz="2000">
                <a:solidFill>
                  <a:srgbClr val="111111"/>
                </a:solidFill>
              </a:defRPr>
            </a:lvl8pPr>
            <a:lvl9pPr>
              <a:defRPr sz="20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rgbClr val="111111"/>
                </a:solidFill>
              </a:defRPr>
            </a:lvl1pPr>
            <a:lvl2pPr marL="457200" indent="0">
              <a:buNone/>
              <a:defRPr sz="2800">
                <a:solidFill>
                  <a:srgbClr val="111111"/>
                </a:solidFill>
              </a:defRPr>
            </a:lvl2pPr>
            <a:lvl3pPr marL="914400" indent="0">
              <a:buNone/>
              <a:defRPr sz="2400">
                <a:solidFill>
                  <a:srgbClr val="111111"/>
                </a:solidFill>
              </a:defRPr>
            </a:lvl3pPr>
            <a:lvl4pPr marL="1371600" indent="0">
              <a:buNone/>
              <a:defRPr sz="2000">
                <a:solidFill>
                  <a:srgbClr val="111111"/>
                </a:solidFill>
              </a:defRPr>
            </a:lvl4pPr>
            <a:lvl5pPr marL="1828800" indent="0">
              <a:buNone/>
              <a:defRPr sz="2000">
                <a:solidFill>
                  <a:srgbClr val="111111"/>
                </a:solidFill>
              </a:defRPr>
            </a:lvl5pPr>
            <a:lvl6pPr marL="2286000" indent="0">
              <a:buNone/>
              <a:defRPr sz="2000">
                <a:solidFill>
                  <a:srgbClr val="111111"/>
                </a:solidFill>
              </a:defRPr>
            </a:lvl6pPr>
            <a:lvl7pPr marL="2743200" indent="0">
              <a:buNone/>
              <a:defRPr sz="2000">
                <a:solidFill>
                  <a:srgbClr val="111111"/>
                </a:solidFill>
              </a:defRPr>
            </a:lvl7pPr>
            <a:lvl8pPr marL="3200400" indent="0">
              <a:buNone/>
              <a:defRPr sz="2000">
                <a:solidFill>
                  <a:srgbClr val="111111"/>
                </a:solidFill>
              </a:defRPr>
            </a:lvl8pPr>
            <a:lvl9pPr marL="3657600" indent="0">
              <a:buNone/>
              <a:defRPr sz="2000">
                <a:solidFill>
                  <a:srgbClr val="111111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rgbClr val="111111"/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rgbClr val="11111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rgbClr val="111111"/>
                </a:solidFill>
              </a:defRPr>
            </a:lvl1pPr>
          </a:lstStyle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latin typeface="Cambria"/>
          <a:ea typeface="+mj-ea"/>
          <a:cs typeface="+mj-cs"/>
          <a:solidFill>
            <a:srgbClr val="111111"/>
          </a:solidFill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9pPr>
    </p:bodyStyle>
    <p:otherStyle>
      <a:defPPr>
        <a:defRPr lang="en-US">
          <a:solidFill>
            <a:srgbClr val="111111"/>
          </a:solidFill>
        </a:defRPr>
      </a:defPPr>
      <a:lvl1pPr algn="l" defTabSz="457200" eaLnBrk="1" hangingPunct="1" latinLnBrk="0" marL="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latinLnBrk="0" marL="457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latinLnBrk="0" marL="914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latinLnBrk="0" marL="1371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latinLnBrk="0" marL="18288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latinLnBrk="0" marL="22860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latinLnBrk="0" marL="2743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latinLnBrk="0" marL="3200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latinLnBrk="0" marL="3657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oliver.padmaperuma@uni-ulm.de" TargetMode="External" /><Relationship Id="rId3" Type="http://schemas.openxmlformats.org/officeDocument/2006/relationships/hyperlink" Target="mailto:andre.guettler@uni-ulm.de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ess.princeton.edu/books/paperback/9780691120355/mostly-harmless-econometrics" TargetMode="External" /><Relationship Id="rId3" Type="http://schemas.openxmlformats.org/officeDocument/2006/relationships/hyperlink" Target="https://www.johnhcochrane.com/research-all/writing-tips-for-phd-student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4: Academic Publishing &amp; Refereeing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makes a great empirical paper · publication process · how to write a referee report</a:t>
            </a:r>
            <a:br/>
            <a:br/>
            <a:r>
              <a:rPr/>
              <a:t>Prof. Dr. Andre Guettler</a:t>
            </a:r>
            <a:br/>
            <a:r>
              <a:rPr/>
              <a:t>Oliver Padmaperuma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What makes a good empirical paper?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Contribution</a:t>
            </a:r>
          </a:p>
          <a:p>
            <a:pPr lvl="0" indent="-457200" marL="457200">
              <a:buAutoNum type="arabicPeriod"/>
            </a:pPr>
            <a:r>
              <a:rPr b="1"/>
              <a:t>Identification</a:t>
            </a:r>
          </a:p>
          <a:p>
            <a:pPr lvl="0" indent="-457200" marL="457200">
              <a:buAutoNum type="arabicPeriod"/>
            </a:pPr>
            <a:r>
              <a:rPr b="1"/>
              <a:t>Write-up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/>
            <a:r>
              <a:rPr sz="2000"/>
              <a:t>Journal space is </a:t>
            </a:r>
            <a:r>
              <a:rPr sz="2000" b="1"/>
              <a:t>very scarce</a:t>
            </a:r>
            <a:r>
              <a:rPr sz="2000"/>
              <a:t> and many great papers compete for it.</a:t>
            </a:r>
          </a:p>
          <a:p>
            <a:pPr lvl="0"/>
            <a:r>
              <a:rPr sz="2000"/>
              <a:t>Solid identification and write-up are </a:t>
            </a:r>
            <a:r>
              <a:rPr sz="2000" b="1"/>
              <a:t>necessary</a:t>
            </a:r>
            <a:r>
              <a:rPr sz="2000"/>
              <a:t> but </a:t>
            </a:r>
            <a:r>
              <a:rPr sz="2000" b="1"/>
              <a:t>not sufficient</a:t>
            </a:r>
            <a:r>
              <a:rPr sz="2000"/>
              <a:t> for a top publication.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Contribution (I) — common rejection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Often, submissions get </a:t>
            </a:r>
            <a:r>
              <a:rPr b="1"/>
              <a:t>rejected</a:t>
            </a:r>
            <a:r>
              <a:rPr/>
              <a:t> because:</a:t>
            </a:r>
          </a:p>
          <a:p>
            <a:pPr lvl="0"/>
            <a:r>
              <a:rPr/>
              <a:t>Low </a:t>
            </a:r>
            <a:r>
              <a:rPr b="1"/>
              <a:t>incremental</a:t>
            </a:r>
            <a:r>
              <a:rPr/>
              <a:t> contribution.</a:t>
            </a:r>
          </a:p>
          <a:p>
            <a:pPr lvl="0"/>
            <a:r>
              <a:rPr/>
              <a:t>Overly narrow contribution.</a:t>
            </a:r>
          </a:p>
          <a:p>
            <a:pPr lvl="0"/>
            <a:r>
              <a:rPr/>
              <a:t>Results are not very surprising.</a:t>
            </a:r>
          </a:p>
          <a:p>
            <a:pPr lvl="0"/>
            <a:r>
              <a:rPr/>
              <a:t>Results have unclear importance.</a:t>
            </a:r>
          </a:p>
          <a:p>
            <a:pPr lvl="0" indent="0" marL="1270000">
              <a:buNone/>
            </a:pPr>
            <a:r>
              <a:rPr sz="2000" b="1"/>
              <a:t>Recommendation</a:t>
            </a:r>
          </a:p>
          <a:p>
            <a:pPr lvl="0" indent="0" marL="1270000">
              <a:buNone/>
            </a:pPr>
            <a:r>
              <a:rPr sz="2000" i="1"/>
              <a:t>Some Reflections on Contribution</a:t>
            </a:r>
            <a:r>
              <a:rPr sz="2000"/>
              <a:t> (Rynes) — available on the course Moodle.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Contribution (II) — sources of good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Activity</a:t>
            </a:r>
            <a:r>
              <a:rPr/>
              <a:t> — frequent interactions with industry experts and academic colleagues are related to the beginning of great research ideas.</a:t>
            </a:r>
          </a:p>
          <a:p>
            <a:pPr lvl="0"/>
            <a:r>
              <a:rPr b="1"/>
              <a:t>Intuition</a:t>
            </a:r>
            <a:r>
              <a:rPr/>
              <a:t> — often a </a:t>
            </a:r>
            <a:r>
              <a:rPr b="1"/>
              <a:t>feeling of excitement</a:t>
            </a:r>
            <a:r>
              <a:rPr/>
              <a:t> rather than logical analysis leads to important research leads.</a:t>
            </a:r>
          </a:p>
          <a:p>
            <a:pPr lvl="0"/>
            <a:r>
              <a:rPr b="1"/>
              <a:t>Theory</a:t>
            </a:r>
            <a:r>
              <a:rPr/>
              <a:t> — new pieces of theory or puzzles point towards something that is still poorly understood.</a:t>
            </a:r>
          </a:p>
          <a:p>
            <a:pPr lvl="0"/>
            <a:r>
              <a:rPr b="1"/>
              <a:t>Real world</a:t>
            </a:r>
            <a:r>
              <a:rPr/>
              <a:t> — research problems often have an applied flavour, tackling current real-world issues.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Contribution (III) —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Contribution of topics </a:t>
            </a:r>
            <a:r>
              <a:rPr b="1"/>
              <a:t>varies over time</a:t>
            </a:r>
            <a:r>
              <a:rPr/>
              <a:t>.</a:t>
            </a:r>
          </a:p>
          <a:p>
            <a:pPr lvl="0"/>
            <a:r>
              <a:rPr/>
              <a:t>Example: banking topics were “hot” during the financial crisis with many insolvent banks and huge public rescue plans.</a:t>
            </a:r>
          </a:p>
          <a:p>
            <a:pPr lvl="0"/>
            <a:r>
              <a:rPr i="1"/>
              <a:t>But:</a:t>
            </a:r>
            <a:r>
              <a:rPr/>
              <a:t> many researchers jump on these hot topics! By the time you finish, the wave has crested.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Contribution (IV) —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New data sets enable new research questions.</a:t>
            </a:r>
          </a:p>
          <a:p>
            <a:pPr lvl="0"/>
            <a:r>
              <a:rPr/>
              <a:t>New data sets allow new identification strategies.</a:t>
            </a:r>
          </a:p>
          <a:p>
            <a:pPr lvl="0"/>
            <a:r>
              <a:rPr/>
              <a:t>New (and usually larger) data sets allow better inference.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Top publications require </a:t>
            </a:r>
            <a:r>
              <a:rPr b="1"/>
              <a:t>very robust identification</a:t>
            </a:r>
            <a:r>
              <a:rPr/>
              <a:t>.</a:t>
            </a:r>
          </a:p>
          <a:p>
            <a:pPr lvl="0"/>
            <a:r>
              <a:rPr b="1"/>
              <a:t>Don’t confuse correlation with causality.</a:t>
            </a:r>
          </a:p>
          <a:p>
            <a:pPr lvl="0"/>
            <a:r>
              <a:rPr/>
              <a:t>Read state-of-the-art empirical papers.</a:t>
            </a:r>
          </a:p>
          <a:p>
            <a:pPr lvl="0"/>
            <a:r>
              <a:rPr/>
              <a:t>Be as close to a </a:t>
            </a:r>
            <a:r>
              <a:rPr b="1"/>
              <a:t>randomized experiment</a:t>
            </a:r>
            <a:r>
              <a:rPr/>
              <a:t> as possible.</a:t>
            </a:r>
          </a:p>
          <a:p>
            <a:pPr lvl="0" indent="0" marL="1270000">
              <a:buNone/>
            </a:pPr>
            <a:r>
              <a:rPr sz="2000" b="1"/>
              <a:t>Recommendation</a:t>
            </a:r>
          </a:p>
          <a:p>
            <a:pPr lvl="0" indent="0" marL="1270000">
              <a:buNone/>
            </a:pPr>
            <a:r>
              <a:rPr sz="2000" i="1"/>
              <a:t>Mostly Harmless Econometrics: An Empiricist’s Companion</a:t>
            </a:r>
            <a:r>
              <a:rPr sz="2000"/>
              <a:t> (Angrist and Pischke 2009).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Write-up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Awesome: you put together a set of results!</a:t>
            </a:r>
          </a:p>
          <a:p>
            <a:pPr lvl="0"/>
            <a:r>
              <a:rPr/>
              <a:t>The </a:t>
            </a:r>
            <a:r>
              <a:rPr b="1"/>
              <a:t>write-up should be at least as important</a:t>
            </a:r>
            <a:r>
              <a:rPr/>
              <a:t> as the econometrics.</a:t>
            </a:r>
          </a:p>
          <a:p>
            <a:pPr lvl="0"/>
            <a:r>
              <a:rPr/>
              <a:t>Be prepared to rewrite the paper many times.</a:t>
            </a:r>
          </a:p>
          <a:p>
            <a:pPr lvl="0"/>
            <a:r>
              <a:rPr b="1"/>
              <a:t>Title / Abstract / Introduction</a:t>
            </a:r>
            <a:r>
              <a:rPr/>
              <a:t> are the most important parts.</a:t>
            </a:r>
          </a:p>
          <a:p>
            <a:pPr lvl="0" indent="0" marL="1270000">
              <a:buNone/>
            </a:pPr>
            <a:r>
              <a:rPr sz="2000" b="1"/>
              <a:t>Recommendation</a:t>
            </a:r>
          </a:p>
          <a:p>
            <a:pPr lvl="0" indent="0" marL="1270000">
              <a:buNone/>
            </a:pPr>
            <a:r>
              <a:rPr sz="2000" i="1"/>
              <a:t>Writing Tips for Ph.D. Students</a:t>
            </a:r>
            <a:r>
              <a:rPr sz="2000"/>
              <a:t> (Cochrane 2005) — available on the course Moodle.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The publication process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 patient — but learn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“You have to learn to be patient.” — “Learn? I want to be patient now!”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find 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you really interested in?</a:t>
            </a:r>
          </a:p>
          <a:p>
            <a:pPr lvl="0"/>
            <a:r>
              <a:rPr/>
              <a:t>You need to be </a:t>
            </a:r>
            <a:r>
              <a:rPr b="1"/>
              <a:t>very (!)</a:t>
            </a:r>
            <a:r>
              <a:rPr/>
              <a:t> interested in the topic — you’ll invest a lot of time in it over the next years.</a:t>
            </a:r>
          </a:p>
          <a:p>
            <a:pPr lvl="0"/>
            <a:r>
              <a:rPr/>
              <a:t>Read relevant and current literature.</a:t>
            </a:r>
          </a:p>
          <a:p>
            <a:pPr lvl="0"/>
            <a:r>
              <a:rPr b="1"/>
              <a:t>Nail down a specific contribution</a:t>
            </a:r>
            <a:r>
              <a:rPr/>
              <a:t> to the existing literature.</a:t>
            </a:r>
          </a:p>
          <a:p>
            <a:pPr lvl="0"/>
            <a:r>
              <a:rPr/>
              <a:t>Concentrate on </a:t>
            </a:r>
            <a:r>
              <a:rPr b="1"/>
              <a:t>one central research question</a:t>
            </a:r>
            <a:r>
              <a:rPr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write a research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Compose a </a:t>
            </a:r>
            <a:r>
              <a:rPr b="1"/>
              <a:t>one-page</a:t>
            </a:r>
            <a:r>
              <a:rPr/>
              <a:t> write-up = research proposal.</a:t>
            </a:r>
          </a:p>
          <a:p>
            <a:pPr lvl="0"/>
            <a:r>
              <a:rPr/>
              <a:t>Concentrate on the first two main factors that make a good paper:</a:t>
            </a:r>
          </a:p>
          <a:p>
            <a:pPr lvl="1" indent="-457200" marL="914400">
              <a:buAutoNum type="arabicPeriod"/>
            </a:pPr>
            <a:r>
              <a:rPr/>
              <a:t>Contribution</a:t>
            </a:r>
          </a:p>
          <a:p>
            <a:pPr lvl="1" indent="-457200" marL="914400">
              <a:buAutoNum type="arabicPeriod"/>
            </a:pPr>
            <a:r>
              <a:rPr/>
              <a:t>Identification</a:t>
            </a:r>
          </a:p>
          <a:p>
            <a:pPr lvl="0"/>
            <a:r>
              <a:rPr/>
              <a:t>Is it </a:t>
            </a:r>
            <a:r>
              <a:rPr b="1"/>
              <a:t>feasible</a:t>
            </a:r>
            <a:r>
              <a:rPr/>
              <a:t> (do you have access to specific data, etc.)?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— find coauthors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Think about suitable </a:t>
            </a:r>
            <a:r>
              <a:rPr b="1"/>
              <a:t>coauthors</a:t>
            </a:r>
            <a:r>
              <a:rPr/>
              <a:t>.</a:t>
            </a:r>
          </a:p>
          <a:p>
            <a:pPr lvl="0"/>
            <a:r>
              <a:rPr/>
              <a:t>The coauthor may be your </a:t>
            </a:r>
            <a:r>
              <a:rPr b="1"/>
              <a:t>supervisor(s)</a:t>
            </a:r>
            <a:r>
              <a:rPr/>
              <a:t>.</a:t>
            </a:r>
          </a:p>
          <a:p>
            <a:pPr lvl="0"/>
            <a:r>
              <a:rPr/>
              <a:t>Look for other suitable coauthors, especially if your supervisor isn’t close to your research topic:</a:t>
            </a:r>
          </a:p>
          <a:p>
            <a:pPr lvl="1"/>
            <a:r>
              <a:rPr/>
              <a:t>Attend conferences and connect to people in your area.</a:t>
            </a:r>
          </a:p>
          <a:p>
            <a:pPr lvl="1"/>
            <a:r>
              <a:rPr/>
              <a:t>Attend seminar series and ask intelligent questions.</a:t>
            </a:r>
          </a:p>
          <a:p>
            <a:pPr lvl="1"/>
            <a:r>
              <a:rPr/>
              <a:t>Visit good universities.</a:t>
            </a:r>
          </a:p>
          <a:p>
            <a:pPr lvl="0"/>
            <a:r>
              <a:rPr/>
              <a:t>Send your proposal to suitable researchers via email for feedback.</a:t>
            </a:r>
          </a:p>
          <a:p>
            <a:pPr lvl="1"/>
            <a:r>
              <a:rPr/>
              <a:t>If you get a detailed and nice answer, ask whether they want to work with you.</a:t>
            </a:r>
          </a:p>
          <a:p>
            <a:pPr lvl="1"/>
            <a:r>
              <a:rPr/>
              <a:t>It is always better to know them personally.</a:t>
            </a:r>
          </a:p>
          <a:p>
            <a:pPr lvl="1"/>
            <a:r>
              <a:rPr b="1"/>
              <a:t>Risk of being copied!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 — discuss the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Discuss your research proposal with supervisors and other suitable people (fellow students, industry experts).</a:t>
            </a:r>
          </a:p>
          <a:p>
            <a:pPr lvl="0"/>
            <a:r>
              <a:rPr/>
              <a:t>Two outcomes:</a:t>
            </a:r>
          </a:p>
          <a:p>
            <a:pPr lvl="1"/>
            <a:r>
              <a:rPr b="1"/>
              <a:t>Great response</a:t>
            </a:r>
            <a:r>
              <a:rPr/>
              <a:t> — adjust proposal and move forward.</a:t>
            </a:r>
          </a:p>
          <a:p>
            <a:pPr lvl="1"/>
            <a:r>
              <a:rPr b="1"/>
              <a:t>Not good enough</a:t>
            </a:r>
            <a:r>
              <a:rPr/>
              <a:t> — either adjust thoroughly or </a:t>
            </a:r>
            <a:r>
              <a:rPr b="1"/>
              <a:t>stop the project</a:t>
            </a:r>
            <a:r>
              <a:rPr/>
              <a:t>.</a:t>
            </a:r>
          </a:p>
          <a:p>
            <a:pPr lvl="0"/>
            <a:r>
              <a:rPr/>
              <a:t>This early you can still stop the project without too much time lost.</a:t>
            </a:r>
          </a:p>
          <a:p>
            <a:pPr lvl="0"/>
            <a:r>
              <a:rPr/>
              <a:t>The higher your goals, the stricter you need to be on what projects you undertake.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5 — collect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Collect</a:t>
            </a:r>
            <a:r>
              <a:rPr/>
              <a:t>.</a:t>
            </a:r>
          </a:p>
          <a:p>
            <a:pPr lvl="0"/>
            <a:r>
              <a:rPr b="1"/>
              <a:t>Structure</a:t>
            </a:r>
            <a:r>
              <a:rPr/>
              <a:t>.</a:t>
            </a:r>
          </a:p>
          <a:p>
            <a:pPr lvl="0"/>
            <a:r>
              <a:rPr b="1"/>
              <a:t>Clean</a:t>
            </a:r>
            <a:r>
              <a:rPr/>
              <a:t> — distributional graphs (outliers?), missing data.</a:t>
            </a:r>
          </a:p>
          <a:p>
            <a:pPr lvl="0"/>
            <a:r>
              <a:rPr b="1"/>
              <a:t>Descriptive analysis</a:t>
            </a:r>
            <a:r>
              <a:rPr/>
              <a:t> (univariate statistics).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 — empirical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</a:t>
            </a:r>
            <a:r>
              <a:rPr b="1"/>
              <a:t>empirical analyses</a:t>
            </a:r>
            <a:r>
              <a:rPr/>
              <a:t> according to identification strategy.</a:t>
            </a:r>
          </a:p>
          <a:p>
            <a:pPr lvl="0"/>
            <a:r>
              <a:rPr/>
              <a:t>Conduct </a:t>
            </a:r>
            <a:r>
              <a:rPr b="1"/>
              <a:t>robustness checks</a:t>
            </a:r>
            <a:r>
              <a:rPr/>
              <a:t>.</a:t>
            </a:r>
          </a:p>
          <a:p>
            <a:pPr lvl="0"/>
            <a:r>
              <a:rPr/>
              <a:t>Put together results according to your proposal’s story line.</a:t>
            </a:r>
          </a:p>
          <a:p>
            <a:pPr lvl="0"/>
            <a:r>
              <a:rPr/>
              <a:t>Discuss results with supervisor and others.</a:t>
            </a:r>
          </a:p>
          <a:p>
            <a:pPr lvl="0"/>
            <a:r>
              <a:rPr/>
              <a:t>You need very original (even surprising) and robust results for a top publication (less important for a working-paper version for the dissertation).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7 — first working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Write down </a:t>
            </a:r>
            <a:r>
              <a:rPr b="1"/>
              <a:t>first working paper</a:t>
            </a:r>
            <a:r>
              <a:rPr/>
              <a:t> version.</a:t>
            </a:r>
          </a:p>
          <a:p>
            <a:pPr lvl="0"/>
            <a:r>
              <a:rPr/>
              <a:t>Get feedback from supervisor and others.</a:t>
            </a:r>
          </a:p>
          <a:p>
            <a:pPr lvl="0"/>
            <a:r>
              <a:rPr/>
              <a:t>It’s a tough world: you’ll realise that few people, if any at all, read your paper.</a:t>
            </a:r>
          </a:p>
          <a:p>
            <a:pPr lvl="0"/>
            <a:r>
              <a:rPr b="1"/>
              <a:t>Offer to read others’ papers</a:t>
            </a:r>
            <a:r>
              <a:rPr/>
              <a:t> — and you’ll know more people who read yours.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8 — present and revise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Present the paper (at internal </a:t>
            </a:r>
            <a:r>
              <a:rPr b="1"/>
              <a:t>brown bag seminar</a:t>
            </a:r>
            <a:r>
              <a:rPr/>
              <a:t>).</a:t>
            </a:r>
          </a:p>
          <a:p>
            <a:pPr lvl="0"/>
            <a:r>
              <a:rPr/>
              <a:t>Adjust paper.</a:t>
            </a:r>
          </a:p>
          <a:p>
            <a:pPr lvl="0"/>
            <a:r>
              <a:rPr/>
              <a:t>Yes, you need to invest a lot of time revising!</a:t>
            </a:r>
          </a:p>
          <a:p>
            <a:pPr lvl="0"/>
            <a:r>
              <a:rPr/>
              <a:t>Invest some money for </a:t>
            </a:r>
            <a:r>
              <a:rPr b="1"/>
              <a:t>professional editing</a:t>
            </a:r>
            <a:r>
              <a:rPr/>
              <a:t> — most of us aren’t native English speakers.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9 — submit to conferences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Submit paper to good finance conferences.</a:t>
            </a:r>
          </a:p>
          <a:p>
            <a:pPr lvl="0"/>
            <a:r>
              <a:rPr/>
              <a:t>Good signal to have paper accepted at top finance conferences (</a:t>
            </a:r>
            <a:r>
              <a:rPr b="1"/>
              <a:t>WFA, AFA, EFA, FIRS</a:t>
            </a:r>
            <a:r>
              <a:rPr/>
              <a:t>) since people know it</a:t>
            </a:r>
          </a:p>
          <a:p>
            <a:pPr lvl="1"/>
            <a:r>
              <a:rPr/>
              <a:t>for </a:t>
            </a:r>
            <a:r>
              <a:rPr b="1"/>
              <a:t>international job market</a:t>
            </a:r>
            <a:r>
              <a:rPr/>
              <a:t> (ASSA);</a:t>
            </a:r>
          </a:p>
          <a:p>
            <a:pPr lvl="1"/>
            <a:r>
              <a:rPr/>
              <a:t>for later publication at top journals.</a:t>
            </a:r>
          </a:p>
          <a:p>
            <a:pPr lvl="0"/>
            <a:r>
              <a:rPr/>
              <a:t>Time-consuming because conferences take place many months after the submission deadline.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10 — choose the right 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Which journal</a:t>
            </a:r>
            <a:r>
              <a:rPr/>
              <a:t> fits your paper?</a:t>
            </a:r>
          </a:p>
          <a:p>
            <a:pPr lvl="0"/>
            <a:r>
              <a:rPr/>
              <a:t>Which journals do you </a:t>
            </a:r>
            <a:r>
              <a:rPr b="1"/>
              <a:t>cite</a:t>
            </a:r>
            <a:r>
              <a:rPr/>
              <a:t>? Most relevant publications signal a suitable journal.</a:t>
            </a:r>
          </a:p>
          <a:p>
            <a:pPr lvl="0"/>
            <a:r>
              <a:rPr/>
              <a:t>Try to aim </a:t>
            </a:r>
            <a:r>
              <a:rPr b="1"/>
              <a:t>higher</a:t>
            </a:r>
            <a:r>
              <a:rPr/>
              <a:t> than expected at the beginning. Top-5 finance journals usually need ≤ 3 months for first-round decisions; econ journals often longer.</a:t>
            </a:r>
          </a:p>
          <a:p>
            <a:pPr lvl="0"/>
            <a:r>
              <a:rPr b="1"/>
              <a:t>Strategic citations</a:t>
            </a:r>
            <a:r>
              <a:rPr/>
              <a:t>: who are likely referees? Don’t miss citing papers from authors at target journals; check typos in author names.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finance journals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  <a:p>
            <a:pPr lvl="0"/>
            <a:r>
              <a:rPr/>
              <a:t>Journal of Finance</a:t>
            </a:r>
          </a:p>
          <a:p>
            <a:pPr lvl="0"/>
            <a:r>
              <a:rPr/>
              <a:t>Review of Financial Studies</a:t>
            </a:r>
          </a:p>
          <a:p>
            <a:pPr lvl="0"/>
            <a:r>
              <a:rPr/>
              <a:t>Journal of Financial Economics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A−</a:t>
            </a:r>
          </a:p>
          <a:p>
            <a:pPr lvl="0"/>
            <a:r>
              <a:rPr/>
              <a:t>Review of Finance</a:t>
            </a:r>
          </a:p>
          <a:p>
            <a:pPr lvl="0"/>
            <a:r>
              <a:rPr/>
              <a:t>Journal of Financial and Quantitative Analysis</a:t>
            </a:r>
          </a:p>
          <a:p>
            <a:pPr lvl="0"/>
            <a:r>
              <a:rPr/>
              <a:t>Management Science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Caveats</a:t>
            </a:r>
          </a:p>
          <a:p>
            <a:pPr lvl="0"/>
            <a:r>
              <a:rPr sz="2000"/>
              <a:t>The B list is not comprehensive — those listed are most relevant for Banking, Financial Intermediation, and general Finance.</a:t>
            </a:r>
          </a:p>
          <a:p>
            <a:pPr lvl="0"/>
            <a:r>
              <a:rPr sz="2000"/>
              <a:t>Country-specific differences in journal perception.</a:t>
            </a:r>
          </a:p>
          <a:p>
            <a:pPr lvl="0"/>
            <a:r>
              <a:rPr sz="2000"/>
              <a:t>Steady increase of new journals — including very good ones (e.g., RFS sub-journals for corporate finance and asset pricing) but mostly journals that are not read.</a:t>
            </a:r>
          </a:p>
          <a:p>
            <a:pPr lvl="0"/>
            <a:r>
              <a:rPr sz="2000"/>
              <a:t>Open-source journals can be a good alternative (faster, cheaper) but often not in rankings.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econ journals (Handelsblatt ranking)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  <a:p>
            <a:pPr lvl="0"/>
            <a:r>
              <a:rPr/>
              <a:t>American Economic Review</a:t>
            </a:r>
          </a:p>
          <a:p>
            <a:pPr lvl="0"/>
            <a:r>
              <a:rPr/>
              <a:t>Econometrica</a:t>
            </a:r>
          </a:p>
          <a:p>
            <a:pPr lvl="0"/>
            <a:r>
              <a:rPr/>
              <a:t>Journal of Political Economy</a:t>
            </a:r>
          </a:p>
          <a:p>
            <a:pPr lvl="0"/>
            <a:r>
              <a:rPr/>
              <a:t>Quarterly Journal of Economics</a:t>
            </a:r>
          </a:p>
          <a:p>
            <a:pPr lvl="0"/>
            <a:r>
              <a:rPr/>
              <a:t>Review of Economic Studies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A−</a:t>
            </a:r>
          </a:p>
          <a:p>
            <a:pPr lvl="0"/>
            <a:r>
              <a:rPr/>
              <a:t>Bell Journal of Economics</a:t>
            </a:r>
          </a:p>
          <a:p>
            <a:pPr lvl="0"/>
            <a:r>
              <a:rPr/>
              <a:t>Econometric Theory</a:t>
            </a:r>
          </a:p>
          <a:p>
            <a:pPr lvl="0"/>
            <a:r>
              <a:rPr/>
              <a:t>European Economic Review</a:t>
            </a:r>
          </a:p>
          <a:p>
            <a:pPr lvl="0"/>
            <a:r>
              <a:rPr/>
              <a:t>Games and Economic Behavior</a:t>
            </a:r>
          </a:p>
          <a:p>
            <a:pPr lvl="0"/>
            <a:r>
              <a:rPr/>
              <a:t>International Economic Review</a:t>
            </a:r>
          </a:p>
          <a:p>
            <a:pPr lvl="0"/>
            <a:r>
              <a:rPr/>
              <a:t>Journal of Business and Economic Statistics</a:t>
            </a:r>
          </a:p>
          <a:p>
            <a:pPr lvl="0"/>
            <a:r>
              <a:rPr/>
              <a:t>Journal of Econometrics</a:t>
            </a:r>
          </a:p>
          <a:p>
            <a:pPr lvl="0"/>
            <a:r>
              <a:rPr/>
              <a:t>Journal of Economic Theory</a:t>
            </a:r>
          </a:p>
          <a:p>
            <a:pPr lvl="0"/>
            <a:r>
              <a:rPr/>
              <a:t>Journal of Finance</a:t>
            </a:r>
          </a:p>
          <a:p>
            <a:pPr lvl="0"/>
            <a:r>
              <a:rPr/>
              <a:t>Journal of International Economics</a:t>
            </a:r>
          </a:p>
          <a:p>
            <a:pPr lvl="0"/>
            <a:r>
              <a:rPr/>
              <a:t>Journal of Labor Economics</a:t>
            </a:r>
          </a:p>
          <a:p>
            <a:pPr lvl="0"/>
            <a:r>
              <a:rPr/>
              <a:t>Journal of Monetary Economics</a:t>
            </a:r>
          </a:p>
          <a:p>
            <a:pPr lvl="0"/>
            <a:r>
              <a:rPr/>
              <a:t>Journal of Public Economics</a:t>
            </a:r>
          </a:p>
          <a:p>
            <a:pPr lvl="0"/>
            <a:r>
              <a:rPr/>
              <a:t>Journal of the American Statistical Association</a:t>
            </a:r>
          </a:p>
          <a:p>
            <a:pPr lvl="0"/>
            <a:r>
              <a:rPr/>
              <a:t>Journal of the European Economic Association</a:t>
            </a:r>
          </a:p>
          <a:p>
            <a:pPr lvl="0"/>
            <a:r>
              <a:rPr/>
              <a:t>Rand Journal of Economics</a:t>
            </a:r>
          </a:p>
          <a:p>
            <a:pPr lvl="0"/>
            <a:r>
              <a:rPr/>
              <a:t>Review of Economics and Statistics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10 journals — Eigenfactor Scores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Eigenfactor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American Economic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 of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 of Financial Economics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Quarterly Journal of Economics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 of Financial Studies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Econometrica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 of Econometrics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Journal of Political Economy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 of Economic Studies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 of Economics and Statistics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0.0289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Source:</a:t>
            </a:r>
            <a:r>
              <a:rPr sz="2000"/>
              <a:t> JCR, Year and Edition: 2010 Social Science.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outcome — rejection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paper is rejected.</a:t>
            </a:r>
          </a:p>
          <a:p>
            <a:pPr lvl="0"/>
            <a:r>
              <a:rPr b="1"/>
              <a:t>Don’t be upset and don’t take it personal!</a:t>
            </a:r>
          </a:p>
          <a:p>
            <a:pPr lvl="0"/>
            <a:r>
              <a:rPr/>
              <a:t>Rejection rates are </a:t>
            </a:r>
            <a:r>
              <a:rPr b="1"/>
              <a:t>very high</a:t>
            </a:r>
            <a:r>
              <a:rPr/>
              <a:t> at top journals.</a:t>
            </a:r>
          </a:p>
          <a:p>
            <a:pPr lvl="0"/>
            <a:r>
              <a:rPr/>
              <a:t>The average top paper collects several rejections as well!</a:t>
            </a:r>
          </a:p>
          <a:p>
            <a:pPr lvl="0"/>
            <a:r>
              <a:rPr/>
              <a:t>Try to identify suggestions that are feasible and justified, do additional analyses, rewrite, submit to the next suitable journal.</a:t>
            </a:r>
          </a:p>
          <a:p>
            <a:pPr lvl="0"/>
            <a:r>
              <a:rPr/>
              <a:t>Nice editors might recommend a suitable journal.</a:t>
            </a:r>
          </a:p>
          <a:p>
            <a:pPr lvl="0"/>
            <a:r>
              <a:rPr/>
              <a:t>Sometimes you get a crappy report that is not helpful at all — just submit to the next journal.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outcome (I) — Revise &amp; Resubmit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paper received a </a:t>
            </a:r>
            <a:r>
              <a:rPr b="1"/>
              <a:t>revise &amp; resubmit</a:t>
            </a:r>
            <a:r>
              <a:rPr/>
              <a:t>.</a:t>
            </a:r>
          </a:p>
          <a:p>
            <a:pPr lvl="0"/>
            <a:r>
              <a:rPr/>
              <a:t>Congratulations! You made it into the next round.</a:t>
            </a:r>
          </a:p>
          <a:p>
            <a:pPr lvl="0"/>
            <a:r>
              <a:rPr b="1"/>
              <a:t>Strategy:</a:t>
            </a:r>
            <a:r>
              <a:rPr/>
              <a:t> address as many of the referees’ suggestions as possible.</a:t>
            </a:r>
          </a:p>
          <a:p>
            <a:pPr lvl="0"/>
            <a:r>
              <a:rPr/>
              <a:t>These guys are the </a:t>
            </a:r>
            <a:r>
              <a:rPr b="1"/>
              <a:t>gatekeepers!</a:t>
            </a:r>
          </a:p>
          <a:p>
            <a:pPr lvl="0"/>
            <a:r>
              <a:rPr/>
              <a:t>Do the additional tests and </a:t>
            </a:r>
            <a:r>
              <a:rPr b="1"/>
              <a:t>pray that your main results hold!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outcome (II) — write the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Rewrite your paper and put together a response to the referee(s).</a:t>
            </a:r>
          </a:p>
          <a:p>
            <a:pPr lvl="0"/>
            <a:r>
              <a:rPr/>
              <a:t>Copy their comments into the response.</a:t>
            </a:r>
          </a:p>
          <a:p>
            <a:pPr lvl="0"/>
            <a:r>
              <a:rPr/>
              <a:t>Add your response after each issue.</a:t>
            </a:r>
          </a:p>
          <a:p>
            <a:pPr lvl="0"/>
            <a:r>
              <a:rPr/>
              <a:t>Link to new tables in the paper.</a:t>
            </a:r>
          </a:p>
          <a:p>
            <a:pPr lvl="0"/>
            <a:r>
              <a:rPr/>
              <a:t>Most often you cannot put </a:t>
            </a:r>
            <a:r>
              <a:rPr b="1"/>
              <a:t>all</a:t>
            </a:r>
            <a:r>
              <a:rPr/>
              <a:t> the new results into the paper.</a:t>
            </a:r>
          </a:p>
          <a:p>
            <a:pPr lvl="0"/>
            <a:r>
              <a:rPr/>
              <a:t>Put these tables into the report to the referee(s) — referees like you being explicit and transparent about new results!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outcome (III) — disagreements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major R&amp;R can be as time-consuming as writing the first version.</a:t>
            </a:r>
          </a:p>
          <a:p>
            <a:pPr lvl="0"/>
            <a:r>
              <a:rPr/>
              <a:t>You may not always agree with some of the referee’s suggestions.</a:t>
            </a:r>
          </a:p>
          <a:p>
            <a:pPr lvl="0"/>
            <a:r>
              <a:rPr/>
              <a:t>You should still try to address them in a </a:t>
            </a:r>
            <a:r>
              <a:rPr b="1"/>
              <a:t>polite</a:t>
            </a:r>
            <a:r>
              <a:rPr/>
              <a:t> way.</a:t>
            </a:r>
          </a:p>
          <a:p>
            <a:pPr lvl="0"/>
            <a:r>
              <a:rPr/>
              <a:t>It can be </a:t>
            </a:r>
            <a:r>
              <a:rPr b="1"/>
              <a:t>risky</a:t>
            </a:r>
            <a:r>
              <a:rPr/>
              <a:t> to argue with a referee.</a:t>
            </a:r>
          </a:p>
          <a:p>
            <a:pPr lvl="0"/>
            <a:r>
              <a:rPr/>
              <a:t>If the editor highlights some issues: put extra effort into addressing them. </a:t>
            </a:r>
            <a:r>
              <a:rPr b="1"/>
              <a:t>At the end, the editor decides which paper gets published!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After acceptance, the journal requests the Word/TeX files and original files for graphs.</a:t>
            </a:r>
          </a:p>
          <a:p>
            <a:pPr lvl="0"/>
            <a:r>
              <a:rPr/>
              <a:t>You’ll get a </a:t>
            </a:r>
            <a:r>
              <a:rPr b="1"/>
              <a:t>proof</a:t>
            </a:r>
            <a:r>
              <a:rPr/>
              <a:t> that needs to be cross-checked.</a:t>
            </a:r>
          </a:p>
          <a:p>
            <a:pPr lvl="0"/>
            <a:r>
              <a:rPr/>
              <a:t>Usually your paper appears online at the journal’s website before the print publication (you can cite by journal name &amp; </a:t>
            </a:r>
            <a:r>
              <a:rPr b="1"/>
              <a:t>forthcoming</a:t>
            </a:r>
            <a:r>
              <a:rPr/>
              <a:t>).</a:t>
            </a:r>
          </a:p>
          <a:p>
            <a:pPr lvl="0"/>
            <a:r>
              <a:rPr/>
              <a:t>If you don’t receive the proof or don’t see your paper online soon after returning the proof — </a:t>
            </a:r>
            <a:r>
              <a:rPr b="1"/>
              <a:t>write the journal and ask what is going on!</a:t>
            </a:r>
          </a:p>
          <a:p>
            <a:pPr lvl="0"/>
            <a:r>
              <a:rPr/>
              <a:t>Often you also need to provide your </a:t>
            </a:r>
            <a:r>
              <a:rPr b="1"/>
              <a:t>code and data</a:t>
            </a:r>
            <a:r>
              <a:rPr/>
              <a:t>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Referee reports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assess whether a paper is good or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structure of a referee report:</a:t>
            </a:r>
          </a:p>
          <a:p>
            <a:pPr lvl="0" indent="-457200" marL="457200">
              <a:buAutoNum type="arabicPeriod"/>
            </a:pPr>
            <a:r>
              <a:rPr b="1"/>
              <a:t>Summary</a:t>
            </a:r>
          </a:p>
          <a:p>
            <a:pPr lvl="0" indent="-457200" marL="457200">
              <a:buAutoNum type="arabicPeriod"/>
            </a:pPr>
            <a:r>
              <a:rPr b="1"/>
              <a:t>Major issues</a:t>
            </a:r>
          </a:p>
          <a:p>
            <a:pPr lvl="0" indent="-457200" marL="457200">
              <a:buAutoNum type="arabicPeriod"/>
            </a:pPr>
            <a:r>
              <a:rPr b="1"/>
              <a:t>Minor issues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report — 1.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a short summary of the paper using </a:t>
            </a:r>
            <a:r>
              <a:rPr b="1"/>
              <a:t>your own words</a:t>
            </a:r>
            <a:r>
              <a:rPr/>
              <a:t>:</a:t>
            </a:r>
          </a:p>
          <a:p>
            <a:pPr lvl="0"/>
            <a:r>
              <a:rPr/>
              <a:t>What is the question asked by the author?</a:t>
            </a:r>
          </a:p>
          <a:p>
            <a:pPr lvl="0"/>
            <a:r>
              <a:rPr/>
              <a:t>What is the identification strategy?</a:t>
            </a:r>
          </a:p>
          <a:p>
            <a:pPr lvl="0"/>
            <a:r>
              <a:rPr/>
              <a:t>What data is used?</a:t>
            </a:r>
          </a:p>
          <a:p>
            <a:pPr lvl="0"/>
            <a:r>
              <a:rPr/>
              <a:t>How is the hypothesis formulated and tested?</a:t>
            </a:r>
          </a:p>
          <a:p>
            <a:pPr lvl="0"/>
            <a:r>
              <a:rPr/>
              <a:t>What are the results?</a:t>
            </a:r>
          </a:p>
          <a:p>
            <a:pPr lvl="0" indent="0" marL="1270000">
              <a:buNone/>
            </a:pPr>
            <a:r>
              <a:rPr sz="2000"/>
              <a:t>The purpose of this section is to summarise the paper for the editor in a way that lets him understand the essence of the paper and its contribution, </a:t>
            </a:r>
            <a:r>
              <a:rPr sz="2000" b="1"/>
              <a:t>without having to read it</a:t>
            </a:r>
            <a:r>
              <a:rPr sz="2000"/>
              <a:t>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report — 2. Major issues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Take 3 or 4 major </a:t>
            </a:r>
            <a:r>
              <a:rPr b="1"/>
              <a:t>negative (or positive)</a:t>
            </a:r>
            <a:r>
              <a:rPr/>
              <a:t> points that you have on the paper, one at a time.</a:t>
            </a:r>
          </a:p>
          <a:p>
            <a:pPr lvl="0"/>
            <a:r>
              <a:rPr/>
              <a:t>To do this, check carefully: the question, the theory/model, the link to the empirical analysis, the presentation of the data, the econometric analysis, and the results.</a:t>
            </a:r>
          </a:p>
          <a:p>
            <a:pPr lvl="0"/>
            <a:r>
              <a:rPr/>
              <a:t>Below is a checklist of the kinds of questions you should ask yourself.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report — 2. Major issues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 </a:t>
            </a:r>
            <a:r>
              <a:rPr b="1"/>
              <a:t>positive</a:t>
            </a:r>
            <a:r>
              <a:rPr/>
              <a:t> point, argue why the question is particularly important, the approach novel, the techniques new, the identification strategy innovative, the data unusual, etc.</a:t>
            </a:r>
          </a:p>
          <a:p>
            <a:pPr lvl="0"/>
            <a:r>
              <a:rPr/>
              <a:t>For a </a:t>
            </a:r>
            <a:r>
              <a:rPr b="1"/>
              <a:t>negative</a:t>
            </a:r>
            <a:r>
              <a:rPr/>
              <a:t> point, you are often looking for </a:t>
            </a:r>
            <a:r>
              <a:rPr b="1"/>
              <a:t>lack of correspondence</a:t>
            </a:r>
            <a:r>
              <a:rPr/>
              <a:t> between:</a:t>
            </a:r>
          </a:p>
          <a:p>
            <a:pPr lvl="1"/>
            <a:r>
              <a:rPr/>
              <a:t>the idea and the model,</a:t>
            </a:r>
          </a:p>
          <a:p>
            <a:pPr lvl="1"/>
            <a:r>
              <a:rPr/>
              <a:t>the model and the empiricism,</a:t>
            </a:r>
          </a:p>
          <a:p>
            <a:pPr lvl="1"/>
            <a:r>
              <a:rPr/>
              <a:t>the empirical strategy and the conclusion.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report — 2. Major issues (III)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Another argument for rejecting a paper is when the paper has nothing wrong but is </a:t>
            </a:r>
            <a:r>
              <a:rPr b="1"/>
              <a:t>boring and not new in any way</a:t>
            </a:r>
            <a:r>
              <a:rPr/>
              <a:t>. If this is one of your points, refer to other works to show why this is all well known and already done.</a:t>
            </a:r>
          </a:p>
          <a:p>
            <a:pPr lvl="0"/>
            <a:r>
              <a:rPr b="1"/>
              <a:t>Your main job:</a:t>
            </a:r>
          </a:p>
          <a:p>
            <a:pPr lvl="1"/>
            <a:r>
              <a:rPr/>
              <a:t>Find the most related papers and check whether the paper you assess is </a:t>
            </a:r>
            <a:r>
              <a:rPr b="1"/>
              <a:t>better / worse</a:t>
            </a:r>
            <a:r>
              <a:rPr/>
              <a:t> than the existing literature.</a:t>
            </a:r>
          </a:p>
          <a:p>
            <a:pPr lvl="1"/>
            <a:r>
              <a:rPr/>
              <a:t>Often, there are only a few very related papers.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report — 3. Minor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Usually, if you have major criticisms about a paper that lead you to recommend rejection, you don’t even need to do a section on less important issues.</a:t>
            </a:r>
          </a:p>
          <a:p>
            <a:pPr lvl="0" indent="0" marL="0">
              <a:buNone/>
            </a:pPr>
            <a:r>
              <a:rPr/>
              <a:t>However, hopefully the papers you’ll be reading are not so bad — and you may have some less important though useful suggestions to improve the paper.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checklist (I) — the question &amp;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question</a:t>
            </a:r>
          </a:p>
          <a:p>
            <a:pPr lvl="0"/>
            <a:r>
              <a:rPr/>
              <a:t>Is the topic clearly explained? Could the question be made more </a:t>
            </a:r>
            <a:r>
              <a:rPr b="1"/>
              <a:t>precise</a:t>
            </a:r>
            <a:r>
              <a:rPr/>
              <a:t>?</a:t>
            </a:r>
          </a:p>
          <a:p>
            <a:pPr lvl="0"/>
            <a:r>
              <a:rPr/>
              <a:t>Does the author do a good job of </a:t>
            </a:r>
            <a:r>
              <a:rPr b="1"/>
              <a:t>motivating</a:t>
            </a:r>
            <a:r>
              <a:rPr/>
              <a:t> the question in the introduction?</a:t>
            </a:r>
          </a:p>
          <a:p>
            <a:pPr lvl="0"/>
            <a:r>
              <a:rPr/>
              <a:t>Is the answer to the question </a:t>
            </a:r>
            <a:r>
              <a:rPr b="1"/>
              <a:t>obvious in advance</a:t>
            </a:r>
            <a:r>
              <a:rPr/>
              <a:t>?</a:t>
            </a:r>
          </a:p>
          <a:p>
            <a:pPr lvl="0"/>
            <a:r>
              <a:rPr/>
              <a:t>Is the question </a:t>
            </a:r>
            <a:r>
              <a:rPr b="1"/>
              <a:t>original</a:t>
            </a:r>
            <a:r>
              <a:rPr/>
              <a:t>? What is the contribution of the paper? Does the author pose a question of reasonable scope?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Identification strategy</a:t>
            </a:r>
          </a:p>
          <a:p>
            <a:pPr lvl="0"/>
            <a:r>
              <a:rPr/>
              <a:t>Is the identification strategy clearly explained, including the source of variation (e.g., fixed effects, instruments)?</a:t>
            </a:r>
          </a:p>
          <a:p>
            <a:pPr lvl="0"/>
            <a:r>
              <a:rPr/>
              <a:t>Does the author address </a:t>
            </a:r>
            <a:r>
              <a:rPr b="1"/>
              <a:t>endogeneity</a:t>
            </a:r>
            <a:r>
              <a:rPr/>
              <a:t> concerns (reverse causality, omitted variables)?</a:t>
            </a:r>
          </a:p>
          <a:p>
            <a:pPr lvl="0"/>
            <a:r>
              <a:rPr/>
              <a:t>Are assumptions about error terms justified (uncorrelated with regressors)?</a:t>
            </a:r>
          </a:p>
          <a:p>
            <a:pPr lvl="0"/>
            <a:r>
              <a:rPr/>
              <a:t>Is the strategy </a:t>
            </a:r>
            <a:r>
              <a:rPr b="1"/>
              <a:t>robust</a:t>
            </a:r>
            <a:r>
              <a:rPr/>
              <a:t> to alternatives (different controls, specifications)?</a:t>
            </a:r>
          </a:p>
          <a:p>
            <a:pPr lvl="0"/>
            <a:r>
              <a:rPr/>
              <a:t>Does it convincingly identify causal effects rather than mere correlations?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checklist (II) —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author present a </a:t>
            </a:r>
            <a:r>
              <a:rPr b="1"/>
              <a:t>clear description</a:t>
            </a:r>
            <a:r>
              <a:rPr/>
              <a:t> of the data?</a:t>
            </a:r>
          </a:p>
          <a:p>
            <a:pPr lvl="0"/>
            <a:r>
              <a:rPr/>
              <a:t>Does the author’s choice of dataset seem </a:t>
            </a:r>
            <a:r>
              <a:rPr b="1"/>
              <a:t>well-suited</a:t>
            </a:r>
            <a:r>
              <a:rPr/>
              <a:t> to answering the question?</a:t>
            </a:r>
          </a:p>
          <a:p>
            <a:pPr lvl="0"/>
            <a:r>
              <a:rPr/>
              <a:t>If you had to </a:t>
            </a:r>
            <a:r>
              <a:rPr b="1"/>
              <a:t>replicate</a:t>
            </a:r>
            <a:r>
              <a:rPr/>
              <a:t> the author’s study five years from now, is there sufficient information about the source of the data and the sample used?</a:t>
            </a:r>
          </a:p>
          <a:p>
            <a:pPr lvl="0"/>
            <a:r>
              <a:rPr/>
              <a:t>Does the author discuss issues that may affect the estimation strategy: random sample? known sources of measurement error? cross-sectional dependence in panels?</a:t>
            </a:r>
          </a:p>
          <a:p>
            <a:pPr lvl="0"/>
            <a:r>
              <a:rPr/>
              <a:t>Does the author present </a:t>
            </a:r>
            <a:r>
              <a:rPr b="1"/>
              <a:t>summary statistics</a:t>
            </a:r>
            <a:r>
              <a:rPr/>
              <a:t>, and make good use of them to motivate the question or specific aspects of the analysis?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checklist (III) — econometric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Are the econometric techniques </a:t>
            </a:r>
            <a:r>
              <a:rPr b="1"/>
              <a:t>well-suited</a:t>
            </a:r>
            <a:r>
              <a:rPr/>
              <a:t> to the problem at hand?</a:t>
            </a:r>
          </a:p>
          <a:p>
            <a:pPr lvl="0"/>
            <a:r>
              <a:rPr/>
              <a:t>What are the properties of the estimators employed? Are issues regarding these properties adequately addressed?</a:t>
            </a:r>
          </a:p>
          <a:p>
            <a:pPr lvl="0"/>
            <a:r>
              <a:rPr/>
              <a:t>Is the econometric analysis </a:t>
            </a:r>
            <a:r>
              <a:rPr b="1"/>
              <a:t>carefully done and reported</a:t>
            </a:r>
            <a:r>
              <a:rPr/>
              <a:t>?</a:t>
            </a:r>
          </a:p>
          <a:p>
            <a:pPr lvl="0"/>
            <a:r>
              <a:rPr/>
              <a:t>Have </a:t>
            </a:r>
            <a:r>
              <a:rPr b="1"/>
              <a:t>alternative specifications</a:t>
            </a:r>
            <a:r>
              <a:rPr/>
              <a:t> been tried and compared, when necessary?</a:t>
            </a:r>
          </a:p>
          <a:p>
            <a:pPr lvl="0"/>
            <a:r>
              <a:rPr/>
              <a:t>Is the issue of </a:t>
            </a:r>
            <a:r>
              <a:rPr b="1"/>
              <a:t>robustness</a:t>
            </a:r>
            <a:r>
              <a:rPr/>
              <a:t> of the results addressed?</a:t>
            </a:r>
          </a:p>
          <a:p>
            <a:pPr lvl="0"/>
            <a:r>
              <a:rPr/>
              <a:t>What test statistics does the author employ? Do they answer the question?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Referee checklist (IV) — 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Are the results </a:t>
            </a:r>
            <a:r>
              <a:rPr b="1"/>
              <a:t>clearly stated and presented</a:t>
            </a:r>
            <a:r>
              <a:rPr/>
              <a:t>?</a:t>
            </a:r>
          </a:p>
          <a:p>
            <a:pPr lvl="0"/>
            <a:r>
              <a:rPr/>
              <a:t>Are they used in some interesting way (beyond quoting the value of the parameters and their standard errors)?</a:t>
            </a:r>
          </a:p>
          <a:p>
            <a:pPr lvl="0"/>
            <a:r>
              <a:rPr/>
              <a:t>Are the results </a:t>
            </a:r>
            <a:r>
              <a:rPr b="1"/>
              <a:t>related back to the question</a:t>
            </a:r>
            <a:r>
              <a:rPr/>
              <a:t>?</a:t>
            </a:r>
          </a:p>
          <a:p>
            <a:pPr lvl="0"/>
            <a:r>
              <a:rPr/>
              <a:t>Are appropriate </a:t>
            </a:r>
            <a:r>
              <a:rPr b="1"/>
              <a:t>caveats</a:t>
            </a:r>
            <a:r>
              <a:rPr/>
              <a:t> mentioned?</a:t>
            </a:r>
          </a:p>
          <a:p>
            <a:pPr lvl="0"/>
            <a:r>
              <a:rPr/>
              <a:t>Do the conclusions concisely summarise the main points of the paper?</a:t>
            </a:r>
          </a:p>
          <a:p>
            <a:pPr lvl="0"/>
            <a:r>
              <a:rPr/>
              <a:t>Are the conclusions </a:t>
            </a:r>
            <a:r>
              <a:rPr b="1"/>
              <a:t>well-supported</a:t>
            </a:r>
            <a:r>
              <a:rPr/>
              <a:t> by the evidence?</a:t>
            </a:r>
          </a:p>
          <a:p>
            <a:pPr lvl="0"/>
            <a:r>
              <a:rPr b="1"/>
              <a:t>Are you convinced?</a:t>
            </a:r>
            <a:r>
              <a:rPr/>
              <a:t> What did you learn from this paper?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1.4 Discussion of Assignment II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 II — Create a referee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</a:t>
            </a:r>
          </a:p>
          <a:p>
            <a:pPr lvl="0"/>
            <a:r>
              <a:rPr/>
              <a:t>Attend the mandatory </a:t>
            </a:r>
            <a:r>
              <a:rPr b="1"/>
              <a:t>Brown Bag Seminar on 20 January 2026 (13:30–16:00)</a:t>
            </a:r>
            <a:r>
              <a:rPr/>
              <a:t> and select </a:t>
            </a:r>
            <a:r>
              <a:rPr b="1"/>
              <a:t>one doctoral presentation</a:t>
            </a:r>
            <a:r>
              <a:rPr/>
              <a:t> to critique, applying the writing, publishing, and refereeing tips from the course to practice thesis-level analysis.</a:t>
            </a:r>
          </a:p>
          <a:p>
            <a:pPr lvl="0" indent="0" marL="0">
              <a:buNone/>
            </a:pPr>
            <a:r>
              <a:rPr b="1"/>
              <a:t>You must submit ONLY one file:</a:t>
            </a:r>
          </a:p>
          <a:p>
            <a:pPr lvl="0"/>
            <a:r>
              <a:rPr/>
              <a:t>One </a:t>
            </a:r>
            <a:r>
              <a:rPr b="1"/>
              <a:t>2.5–3 page report</a:t>
            </a:r>
            <a:r>
              <a:rPr/>
              <a:t> in academic referee style, focusing on the presentation’s contribution to the literature and your judgment of its empirical strategy.</a:t>
            </a:r>
          </a:p>
          <a:p>
            <a:pPr lvl="0"/>
            <a:r>
              <a:rPr/>
              <a:t>Key tasks: summarise the presentation’s main ideas; evaluate novelty vs existing literature; assess empirical methods (identification, robustness); discuss implications, strengths, weaknesses, limitations, and improvements.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</a:t>
            </a:r>
          </a:p>
          <a:p>
            <a:pPr lvl="0"/>
            <a:r>
              <a:rPr/>
              <a:t>Work in </a:t>
            </a:r>
            <a:r>
              <a:rPr b="1"/>
              <a:t>teams of up to 5</a:t>
            </a:r>
            <a:r>
              <a:rPr/>
              <a:t> students.</a:t>
            </a:r>
          </a:p>
          <a:p>
            <a:pPr lvl="0"/>
            <a:r>
              <a:rPr/>
              <a:t>You’ll receive the PDF of the presentation and the working paper. Sometimes there is no working paper available; in that case base your report </a:t>
            </a:r>
            <a:r>
              <a:rPr b="1"/>
              <a:t>solely on the presentation</a:t>
            </a:r>
            <a:r>
              <a:rPr/>
              <a:t>.</a:t>
            </a:r>
          </a:p>
          <a:p>
            <a:pPr lvl="0"/>
            <a:r>
              <a:rPr b="1"/>
              <a:t>Grading:</a:t>
            </a:r>
            <a:r>
              <a:rPr/>
              <a:t> this report accounts for </a:t>
            </a:r>
            <a:r>
              <a:rPr b="1"/>
              <a:t>50%</a:t>
            </a:r>
            <a:r>
              <a:rPr/>
              <a:t> of your grade — depth of analysis (contribution and empirical aspects), writing quality (concise, organised, skim-friendly), and originality of insights.</a:t>
            </a:r>
          </a:p>
          <a:p>
            <a:pPr lvl="0"/>
            <a:r>
              <a:rPr b="1"/>
              <a:t>Deadline:</a:t>
            </a:r>
            <a:r>
              <a:rPr/>
              <a:t> Submit your review as a PDF via email to </a:t>
            </a:r>
            <a:r>
              <a:rPr>
                <a:hlinkClick r:id="rId2"/>
              </a:rPr>
              <a:t>oliver.padmaperuma@uni-ulm.de</a:t>
            </a:r>
            <a:r>
              <a:rPr/>
              <a:t>, with </a:t>
            </a:r>
            <a:r>
              <a:rPr>
                <a:hlinkClick r:id="rId3"/>
              </a:rPr>
              <a:t>andre.guettler@uni-ulm.de</a:t>
            </a:r>
            <a:r>
              <a:rPr/>
              <a:t> in CC by </a:t>
            </a:r>
            <a:r>
              <a:rPr b="1"/>
              <a:t>3 February 2026</a:t>
            </a:r>
            <a:r>
              <a:rPr/>
              <a:t>, including your name and the title of the chosen presentation in the document.</a:t>
            </a:r>
          </a:p>
          <a:p>
            <a:pPr lvl="0"/>
            <a:r>
              <a:rPr b="1"/>
              <a:t>11 pt Times New Roman, 1.5 spaced.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 of Lecture 4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covered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makes a good empirical paper</a:t>
            </a:r>
          </a:p>
          <a:p>
            <a:pPr lvl="0"/>
            <a:r>
              <a:rPr/>
              <a:t>The publication process (Steps 1–10)</a:t>
            </a:r>
          </a:p>
          <a:p>
            <a:pPr lvl="0"/>
            <a:r>
              <a:rPr/>
              <a:t>Top finance and economics journals</a:t>
            </a:r>
          </a:p>
          <a:p>
            <a:pPr lvl="0"/>
            <a:r>
              <a:rPr/>
              <a:t>Bad outcome: rejection</a:t>
            </a:r>
          </a:p>
          <a:p>
            <a:pPr lvl="0"/>
            <a:r>
              <a:rPr/>
              <a:t>Good outcome: revise &amp; resubmit</a:t>
            </a:r>
          </a:p>
          <a:p>
            <a:pPr lvl="0"/>
            <a:r>
              <a:rPr/>
              <a:t>Acceptance procedure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How to write a referee report</a:t>
            </a:r>
          </a:p>
          <a:p>
            <a:pPr lvl="0"/>
            <a:r>
              <a:rPr/>
              <a:t>Summary, major issues, minor issues</a:t>
            </a:r>
          </a:p>
          <a:p>
            <a:pPr lvl="0"/>
            <a:r>
              <a:rPr/>
              <a:t>Referee checklist</a:t>
            </a:r>
          </a:p>
          <a:p>
            <a:pPr lvl="1"/>
            <a:r>
              <a:rPr/>
              <a:t>The question</a:t>
            </a:r>
          </a:p>
          <a:p>
            <a:pPr lvl="1"/>
            <a:r>
              <a:rPr/>
              <a:t>Identification strategy</a:t>
            </a:r>
          </a:p>
          <a:p>
            <a:pPr lvl="1"/>
            <a:r>
              <a:rPr/>
              <a:t>Data</a:t>
            </a:r>
          </a:p>
          <a:p>
            <a:pPr lvl="1"/>
            <a:r>
              <a:rPr/>
              <a:t>Econometric analysis</a:t>
            </a:r>
          </a:p>
          <a:p>
            <a:pPr lvl="1"/>
            <a:r>
              <a:rPr/>
              <a:t>Results &amp; conclusion</a:t>
            </a:r>
          </a:p>
          <a:p>
            <a:pPr lvl="0"/>
            <a:r>
              <a:rPr/>
              <a:t>Assignment II briefing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at the Brown Bag 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Reminder</a:t>
            </a:r>
          </a:p>
          <a:p>
            <a:pPr lvl="0"/>
            <a:r>
              <a:rPr sz="2000" b="1"/>
              <a:t>Brown Bag Seminar — 20 January 2026, 13:30–16:00.</a:t>
            </a:r>
          </a:p>
          <a:p>
            <a:pPr lvl="0"/>
            <a:r>
              <a:rPr sz="2000"/>
              <a:t>Take careful notes on the presentations.</a:t>
            </a:r>
          </a:p>
          <a:p>
            <a:pPr lvl="0"/>
            <a:r>
              <a:rPr sz="2000"/>
              <a:t>Pick </a:t>
            </a:r>
            <a:r>
              <a:rPr sz="2000" b="1"/>
              <a:t>one</a:t>
            </a:r>
            <a:r>
              <a:rPr sz="2000"/>
              <a:t> doctoral talk and apply the four-checklist sections from this lecture.</a:t>
            </a:r>
          </a:p>
          <a:p>
            <a:pPr lvl="0"/>
            <a:r>
              <a:rPr sz="2000"/>
              <a:t>Submit your </a:t>
            </a:r>
            <a:r>
              <a:rPr sz="2000" b="1"/>
              <a:t>2.5–3 page</a:t>
            </a:r>
            <a:r>
              <a:rPr sz="2000"/>
              <a:t> report as a group of up to 5 by </a:t>
            </a:r>
            <a:r>
              <a:rPr sz="2000" b="1"/>
              <a:t>3 February 2026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Good luck with the problem set — and we look forward to your critical feedback at the seminar!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Angrist, Joshua D., and Jörn-Steffen Pischke. 2009. </a:t>
            </a:r>
            <a:r>
              <a:rPr i="1"/>
              <a:t>Mostly Harmless Econometrics: An Empiricist’s Companion</a:t>
            </a:r>
            <a:r>
              <a:rPr/>
              <a:t>. Princeton, NJ: Princeton University Press. </a:t>
            </a:r>
            <a:r>
              <a:rPr>
                <a:hlinkClick r:id="rId2"/>
              </a:rPr>
              <a:t>https://press.princeton.edu/books/paperback/9780691120355/mostly-harmless-econometrics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Cochrane, John H. 2005. “Writing Tips for Ph.D. Students.” </a:t>
            </a:r>
            <a:r>
              <a:rPr>
                <a:hlinkClick r:id="rId3"/>
              </a:rPr>
              <a:t>https://www.johnhcochrane.com/research-all/writing-tips-for-phd-students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Academic Publishing &amp; Refereeing</dc:title>
  <dc:creator>Prof. Dr. Andre Guettler; Oliver Padmaperuma</dc:creator>
  <cp:keywords/>
  <dcterms:created xsi:type="dcterms:W3CDTF">2026-04-30T09:12:05Z</dcterms:created>
  <dcterms:modified xsi:type="dcterms:W3CDTF">2026-04-30T09:12:05Z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ssignment-1-problem-set-deadline">
    <vt:lpwstr>19 January 2026</vt:lpwstr>
  </property>
  <property fmtid="{D5CDD505-2E9C-101B-9397-08002B2CF9AE}" pid="4" name="assignment-1-problem-set-deadline-iso">
    <vt:lpwstr>2026-01-19</vt:lpwstr>
  </property>
  <property fmtid="{D5CDD505-2E9C-101B-9397-08002B2CF9AE}" pid="5" name="assignment-1-problem-set-weight">
    <vt:lpwstr>50</vt:lpwstr>
  </property>
  <property fmtid="{D5CDD505-2E9C-101B-9397-08002B2CF9AE}" pid="6" name="assignment-2-referee-report-deadline">
    <vt:lpwstr>3 February 2026</vt:lpwstr>
  </property>
  <property fmtid="{D5CDD505-2E9C-101B-9397-08002B2CF9AE}" pid="7" name="assignment-2-referee-report-deadline-iso">
    <vt:lpwstr>2026-02-03</vt:lpwstr>
  </property>
  <property fmtid="{D5CDD505-2E9C-101B-9397-08002B2CF9AE}" pid="8" name="assignment-2-referee-report-weight">
    <vt:lpwstr>50</vt:lpwstr>
  </property>
  <property fmtid="{D5CDD505-2E9C-101B-9397-08002B2CF9AE}" pid="9" name="authors">
    <vt:lpwstr/>
  </property>
  <property fmtid="{D5CDD505-2E9C-101B-9397-08002B2CF9AE}" pid="10" name="biblio-config">
    <vt:lpwstr>True</vt:lpwstr>
  </property>
  <property fmtid="{D5CDD505-2E9C-101B-9397-08002B2CF9AE}" pid="11" name="bibliography">
    <vt:lpwstr/>
  </property>
  <property fmtid="{D5CDD505-2E9C-101B-9397-08002B2CF9AE}" pid="12" name="by-affiliation">
    <vt:lpwstr/>
  </property>
  <property fmtid="{D5CDD505-2E9C-101B-9397-08002B2CF9AE}" pid="13" name="by-author">
    <vt:lpwstr/>
  </property>
  <property fmtid="{D5CDD505-2E9C-101B-9397-08002B2CF9AE}" pid="14" name="course">
    <vt:lpwstr/>
  </property>
  <property fmtid="{D5CDD505-2E9C-101B-9397-08002B2CF9AE}" pid="15" name="date">
    <vt:lpwstr>2025-11-19</vt:lpwstr>
  </property>
  <property fmtid="{D5CDD505-2E9C-101B-9397-08002B2CF9AE}" pid="16" name="default-time">
    <vt:lpwstr>Wednesdays 14:15–15:45</vt:lpwstr>
  </property>
  <property fmtid="{D5CDD505-2E9C-101B-9397-08002B2CF9AE}" pid="17" name="default-venue">
    <vt:lpwstr>Helmholtzstraße 22, Ulm</vt:lpwstr>
  </property>
  <property fmtid="{D5CDD505-2E9C-101B-9397-08002B2CF9AE}" pid="18" name="exam-id">
    <vt:lpwstr>13337</vt:lpwstr>
  </property>
  <property fmtid="{D5CDD505-2E9C-101B-9397-08002B2CF9AE}" pid="19" name="header-includes">
    <vt:lpwstr/>
  </property>
  <property fmtid="{D5CDD505-2E9C-101B-9397-08002B2CF9AE}" pid="20" name="include-after">
    <vt:lpwstr/>
  </property>
  <property fmtid="{D5CDD505-2E9C-101B-9397-08002B2CF9AE}" pid="21" name="include-before">
    <vt:lpwstr/>
  </property>
  <property fmtid="{D5CDD505-2E9C-101B-9397-08002B2CF9AE}" pid="22" name="labels">
    <vt:lpwstr/>
  </property>
  <property fmtid="{D5CDD505-2E9C-101B-9397-08002B2CF9AE}" pid="23" name="lecture-01-basics-date">
    <vt:lpwstr>29 October 2025</vt:lpwstr>
  </property>
  <property fmtid="{D5CDD505-2E9C-101B-9397-08002B2CF9AE}" pid="24" name="lecture-01-basics-date-iso">
    <vt:lpwstr>2025-10-29</vt:lpwstr>
  </property>
  <property fmtid="{D5CDD505-2E9C-101B-9397-08002B2CF9AE}" pid="25" name="lecture-01-basics-date-short">
    <vt:lpwstr>29.10.2025</vt:lpwstr>
  </property>
  <property fmtid="{D5CDD505-2E9C-101B-9397-08002B2CF9AE}" pid="26" name="lecture-01-basics-week">
    <vt:lpwstr>1</vt:lpwstr>
  </property>
  <property fmtid="{D5CDD505-2E9C-101B-9397-08002B2CF9AE}" pid="27" name="lecture-02-data-handling-date">
    <vt:lpwstr>5 November 2025</vt:lpwstr>
  </property>
  <property fmtid="{D5CDD505-2E9C-101B-9397-08002B2CF9AE}" pid="28" name="lecture-02-data-handling-date-iso">
    <vt:lpwstr>2025-11-05</vt:lpwstr>
  </property>
  <property fmtid="{D5CDD505-2E9C-101B-9397-08002B2CF9AE}" pid="29" name="lecture-02-data-handling-date-short">
    <vt:lpwstr>05.11.2025</vt:lpwstr>
  </property>
  <property fmtid="{D5CDD505-2E9C-101B-9397-08002B2CF9AE}" pid="30" name="lecture-02-data-handling-week">
    <vt:lpwstr>2</vt:lpwstr>
  </property>
  <property fmtid="{D5CDD505-2E9C-101B-9397-08002B2CF9AE}" pid="31" name="lecture-03-statistical-analysis-date">
    <vt:lpwstr>12 November 2025</vt:lpwstr>
  </property>
  <property fmtid="{D5CDD505-2E9C-101B-9397-08002B2CF9AE}" pid="32" name="lecture-03-statistical-analysis-date-iso">
    <vt:lpwstr>2025-11-12</vt:lpwstr>
  </property>
  <property fmtid="{D5CDD505-2E9C-101B-9397-08002B2CF9AE}" pid="33" name="lecture-03-statistical-analysis-date-short">
    <vt:lpwstr>12.11.2025</vt:lpwstr>
  </property>
  <property fmtid="{D5CDD505-2E9C-101B-9397-08002B2CF9AE}" pid="34" name="lecture-03-statistical-analysis-week">
    <vt:lpwstr>3</vt:lpwstr>
  </property>
  <property fmtid="{D5CDD505-2E9C-101B-9397-08002B2CF9AE}" pid="35" name="lecture-04-academic-publishing-date">
    <vt:lpwstr>19 November 2025</vt:lpwstr>
  </property>
  <property fmtid="{D5CDD505-2E9C-101B-9397-08002B2CF9AE}" pid="36" name="lecture-04-academic-publishing-date-iso">
    <vt:lpwstr>2025-11-19</vt:lpwstr>
  </property>
  <property fmtid="{D5CDD505-2E9C-101B-9397-08002B2CF9AE}" pid="37" name="lecture-04-academic-publishing-date-short">
    <vt:lpwstr>19.11.2025</vt:lpwstr>
  </property>
  <property fmtid="{D5CDD505-2E9C-101B-9397-08002B2CF9AE}" pid="38" name="lecture-04-academic-publishing-week">
    <vt:lpwstr>4</vt:lpwstr>
  </property>
  <property fmtid="{D5CDD505-2E9C-101B-9397-08002B2CF9AE}" pid="39" name="lecture-05-brown-bag-seminar-date">
    <vt:lpwstr>20 January 2026</vt:lpwstr>
  </property>
  <property fmtid="{D5CDD505-2E9C-101B-9397-08002B2CF9AE}" pid="40" name="lecture-05-brown-bag-seminar-date-iso">
    <vt:lpwstr>2026-01-20</vt:lpwstr>
  </property>
  <property fmtid="{D5CDD505-2E9C-101B-9397-08002B2CF9AE}" pid="41" name="lecture-05-brown-bag-seminar-date-short">
    <vt:lpwstr>20.01.2026</vt:lpwstr>
  </property>
  <property fmtid="{D5CDD505-2E9C-101B-9397-08002B2CF9AE}" pid="42" name="lecture-05-brown-bag-seminar-time">
    <vt:lpwstr>13:30–16:00</vt:lpwstr>
  </property>
  <property fmtid="{D5CDD505-2E9C-101B-9397-08002B2CF9AE}" pid="43" name="lecture-05-brown-bag-seminar-venue">
    <vt:lpwstr>Helmholtzstraße 22, Ulm — Brown Bag room (TBA)</vt:lpwstr>
  </property>
  <property fmtid="{D5CDD505-2E9C-101B-9397-08002B2CF9AE}" pid="44" name="lecture-05-brown-bag-seminar-week">
    <vt:lpwstr>13</vt:lpwstr>
  </property>
  <property fmtid="{D5CDD505-2E9C-101B-9397-08002B2CF9AE}" pid="45" name="registration-deadline">
    <vt:lpwstr>30 November 2025</vt:lpwstr>
  </property>
  <property fmtid="{D5CDD505-2E9C-101B-9397-08002B2CF9AE}" pid="46" name="registration-deadline-iso">
    <vt:lpwstr>2025-11-30</vt:lpwstr>
  </property>
  <property fmtid="{D5CDD505-2E9C-101B-9397-08002B2CF9AE}" pid="47" name="registration-system">
    <vt:lpwstr>campusonline</vt:lpwstr>
  </property>
  <property fmtid="{D5CDD505-2E9C-101B-9397-08002B2CF9AE}" pid="48" name="semester">
    <vt:lpwstr>Winter 2025/2026</vt:lpwstr>
  </property>
  <property fmtid="{D5CDD505-2E9C-101B-9397-08002B2CF9AE}" pid="49" name="solutions">
    <vt:lpwstr>False</vt:lpwstr>
  </property>
  <property fmtid="{D5CDD505-2E9C-101B-9397-08002B2CF9AE}" pid="50" name="subtitle">
    <vt:lpwstr>What makes a great empirical paper · publication process · how to write a referee report</vt:lpwstr>
  </property>
  <property fmtid="{D5CDD505-2E9C-101B-9397-08002B2CF9AE}" pid="51" name="time">
    <vt:lpwstr>Wednesdays 14:15–15:45</vt:lpwstr>
  </property>
  <property fmtid="{D5CDD505-2E9C-101B-9397-08002B2CF9AE}" pid="52" name="toc-title">
    <vt:lpwstr>Table of contents</vt:lpwstr>
  </property>
  <property fmtid="{D5CDD505-2E9C-101B-9397-08002B2CF9AE}" pid="53" name="topics">
    <vt:lpwstr/>
  </property>
  <property fmtid="{D5CDD505-2E9C-101B-9397-08002B2CF9AE}" pid="54" name="venue">
    <vt:lpwstr>Helmholtzstraße 22, Ulm</vt:lpwstr>
  </property>
  <property fmtid="{D5CDD505-2E9C-101B-9397-08002B2CF9AE}" pid="55" name="week">
    <vt:lpwstr>4</vt:lpwstr>
  </property>
</Properties>
</file>